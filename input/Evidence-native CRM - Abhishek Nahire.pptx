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re" id="{f6966bf3-e0ab-045a-5e05-b0efea5be75c}">
          <p14:sldIdLst>
            <p14:sldId id="256"/>
            <p14:sldId id="257"/>
            <p14:sldId id="258"/>
            <p14:sldId id="259"/>
            <p14:sldId id="260"/>
            <p14:sldId id="261"/>
            <p14:sldId id="262"/>
            <p14:sldId id="263"/>
          </p14:sldIdLst>
        </p14:section>
        <p14:section name="Backup" id="{e4aa124e-39f6-dd9c-84a1-1ed1ef00292b}">
          <p14:sldIdLst>
            <p14:sldId id="264"/>
            <p14:sldId id="265"/>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0:40   (7-minute version: 0:30)
SAY
You asked what CRM should become. My answer: it should keep the evidence behind what it says. Today a CRM tells you budget is confirmed. It can't tell you who confirmed it, when, or whether anything since disagrees.
So the long-term direction is an evidence-native CRM. The first product is deliberately narrow: a Deal Evidence Ledger for the front-line sales manager, used before the weekly forecast call.
This is built on desk research. I haven't interviewed customers yet, and I'll say what's a hypothesis as I go.
7-MINUTE VERSION (say this)
You asked what CRM should become. My answer: it should keep the evidence behind what it says, not just the conclusion. Long term, that's an evidence-native CRM. The first product is a Deal Evidence Ledger for front-line sales managers, used before the weekly forecast call. It's built on desk research with no customer interviews yet, so I'll flag hypotheses as I go.
TRANSITION
Let me start with why this gap is structural, not a discipline problem.
DON'T OVER-EXPLAIN
The evidence card. It comes back on slides 3 and 4.
LIKELY QUESTION
"What have you validated?"  Nothing with customers yet. The first test is the historical audit on slide 8; backup B2 separates fact from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1:05   (7-minute version: 0:45)
SAY
An hour of conversation becomes four values: budget yes, security complete, a stage, a close date. What disappears is the evidence, who said it, what changed, and how sure anyone was. A field can't tell a customer's written commitment from a rep's hope. That's the data model, not laziness: a field has no standard place for a source.
So someone has to put the evidence back, and it's the front-line manager. Every forecast review they read the claim, ask where it came from, wait while the rep searches memory and inbox, and decide on the rep's word. Nothing is kept, so next week they do it again.
I picked this user because the job recurs weekly and they decide which claims to believe. The AE is the secondary user and sees their own flags first. To be straight: this is how forecast reviews are commonly described. I haven't confirmed it in interviews.
7-MINUTE VERSION (say this)
An hour of conversation becomes four values, and the evidence, the source, the history and the uncertainty are lost. A field can't tell a customer's commitment from a rep's hope. So every forecast review, the front-line manager rebuilds it: asks where a claim came from, waits while the rep searches, and decides on their word. Nothing is kept, so it repeats next week. That's my user, because the job recurs and they decide what to believe. I haven't confirmed this loop in interviews yet.
TRANSITION
Here's what that looks like on one deal.
DON'T OVER-EXPLAIN
CRM history, or why reps dislike data entry. The point is the data model, not rep discipline.
LIKELY QUESTION
"Isn't this a training or discipline problem?"  Partly. But even a perfect rep has no standard place to put the source. And in Validity's 2025 survey (a data-quality vendor), 37% said they regularly fabricate data to match leadership expectations (B2).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1:15   (7-minute version: 1:00)
SAY
Castellan Freight, $186k. The CRM says Commit for 15 October: budget confirmed, security complete, procurement two weeks. Commit is a judgement, and it stays one.
What the ledger adds is a check of four claims RevOps has chosen as deal-critical. Budget has customer evidence: the CFO said so in writing on 17 September. Security has none: the only source is our own rep's note. The procurement timeline is contradicted: the champion said two weeks, and a later email from procurement disagrees. And for 15 October there's no customer statement at all.
That date isn't wrong. It's unsupported. The deal may still close on the 15th, and the ledger doesn't predict whether it will. It makes the assumption visible. The manager still decides the forecast, now knowing that one of four claims is supported.
7-MINUTE VERSION (say this)
Castellan Freight, $186k. The CRM says Commit for 15 October. The ledger checks four claims RevOps chose as deal-critical. Budget is supported: the CFO confirmed it by email on 17 September. Security is unsupported: the only source is our own rep's note. The two-week procurement timeline is contradicted by a later email from procurement itself. And nobody at the customer has stated the 15 October date. Unsupported doesn't mean wrong; the deal may still close, and the ledger predicts nothing. It makes the assumption visible, and the manager still owns the forecast.
TRANSITION
Doing this for every deal means changing what the record is. That's the vision.
DON'T OVER-EXPLAIN
Don't add the four claims up into a verdict on Commit. There is no score and no formula.
LIKELY QUESTIONS
"So would you downgrade the deal?"  That's the manager's call, not the product's. They might keep Commit and log why.
"Who decided procurement outranks the champion?"  The customer's own rule, set by RevOps (backup B4).
"Is Castellan real?"  No. It's invented for the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1:30   (7-minute version: 1:10)
SAY
This is the core idea. Today the field is the record. I'd make the claim the record: what's believed, the evidence, the source, when, and how it changed. Fields become views computed from that.
Why now? CRM stored conclusions because writing down evidence meant someone typing it. Models can now read calls and email at scale and propose who said what. But a business status has to be consistent and explainable, and the customer has to set the rule.
So the work splits three ways. AI interprets: it finds the passage, the speaker and their role, maps it to a claim, flags a possible conflict, and says how confident it is. Policy computes: rules RevOps sets decide the status, so the same evidence always gives the same answer, and anyone can see why. People decide: what to ask, what to forecast, whether to change the CRM. Their decision is logged beside the status; it never rewrites it.
Those are two different numbers. The model can be 99% sure the champion said two weeks, and the claim is still contradicted.
7-MINUTE VERSION (say this)
The vision: the claim becomes the record, and fields become views of it. Why now: models can read calls and email at scale and propose who said what, but a status has to be consistent, explainable and set by the customer. So AI interprets and reports its confidence; policy computes the status from rules RevOps sets; and people decide, with each decision logged beside the status, never rewriting it. Extraction confidence isn't business status: the model can be 99% sure the champion said two weeks, and the claim is still contradicted.
TRANSITION
Here's who uses this, and when.
DON'T OVER-EXPLAIN
Storage, models, entity resolution. That's the engineering deliverable.
LIKELY QUESTIONS
"Why not let the model decide the status?"  Salesforce's own research found generic agents completing about 58% of single-step CRM tasks (mid-2025 models), and Salesforce has since paired models with fixed rules (Salesforce AI Research, 2025; Salesforce Ben, 2026). I read that as the same instinct.
"Who decides a contradiction?"  AI flags that two passages conflict; the rule decides which wins, the later or the more authoritative (B4).
"What's hardest?"  The speaker and their role. A CFO saying 'approved' and a champion saying 'should be fine' are different evidence (B5).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0:30 + 2:30 demo   (7-minute version: 0:30 + a 45-second demo)
SAY
Three people use this, in order. The rep sees their own flags a day before the review, so they can add evidence, dispute a reading, fix the CRM themselves, or ask the customer. The manager gets a short list of Commit and Best Case deals with a weak claim, in place of an interrogation. RevOps sets it up once: the claims, the sources, the freshness windows. Let me show the manager's view.
DEMO (2:30)
1. The manager's short list before the review.
2. Open Castellan: four claims, four statuses.
3. Procurement: the champion's line and the procurement email side by side.
4. Log a decision with a reason; the status does not change.
5. The same flag as the rep saw it the day before.
7-MINUTE VERSION (say this, then a 45-second demo)
The rep sees their own flags first, a day early. The manager gets a short list instead of an interrogation. RevOps sets a handful of simple rules once. Here's Castellan.
Demo: open the procurement claim, show both passages, log a decision.
TRANSITION
The obvious question is whether this is just Gong or an AI CRM. Here's how I see it.
DON'T OVER-EXPLAIN
Don't tour every screen, and show at most one RevOps settings screen.
LIKELY QUESTION
"Won't reps hate this?"  That's why they see flags first and can dispute in one step. Disputes and recording rates are a guardrail in the pilot (slide 7, B7).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   (7-minute version: 0:40)
SAY
I want to be fair to what exists. Modern AI CRMs capture activity and update fields. Revenue intelligence reads conversations, flags risk and forecasts; Gong's extractor writes answers an admin defines into CRM fields, and its docs say a newer answer overwrites the older one. Self-building CRMs like Lightfield and Day AI construct the record from conversations, and Lightfield describes a context graph of the why behind deals, which overlaps with my premise.
So I'm not claiming nobody reads evidence. My bet is narrower: evidence should be durable state, with a status the customer's own rules compute, and the field a view of it. I worked from public documentation and haven't tested these products hands-on.
7-MINUTE VERSION (say this)
To be fair to what exists: AI CRMs capture activity and update fields; revenue intelligence like Gong reads conversations, flags risk and writes answers into fields; self-building CRMs like Lightfield construct the record from conversations, and Lightfield's context graph overlaps my premise. My bet is narrower: the evidence itself should be durable state, with a status the customer's rules compute, and the field a view of it. I haven't tested these products hands-on.
TRANSITION
Which is why the first version is deliberately small.
DON'T OVER-EXPLAIN
Don't claim a moat or uniqueness.
LIKELY QUESTIONS
"What if Gong ships this?"  Then it's a feature, and I'd move the entry point to promises and renewals (B6).
"Why not a claim object inside Salesforce?"  It could be stored there. The product is the interpretation, the customer's rules and the linked evidence, not where they're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0:50   (7-minute version: 0:35)
SAY
The first version is small on purpose. It reads Salesforce or HubSpot, email and calendar, and one call recorder. Only Commit and Best Case deals, five to eight claims, each with an exact quote and a link. It's read-only: no write-back to the CRM, and it never contacts a customer.
The 'not yet' list has two reasons. Some items would let the product be wrong in front of a sales team before it has earned trust: prediction, agents, autonomous email. The rest aren't needed to test the idea.
It has to prove three things on a live pilot: the citations are right, managers find the flags worth raising, and reps don't start avoiding it. The thresholds are my proposals, not benchmarks. A design partner would agree them.
7-MINUTE VERSION (say this)
The first version is deliberately small: read-only, Commit and Best Case deals only, five to eight claims, each with a quote and a link, and the rep sees flags first. No write-back, no prediction, no agents, no autonomous email. It must prove three things: citations are right, managers find the flags worth raising, and reps don't avoid it. The thresholds are my proposals.
TRANSITION
That shape also decides how it's sold.
DON'T OVER-EXPLAIN
Don't justify each exclusion one by one.
LIKELY QUESTIONS
"Why 90%?"  A wrong citation in front of a rep's manager costs more than a missed flag, so I'd tune for precision first.
"What's hardest technically?"  The right person, the right deal and the right passage (B5).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   (7-minute version: 0:40)
SAY
The first sale is a read-only audit of last quarter's deals, sold to the CRO because the forecast is their number. It asks: which slipped or lost deals looked healthy in the CRM but lacked customer evidence behind critical claims? It's also my first test: if lost and slipped deals carry no more unsupported or contradicted claims than won ones, I'd stop.
If it works, the subscription is a weekly evidence review before each forecast call. Pricing is a hypothesis: a fixed fee for the audit, then a subscription by deals or pipeline under review, not seats, because value tracks the pipeline covered. Write-back and deriving fields are optional, only if the evidence supports them. I'm not assuming this replaces the CRM.
CLOSE
So: keep the evidence behind what the CRM says, start with a few claims on the deals that matter this week, and let the customer's own deals tell us whether to go further.
7-MINUTE VERSION (say this)
It's sold to the CRO as a read-only audit of last quarter, which doubles as my kill test: if lost deals don't carry more unsupported or contradicted claims than won ones, I stop. The subscription is a weekly evidence review before each forecast call, priced by deals under review, not seats, and that pricing is a hypothesis. Write-back and derived fields come only if validated. So: keep the evidence behind what the CRM says, and let the customer's own deals decide how far to go.
TRANSITION (into Q&amp;A)
That's the proposal. Happy to go deeper on the evidence rules (B4), the validation plan (B3), or what's fact versus hypothesis (B2).
DON'T OVER-EXPLAIN
Market size. It isn't sized; don't improvise numbers. The ARR figures are in the footer if asked.
LIKELY QUESTIONS
"Why would a CRO who already pays for Gong buy another tool?"  Only if the audit shows something on their own deals; that's why it comes first. Precedent: Gong reports over $500M ARR and the merged Clari and Salesloft about $450M, so buyers do fund tools beside the CRM.
"How big is this?"  Not sized yet. I'd size it bottom-up from teams that already record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'why this and not something else?'. Point at the two roll-ups, not the total: the self-writing record totals 44 but has no room left (fit 12); decision memory totals 41 but ties for the best fit. All scores are my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first if the panel gives two spare minutes. The point: the deck applies its own idea to itself. Nothing in the product is validated with customers; the problem evidence is secondary and partly vendor-sourced.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how I'd know I'm wrong. Emphasise the point-in-time caution: judging claims at close would flatter won deals, because they accumulate evidence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who decides what counts as evidence. The customer's RevOps team does, with a handful of settings. The values shown are examples to make the idea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about a false 'Contradicted' in front of a rep's manager. Four guards: verbatim and linked, status from rules, the rep sees it first and can dispute, and nothing is written to the CRM or sent to a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pressed on competition. Concede first: Lightfield's premise overlaps most, and I have not used any of these products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about surveillance or rep buy-in. The research's own conclusion: automatic capture removes the effort problem and sharpens the monitoring one. That's why rep-first is a design rule and a measured guardrail.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Every figure on the core slides traces to a row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RE">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rtlCol="0"/>
          <a:lstStyle>
            <a:lvl1pPr algn="l" indent="0" marL="0">
              <a:buNone/>
              <a:defRPr lang="en-US" sz="1100" b="1" spc="150" kern="0" dirty="0">
                <a:solidFill>
                  <a:schemeClr val="accent5"/>
                </a:solidFill>
              </a:defRPr>
            </a:lvl1pPr>
          </a:lstStyle>
          <a:p>
            <a:pPr algn="l" indent="0" marL="0">
              <a:buNone/>
            </a:pPr>
            <a:endParaRPr lang="en-US" sz="1100" dirty="0"/>
          </a:p>
        </p:txBody>
      </p:sp>
      <p:sp>
        <p:nvSpPr>
          <p:cNvPr id="3" name="Text 0"/>
          <p:cNvSpPr/>
          <p:nvPr>
            <p:ph idx="101" type="title" hasCustomPrompt="1"/>
          </p:nvPr>
        </p:nvSpPr>
        <p:spPr>
          <a:xfrm>
            <a:off x="548640" y="603504"/>
            <a:ext cx="11094415" cy="987552"/>
          </a:xfrm>
          <a:prstGeom prst="rect">
            <a:avLst/>
          </a:prstGeom>
          <a:noFill/>
          <a:ln/>
        </p:spPr>
        <p:txBody>
          <a:bodyPr wrap="square" rtlCol="0"/>
          <a:lstStyle>
            <a:lvl1pPr algn="l" indent="0" marL="0">
              <a:lnSpc>
                <a:spcPct val="95000"/>
              </a:lnSpc>
              <a:buNone/>
              <a:defRPr lang="en-US" sz="2800" b="1" dirty="0">
                <a:solidFill>
                  <a:schemeClr val="tx1"/>
                </a:solidFill>
              </a:defRPr>
            </a:lvl1pPr>
          </a:lstStyle>
          <a:p>
            <a:pPr algn="l" indent="0" marL="0">
              <a:lnSpc>
                <a:spcPct val="95000"/>
              </a:lnSpc>
              <a:buNone/>
            </a:pPr>
            <a:endParaRPr lang="en-US" sz="2800" dirty="0"/>
          </a:p>
        </p:txBody>
      </p:sp>
      <p:sp>
        <p:nvSpPr>
          <p:cNvPr id="4" name="Text 0"/>
          <p:cNvSpPr/>
          <p:nvPr>
            <p:ph idx="102" type="body" hasCustomPrompt="1"/>
          </p:nvPr>
        </p:nvSpPr>
        <p:spPr>
          <a:xfrm>
            <a:off x="548640" y="6327648"/>
            <a:ext cx="10287000" cy="384048"/>
          </a:xfrm>
          <a:prstGeom prst="rect">
            <a:avLst/>
          </a:prstGeom>
          <a:noFill/>
          <a:ln/>
        </p:spPr>
        <p:txBody>
          <a:bodyPr wrap="square" rtlCol="0"/>
          <a:lstStyle>
            <a:lvl1pPr algn="l" indent="0" marL="0">
              <a:buNone/>
              <a:defRPr lang="en-US" sz="1000" dirty="0">
                <a:solidFill>
                  <a:schemeClr val="accent5"/>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HESIS">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37744"/>
          </a:xfrm>
          <a:prstGeom prst="rect">
            <a:avLst/>
          </a:prstGeom>
          <a:noFill/>
          <a:ln/>
        </p:spPr>
        <p:txBody>
          <a:bodyPr wrap="square" rtlCol="0"/>
          <a:lstStyle>
            <a:lvl1pPr algn="l" indent="0" marL="0">
              <a:buNone/>
              <a:defRPr lang="en-US" sz="1100" b="1" spc="150" kern="0" dirty="0">
                <a:solidFill>
                  <a:schemeClr val="accent5"/>
                </a:solidFill>
              </a:defRPr>
            </a:lvl1pPr>
          </a:lstStyle>
          <a:p>
            <a:pPr algn="l" indent="0" marL="0">
              <a:buNone/>
            </a:pPr>
            <a:endParaRPr lang="en-US" sz="1100" dirty="0"/>
          </a:p>
        </p:txBody>
      </p:sp>
      <p:sp>
        <p:nvSpPr>
          <p:cNvPr id="3" name="Text 0"/>
          <p:cNvSpPr/>
          <p:nvPr>
            <p:ph idx="101" type="title" hasCustomPrompt="1"/>
          </p:nvPr>
        </p:nvSpPr>
        <p:spPr>
          <a:xfrm>
            <a:off x="548640" y="804672"/>
            <a:ext cx="10424160" cy="1188720"/>
          </a:xfrm>
          <a:prstGeom prst="rect">
            <a:avLst/>
          </a:prstGeom>
          <a:noFill/>
          <a:ln/>
        </p:spPr>
        <p:txBody>
          <a:bodyPr wrap="square" rtlCol="0"/>
          <a:lstStyle>
            <a:lvl1pPr algn="l" indent="0" marL="0">
              <a:lnSpc>
                <a:spcPct val="95000"/>
              </a:lnSpc>
              <a:buNone/>
              <a:defRPr lang="en-US" sz="3400" b="1" dirty="0">
                <a:solidFill>
                  <a:schemeClr val="tx1"/>
                </a:solidFill>
              </a:defRPr>
            </a:lvl1pPr>
          </a:lstStyle>
          <a:p>
            <a:pPr algn="l" indent="0" marL="0">
              <a:lnSpc>
                <a:spcPct val="95000"/>
              </a:lnSpc>
              <a:buNone/>
            </a:pPr>
            <a:endParaRPr lang="en-US" sz="3400" dirty="0"/>
          </a:p>
        </p:txBody>
      </p:sp>
      <p:sp>
        <p:nvSpPr>
          <p:cNvPr id="4" name="Text 0"/>
          <p:cNvSpPr/>
          <p:nvPr>
            <p:ph idx="102" type="body" hasCustomPrompt="1"/>
          </p:nvPr>
        </p:nvSpPr>
        <p:spPr>
          <a:xfrm>
            <a:off x="548640" y="6327648"/>
            <a:ext cx="11094415" cy="274320"/>
          </a:xfrm>
          <a:prstGeom prst="rect">
            <a:avLst/>
          </a:prstGeom>
          <a:noFill/>
          <a:ln/>
        </p:spPr>
        <p:txBody>
          <a:bodyPr wrap="square" rtlCol="0"/>
          <a:lstStyle>
            <a:lvl1pPr algn="l" indent="0" marL="0">
              <a:buNone/>
              <a:defRPr lang="en-US" sz="1000" dirty="0">
                <a:solidFill>
                  <a:schemeClr val="accent5"/>
                </a:solidFill>
              </a:defRPr>
            </a:lvl1pPr>
          </a:lstStyle>
          <a:p>
            <a:pPr algn="l" indent="0" marL="0">
              <a:buNone/>
            </a:pP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CKUP">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rtlCol="0"/>
          <a:lstStyle>
            <a:lvl1pPr algn="l" indent="0" marL="0">
              <a:buNone/>
              <a:defRPr lang="en-US" sz="1100" b="1" spc="150" kern="0" dirty="0">
                <a:solidFill>
                  <a:schemeClr val="accent5"/>
                </a:solidFill>
              </a:defRPr>
            </a:lvl1pPr>
          </a:lstStyle>
          <a:p>
            <a:pPr algn="l" indent="0" marL="0">
              <a:buNone/>
            </a:pPr>
            <a:endParaRPr lang="en-US" sz="1100" dirty="0"/>
          </a:p>
        </p:txBody>
      </p:sp>
      <p:sp>
        <p:nvSpPr>
          <p:cNvPr id="3" name="Text 0"/>
          <p:cNvSpPr/>
          <p:nvPr>
            <p:ph idx="101" type="title" hasCustomPrompt="1"/>
          </p:nvPr>
        </p:nvSpPr>
        <p:spPr>
          <a:xfrm>
            <a:off x="548640" y="603504"/>
            <a:ext cx="11094415" cy="822960"/>
          </a:xfrm>
          <a:prstGeom prst="rect">
            <a:avLst/>
          </a:prstGeom>
          <a:noFill/>
          <a:ln/>
        </p:spPr>
        <p:txBody>
          <a:bodyPr wrap="square" rtlCol="0"/>
          <a:lstStyle>
            <a:lvl1pPr algn="l" indent="0" marL="0">
              <a:lnSpc>
                <a:spcPct val="95000"/>
              </a:lnSpc>
              <a:buNone/>
              <a:defRPr lang="en-US" sz="2400" b="1" dirty="0">
                <a:solidFill>
                  <a:schemeClr val="tx1"/>
                </a:solidFill>
              </a:defRPr>
            </a:lvl1pPr>
          </a:lstStyle>
          <a:p>
            <a:pPr algn="l" indent="0" marL="0">
              <a:lnSpc>
                <a:spcPct val="95000"/>
              </a:lnSpc>
              <a:buNone/>
            </a:pPr>
            <a:endParaRPr lang="en-US" sz="2400" dirty="0"/>
          </a:p>
        </p:txBody>
      </p:sp>
      <p:sp>
        <p:nvSpPr>
          <p:cNvPr id="4" name="Text 0"/>
          <p:cNvSpPr/>
          <p:nvPr>
            <p:ph idx="102" type="body" hasCustomPrompt="1"/>
          </p:nvPr>
        </p:nvSpPr>
        <p:spPr>
          <a:xfrm>
            <a:off x="548640" y="6327648"/>
            <a:ext cx="10287000" cy="384048"/>
          </a:xfrm>
          <a:prstGeom prst="rect">
            <a:avLst/>
          </a:prstGeom>
          <a:noFill/>
          <a:ln/>
        </p:spPr>
        <p:txBody>
          <a:bodyPr wrap="square" rtlCol="0"/>
          <a:lstStyle>
            <a:lvl1pPr algn="l" indent="0" marL="0">
              <a:buNone/>
              <a:defRPr lang="en-US" sz="1000" dirty="0">
                <a:solidFill>
                  <a:schemeClr val="accent5"/>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REIMAGINE CRM FOR THE FUTURE OF SALES   ·   PRODUCT MANAGER – AI SOLUTIONS   ·   ABHISHEK NAHIRE</a:t>
            </a:r>
            <a:endParaRPr lang="en-US" sz="1100" dirty="0"/>
          </a:p>
        </p:txBody>
      </p:sp>
      <p:sp>
        <p:nvSpPr>
          <p:cNvPr id="3" name="Text 0"/>
          <p:cNvSpPr/>
          <p:nvPr>
            <p:ph idx="101" type="title" hasCustomPrompt="1"/>
          </p:nvPr>
        </p:nvSpPr>
        <p:spPr>
          <a:xfrm>
            <a:off x="548640" y="804672"/>
            <a:ext cx="10424160" cy="1188720"/>
          </a:xfrm>
          <a:prstGeom prst="rect">
            <a:avLst/>
          </a:prstGeom>
          <a:noFill/>
          <a:ln/>
        </p:spPr>
        <p:txBody>
          <a:bodyPr wrap="square" lIns="0" tIns="0" rIns="0" bIns="0" rtlCol="0" anchor="t"/>
          <a:lstStyle/>
          <a:p>
            <a:pPr algn="l" indent="0" marL="0">
              <a:lnSpc>
                <a:spcPct val="95000"/>
              </a:lnSpc>
              <a:buNone/>
            </a:pPr>
            <a:r>
              <a:rPr lang="en-US" sz="3400" b="1" dirty="0">
                <a:solidFill>
                  <a:schemeClr val="tx1"/>
                </a:solidFill>
              </a:rPr>
              <a:t>CRM stores what the team believes. It should also keep what that belief rests on.</a:t>
            </a:r>
            <a:endParaRPr lang="en-US" sz="3400" dirty="0"/>
          </a:p>
        </p:txBody>
      </p:sp>
      <p:sp>
        <p:nvSpPr>
          <p:cNvPr id="4" name="Text 0"/>
          <p:cNvSpPr/>
          <p:nvPr>
            <p:ph idx="102" type="body" hasCustomPrompt="1"/>
          </p:nvPr>
        </p:nvSpPr>
        <p:spPr>
          <a:xfrm>
            <a:off x="548640" y="6327648"/>
            <a:ext cx="11094415" cy="274320"/>
          </a:xfrm>
          <a:prstGeom prst="rect">
            <a:avLst/>
          </a:prstGeom>
          <a:noFill/>
          <a:ln/>
        </p:spPr>
        <p:txBody>
          <a:bodyPr wrap="square" lIns="0" tIns="0" rIns="0" bIns="0" rtlCol="0" anchor="t"/>
          <a:lstStyle/>
          <a:p>
            <a:pPr algn="l" indent="0" marL="0">
              <a:buNone/>
            </a:pPr>
            <a:r>
              <a:rPr lang="en-US" sz="1000" dirty="0">
                <a:solidFill>
                  <a:schemeClr val="accent5"/>
                </a:solidFill>
              </a:rPr>
              <a:t>Desk-research-led product proposal  ·  No primary customer interviews yet  ·  Hypotheses are labelled  ·  Example deal and quote are illustrative</a:t>
            </a:r>
            <a:endParaRPr lang="en-US" sz="1000" dirty="0"/>
          </a:p>
        </p:txBody>
      </p:sp>
      <p:sp>
        <p:nvSpPr>
          <p:cNvPr id="5" name="Text 3"/>
          <p:cNvSpPr txBox="1"/>
          <p:nvPr/>
        </p:nvSpPr>
        <p:spPr>
          <a:xfrm>
            <a:off x="548640" y="2121408"/>
            <a:ext cx="11094415" cy="365760"/>
          </a:xfrm>
          <a:prstGeom prst="rect">
            <a:avLst/>
          </a:prstGeom>
          <a:noFill/>
          <a:ln/>
        </p:spPr>
        <p:txBody>
          <a:bodyPr wrap="square" lIns="0" tIns="0" rIns="0" bIns="0" rtlCol="0" anchor="t"/>
          <a:lstStyle/>
          <a:p>
            <a:pPr indent="0" marL="0">
              <a:buNone/>
            </a:pPr>
            <a:r>
              <a:rPr lang="en-US" sz="1700" dirty="0">
                <a:solidFill>
                  <a:schemeClr val="tx2"/>
                </a:solidFill>
              </a:rPr>
              <a:t>Evidence-native CRM keeps deal state as claims with their evidence. Fields become views of it.</a:t>
            </a:r>
            <a:endParaRPr lang="en-US" sz="1700" dirty="0"/>
          </a:p>
        </p:txBody>
      </p:sp>
      <p:sp>
        <p:nvSpPr>
          <p:cNvPr id="6" name="Text 4"/>
          <p:cNvSpPr txBox="1"/>
          <p:nvPr/>
        </p:nvSpPr>
        <p:spPr>
          <a:xfrm>
            <a:off x="548640" y="2834640"/>
            <a:ext cx="2926080"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TODAY'S CRM FIELD</a:t>
            </a:r>
            <a:endParaRPr lang="en-US" sz="1000" dirty="0"/>
          </a:p>
        </p:txBody>
      </p:sp>
      <p:sp>
        <p:nvSpPr>
          <p:cNvPr id="7" name="Shape 5"/>
          <p:cNvSpPr/>
          <p:nvPr/>
        </p:nvSpPr>
        <p:spPr>
          <a:xfrm>
            <a:off x="548640" y="3127248"/>
            <a:ext cx="2788920" cy="603504"/>
          </a:xfrm>
          <a:prstGeom prst="roundRect">
            <a:avLst>
              <a:gd name="adj" fmla="val 12121"/>
            </a:avLst>
          </a:prstGeom>
          <a:solidFill>
            <a:schemeClr val="bg1"/>
          </a:solidFill>
          <a:ln w="9525">
            <a:solidFill>
              <a:schemeClr val="accent6"/>
            </a:solidFill>
            <a:prstDash val="solid"/>
          </a:ln>
        </p:spPr>
      </p:sp>
      <p:sp>
        <p:nvSpPr>
          <p:cNvPr id="8" name="Text 6"/>
          <p:cNvSpPr txBox="1"/>
          <p:nvPr/>
        </p:nvSpPr>
        <p:spPr>
          <a:xfrm>
            <a:off x="749808" y="3127248"/>
            <a:ext cx="2468880" cy="603504"/>
          </a:xfrm>
          <a:prstGeom prst="rect">
            <a:avLst/>
          </a:prstGeom>
          <a:noFill/>
          <a:ln/>
        </p:spPr>
        <p:txBody>
          <a:bodyPr wrap="square" lIns="0" tIns="0" rIns="0" bIns="0" rtlCol="0" anchor="ctr"/>
          <a:lstStyle/>
          <a:p>
            <a:pPr indent="0" marL="0">
              <a:buNone/>
            </a:pPr>
            <a:r>
              <a:rPr lang="en-US" sz="1700" dirty="0">
                <a:solidFill>
                  <a:schemeClr val="tx1"/>
                </a:solidFill>
              </a:rPr>
              <a:t>Budget confirmed</a:t>
            </a:r>
            <a:pPr indent="0" marL="0">
              <a:buNone/>
            </a:pPr>
            <a:r>
              <a:rPr lang="en-US" sz="1700" dirty="0">
                <a:solidFill>
                  <a:schemeClr val="accent5"/>
                </a:solidFill>
              </a:rPr>
              <a:t>   ✓</a:t>
            </a:r>
            <a:endParaRPr lang="en-US" sz="1700" dirty="0"/>
          </a:p>
        </p:txBody>
      </p:sp>
      <p:sp>
        <p:nvSpPr>
          <p:cNvPr id="9" name="Text 7"/>
          <p:cNvSpPr txBox="1"/>
          <p:nvPr/>
        </p:nvSpPr>
        <p:spPr>
          <a:xfrm>
            <a:off x="548640" y="3840480"/>
            <a:ext cx="2788920" cy="457200"/>
          </a:xfrm>
          <a:prstGeom prst="rect">
            <a:avLst/>
          </a:prstGeom>
          <a:noFill/>
          <a:ln/>
        </p:spPr>
        <p:txBody>
          <a:bodyPr wrap="square" lIns="0" tIns="0" rIns="0" bIns="0" rtlCol="0" anchor="t"/>
          <a:lstStyle/>
          <a:p>
            <a:pPr indent="0" marL="0">
              <a:buNone/>
            </a:pPr>
            <a:r>
              <a:rPr lang="en-US" sz="1300" i="1" dirty="0">
                <a:solidFill>
                  <a:schemeClr val="accent5"/>
                </a:solidFill>
              </a:rPr>
              <a:t>A value. No source, date or history.</a:t>
            </a:r>
            <a:endParaRPr lang="en-US" sz="1300" dirty="0"/>
          </a:p>
        </p:txBody>
      </p:sp>
      <p:sp>
        <p:nvSpPr>
          <p:cNvPr id="10" name="Shape 8"/>
          <p:cNvSpPr/>
          <p:nvPr/>
        </p:nvSpPr>
        <p:spPr>
          <a:xfrm>
            <a:off x="3493008" y="3429000"/>
            <a:ext cx="621792" cy="0"/>
          </a:xfrm>
          <a:prstGeom prst="line">
            <a:avLst/>
          </a:prstGeom>
          <a:noFill/>
          <a:ln w="19050">
            <a:solidFill>
              <a:schemeClr val="accent5"/>
            </a:solidFill>
            <a:prstDash val="solid"/>
            <a:tailEnd type="triangle"/>
          </a:ln>
        </p:spPr>
      </p:sp>
      <p:sp>
        <p:nvSpPr>
          <p:cNvPr id="11" name="Shape 9"/>
          <p:cNvSpPr/>
          <p:nvPr/>
        </p:nvSpPr>
        <p:spPr>
          <a:xfrm>
            <a:off x="4251960" y="2834640"/>
            <a:ext cx="4526280" cy="3017520"/>
          </a:xfrm>
          <a:prstGeom prst="roundRect">
            <a:avLst>
              <a:gd name="adj" fmla="val 3030"/>
            </a:avLst>
          </a:prstGeom>
          <a:solidFill>
            <a:schemeClr val="bg1"/>
          </a:solidFill>
          <a:ln w="19050">
            <a:solidFill>
              <a:schemeClr val="accent1"/>
            </a:solidFill>
            <a:prstDash val="solid"/>
          </a:ln>
        </p:spPr>
      </p:sp>
      <p:sp>
        <p:nvSpPr>
          <p:cNvPr id="12" name="Text 10"/>
          <p:cNvSpPr txBox="1"/>
          <p:nvPr/>
        </p:nvSpPr>
        <p:spPr>
          <a:xfrm>
            <a:off x="4507992" y="3017520"/>
            <a:ext cx="2743200" cy="219456"/>
          </a:xfrm>
          <a:prstGeom prst="rect">
            <a:avLst/>
          </a:prstGeom>
          <a:noFill/>
          <a:ln/>
        </p:spPr>
        <p:txBody>
          <a:bodyPr wrap="square" lIns="0" tIns="0" rIns="0" bIns="0" rtlCol="0" anchor="t"/>
          <a:lstStyle/>
          <a:p>
            <a:pPr indent="0" marL="0">
              <a:buNone/>
            </a:pPr>
            <a:r>
              <a:rPr lang="en-US" sz="1000" b="1" spc="100" kern="0" dirty="0">
                <a:solidFill>
                  <a:schemeClr val="accent1"/>
                </a:solidFill>
              </a:rPr>
              <a:t>EVIDENCE-NATIVE RECORD</a:t>
            </a:r>
            <a:endParaRPr lang="en-US" sz="1000" dirty="0"/>
          </a:p>
        </p:txBody>
      </p:sp>
      <p:sp>
        <p:nvSpPr>
          <p:cNvPr id="13" name="Text 11"/>
          <p:cNvSpPr txBox="1"/>
          <p:nvPr/>
        </p:nvSpPr>
        <p:spPr>
          <a:xfrm>
            <a:off x="4507992" y="3337560"/>
            <a:ext cx="1005840" cy="292608"/>
          </a:xfrm>
          <a:prstGeom prst="rect">
            <a:avLst/>
          </a:prstGeom>
          <a:noFill/>
          <a:ln/>
        </p:spPr>
        <p:txBody>
          <a:bodyPr wrap="square" lIns="0" tIns="0" rIns="0" bIns="0" rtlCol="0" anchor="ctr"/>
          <a:lstStyle/>
          <a:p>
            <a:pPr indent="0" marL="0">
              <a:buNone/>
            </a:pPr>
            <a:r>
              <a:rPr lang="en-US" sz="1200" dirty="0">
                <a:solidFill>
                  <a:schemeClr val="accent5"/>
                </a:solidFill>
              </a:rPr>
              <a:t>Claim</a:t>
            </a:r>
            <a:endParaRPr lang="en-US" sz="1200" dirty="0"/>
          </a:p>
        </p:txBody>
      </p:sp>
      <p:sp>
        <p:nvSpPr>
          <p:cNvPr id="14" name="Text 12"/>
          <p:cNvSpPr txBox="1"/>
          <p:nvPr/>
        </p:nvSpPr>
        <p:spPr>
          <a:xfrm>
            <a:off x="5532120" y="3337560"/>
            <a:ext cx="2011680" cy="292608"/>
          </a:xfrm>
          <a:prstGeom prst="rect">
            <a:avLst/>
          </a:prstGeom>
          <a:noFill/>
          <a:ln/>
        </p:spPr>
        <p:txBody>
          <a:bodyPr wrap="square" lIns="0" tIns="0" rIns="0" bIns="0" rtlCol="0" anchor="ctr"/>
          <a:lstStyle/>
          <a:p>
            <a:pPr indent="0" marL="0">
              <a:buNone/>
            </a:pPr>
            <a:r>
              <a:rPr lang="en-US" sz="1500" b="1" dirty="0">
                <a:solidFill>
                  <a:schemeClr val="tx1"/>
                </a:solidFill>
              </a:rPr>
              <a:t>Budget confirmed</a:t>
            </a:r>
            <a:endParaRPr lang="en-US" sz="1500" dirty="0"/>
          </a:p>
        </p:txBody>
      </p:sp>
      <p:sp>
        <p:nvSpPr>
          <p:cNvPr id="15" name="Shape 13"/>
          <p:cNvSpPr/>
          <p:nvPr/>
        </p:nvSpPr>
        <p:spPr>
          <a:xfrm>
            <a:off x="7401062" y="3346704"/>
            <a:ext cx="1121146" cy="274320"/>
          </a:xfrm>
          <a:prstGeom prst="roundRect">
            <a:avLst>
              <a:gd name="adj" fmla="val 50000"/>
            </a:avLst>
          </a:prstGeom>
          <a:solidFill>
            <a:schemeClr val="accent2">
              <a:alpha val="12000"/>
            </a:schemeClr>
          </a:solidFill>
          <a:ln w="9525">
            <a:solidFill>
              <a:schemeClr val="accent2"/>
            </a:solidFill>
            <a:prstDash val="solid"/>
          </a:ln>
        </p:spPr>
      </p:sp>
      <p:sp>
        <p:nvSpPr>
          <p:cNvPr id="16" name="Text 14"/>
          <p:cNvSpPr txBox="1"/>
          <p:nvPr/>
        </p:nvSpPr>
        <p:spPr>
          <a:xfrm>
            <a:off x="7401062" y="3346704"/>
            <a:ext cx="1121146"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SUPPORTED</a:t>
            </a:r>
            <a:endParaRPr lang="en-US" sz="1050" dirty="0"/>
          </a:p>
        </p:txBody>
      </p:sp>
      <p:sp>
        <p:nvSpPr>
          <p:cNvPr id="17" name="Shape 15"/>
          <p:cNvSpPr/>
          <p:nvPr/>
        </p:nvSpPr>
        <p:spPr>
          <a:xfrm>
            <a:off x="4507992" y="3749040"/>
            <a:ext cx="4014216" cy="0"/>
          </a:xfrm>
          <a:prstGeom prst="line">
            <a:avLst/>
          </a:prstGeom>
          <a:noFill/>
          <a:ln w="9525">
            <a:solidFill>
              <a:schemeClr val="accent6"/>
            </a:solidFill>
            <a:prstDash val="solid"/>
          </a:ln>
        </p:spPr>
      </p:sp>
      <p:sp>
        <p:nvSpPr>
          <p:cNvPr id="18" name="Text 16"/>
          <p:cNvSpPr txBox="1"/>
          <p:nvPr/>
        </p:nvSpPr>
        <p:spPr>
          <a:xfrm>
            <a:off x="4507992" y="3867912"/>
            <a:ext cx="1005840" cy="292608"/>
          </a:xfrm>
          <a:prstGeom prst="rect">
            <a:avLst/>
          </a:prstGeom>
          <a:noFill/>
          <a:ln/>
        </p:spPr>
        <p:txBody>
          <a:bodyPr wrap="square" lIns="0" tIns="0" rIns="0" bIns="0" rtlCol="0" anchor="ctr"/>
          <a:lstStyle/>
          <a:p>
            <a:pPr indent="0" marL="0">
              <a:buNone/>
            </a:pPr>
            <a:r>
              <a:rPr lang="en-US" sz="1200" dirty="0">
                <a:solidFill>
                  <a:schemeClr val="accent5"/>
                </a:solidFill>
              </a:rPr>
              <a:t>Source</a:t>
            </a:r>
            <a:endParaRPr lang="en-US" sz="1200" dirty="0"/>
          </a:p>
        </p:txBody>
      </p:sp>
      <p:sp>
        <p:nvSpPr>
          <p:cNvPr id="19" name="Shape 17"/>
          <p:cNvSpPr/>
          <p:nvPr/>
        </p:nvSpPr>
        <p:spPr>
          <a:xfrm>
            <a:off x="5532120" y="3877056"/>
            <a:ext cx="1024860" cy="274320"/>
          </a:xfrm>
          <a:prstGeom prst="roundRect">
            <a:avLst>
              <a:gd name="adj" fmla="val 50000"/>
            </a:avLst>
          </a:prstGeom>
          <a:solidFill>
            <a:schemeClr val="bg1"/>
          </a:solidFill>
          <a:ln w="9525">
            <a:solidFill>
              <a:schemeClr val="accent6"/>
            </a:solidFill>
            <a:prstDash val="solid"/>
          </a:ln>
        </p:spPr>
      </p:sp>
      <p:sp>
        <p:nvSpPr>
          <p:cNvPr id="20" name="Text 18"/>
          <p:cNvSpPr txBox="1"/>
          <p:nvPr/>
        </p:nvSpPr>
        <p:spPr>
          <a:xfrm>
            <a:off x="5532120" y="3877056"/>
            <a:ext cx="1024860" cy="274320"/>
          </a:xfrm>
          <a:prstGeom prst="rect">
            <a:avLst/>
          </a:prstGeom>
          <a:noFill/>
          <a:ln/>
        </p:spPr>
        <p:txBody>
          <a:bodyPr wrap="square" lIns="0" tIns="0" rIns="0" bIns="0" rtlCol="0" anchor="ctr"/>
          <a:lstStyle/>
          <a:p>
            <a:pPr algn="ctr" indent="0" marL="0">
              <a:buNone/>
            </a:pPr>
            <a:r>
              <a:rPr lang="en-US" sz="1200" dirty="0">
                <a:solidFill>
                  <a:schemeClr val="tx2"/>
                </a:solidFill>
              </a:rPr>
              <a:t>CFO email</a:t>
            </a:r>
            <a:endParaRPr lang="en-US" sz="1200" dirty="0"/>
          </a:p>
        </p:txBody>
      </p:sp>
      <p:sp>
        <p:nvSpPr>
          <p:cNvPr id="21" name="Text 19"/>
          <p:cNvSpPr txBox="1"/>
          <p:nvPr/>
        </p:nvSpPr>
        <p:spPr>
          <a:xfrm>
            <a:off x="4507992" y="4251960"/>
            <a:ext cx="1005840" cy="292608"/>
          </a:xfrm>
          <a:prstGeom prst="rect">
            <a:avLst/>
          </a:prstGeom>
          <a:noFill/>
          <a:ln/>
        </p:spPr>
        <p:txBody>
          <a:bodyPr wrap="square" lIns="0" tIns="0" rIns="0" bIns="0" rtlCol="0" anchor="ctr"/>
          <a:lstStyle/>
          <a:p>
            <a:pPr indent="0" marL="0">
              <a:buNone/>
            </a:pPr>
            <a:r>
              <a:rPr lang="en-US" sz="1200" dirty="0">
                <a:solidFill>
                  <a:schemeClr val="accent5"/>
                </a:solidFill>
              </a:rPr>
              <a:t>Date</a:t>
            </a:r>
            <a:endParaRPr lang="en-US" sz="1200" dirty="0"/>
          </a:p>
        </p:txBody>
      </p:sp>
      <p:sp>
        <p:nvSpPr>
          <p:cNvPr id="22" name="Text 20"/>
          <p:cNvSpPr txBox="1"/>
          <p:nvPr/>
        </p:nvSpPr>
        <p:spPr>
          <a:xfrm>
            <a:off x="5532120" y="4251960"/>
            <a:ext cx="2990088" cy="292608"/>
          </a:xfrm>
          <a:prstGeom prst="rect">
            <a:avLst/>
          </a:prstGeom>
          <a:noFill/>
          <a:ln/>
        </p:spPr>
        <p:txBody>
          <a:bodyPr wrap="square" lIns="0" tIns="0" rIns="0" bIns="0" rtlCol="0" anchor="ctr"/>
          <a:lstStyle/>
          <a:p>
            <a:pPr indent="0" marL="0">
              <a:buNone/>
            </a:pPr>
            <a:r>
              <a:rPr lang="en-US" sz="1300" dirty="0">
                <a:solidFill>
                  <a:schemeClr val="tx1"/>
                </a:solidFill>
              </a:rPr>
              <a:t>17 Sep</a:t>
            </a:r>
            <a:endParaRPr lang="en-US" sz="1300" dirty="0"/>
          </a:p>
        </p:txBody>
      </p:sp>
      <p:sp>
        <p:nvSpPr>
          <p:cNvPr id="23" name="Text 21"/>
          <p:cNvSpPr txBox="1"/>
          <p:nvPr/>
        </p:nvSpPr>
        <p:spPr>
          <a:xfrm>
            <a:off x="4507992" y="4636008"/>
            <a:ext cx="1005840" cy="292608"/>
          </a:xfrm>
          <a:prstGeom prst="rect">
            <a:avLst/>
          </a:prstGeom>
          <a:noFill/>
          <a:ln/>
        </p:spPr>
        <p:txBody>
          <a:bodyPr wrap="square" lIns="0" tIns="0" rIns="0" bIns="0" rtlCol="0" anchor="ctr"/>
          <a:lstStyle/>
          <a:p>
            <a:pPr indent="0" marL="0">
              <a:buNone/>
            </a:pPr>
            <a:r>
              <a:rPr lang="en-US" sz="1200" dirty="0">
                <a:solidFill>
                  <a:schemeClr val="accent5"/>
                </a:solidFill>
              </a:rPr>
              <a:t>Evidence</a:t>
            </a:r>
            <a:endParaRPr lang="en-US" sz="1200" dirty="0"/>
          </a:p>
        </p:txBody>
      </p:sp>
      <p:sp>
        <p:nvSpPr>
          <p:cNvPr id="24" name="Text 22"/>
          <p:cNvSpPr txBox="1"/>
          <p:nvPr/>
        </p:nvSpPr>
        <p:spPr>
          <a:xfrm>
            <a:off x="5532120" y="4636008"/>
            <a:ext cx="2990088" cy="548640"/>
          </a:xfrm>
          <a:prstGeom prst="rect">
            <a:avLst/>
          </a:prstGeom>
          <a:noFill/>
          <a:ln/>
        </p:spPr>
        <p:txBody>
          <a:bodyPr wrap="square" lIns="0" tIns="0" rIns="0" bIns="0" rtlCol="0" anchor="t"/>
          <a:lstStyle/>
          <a:p>
            <a:pPr indent="0" marL="0">
              <a:buNone/>
            </a:pPr>
            <a:r>
              <a:rPr lang="en-US" sz="1300" i="1" dirty="0">
                <a:solidFill>
                  <a:schemeClr val="tx1"/>
                </a:solidFill>
              </a:rPr>
              <a:t>“Budget for the rollout is approved for Q4.”</a:t>
            </a:r>
            <a:endParaRPr lang="en-US" sz="1300" dirty="0"/>
          </a:p>
        </p:txBody>
      </p:sp>
      <p:sp>
        <p:nvSpPr>
          <p:cNvPr id="25" name="Text 23"/>
          <p:cNvSpPr txBox="1"/>
          <p:nvPr/>
        </p:nvSpPr>
        <p:spPr>
          <a:xfrm>
            <a:off x="4507992" y="5303520"/>
            <a:ext cx="1005840" cy="292608"/>
          </a:xfrm>
          <a:prstGeom prst="rect">
            <a:avLst/>
          </a:prstGeom>
          <a:noFill/>
          <a:ln/>
        </p:spPr>
        <p:txBody>
          <a:bodyPr wrap="square" lIns="0" tIns="0" rIns="0" bIns="0" rtlCol="0" anchor="ctr"/>
          <a:lstStyle/>
          <a:p>
            <a:pPr indent="0" marL="0">
              <a:buNone/>
            </a:pPr>
            <a:r>
              <a:rPr lang="en-US" sz="1200" dirty="0">
                <a:solidFill>
                  <a:schemeClr val="accent5"/>
                </a:solidFill>
              </a:rPr>
              <a:t>History</a:t>
            </a:r>
            <a:endParaRPr lang="en-US" sz="1200" dirty="0"/>
          </a:p>
        </p:txBody>
      </p:sp>
      <p:sp>
        <p:nvSpPr>
          <p:cNvPr id="26" name="Text 24"/>
          <p:cNvSpPr txBox="1"/>
          <p:nvPr/>
        </p:nvSpPr>
        <p:spPr>
          <a:xfrm>
            <a:off x="5532120" y="5303520"/>
            <a:ext cx="2990088" cy="292608"/>
          </a:xfrm>
          <a:prstGeom prst="rect">
            <a:avLst/>
          </a:prstGeom>
          <a:noFill/>
          <a:ln/>
        </p:spPr>
        <p:txBody>
          <a:bodyPr wrap="square" lIns="0" tIns="0" rIns="0" bIns="0" rtlCol="0" anchor="ctr"/>
          <a:lstStyle/>
          <a:p>
            <a:pPr indent="0" marL="0">
              <a:buNone/>
            </a:pPr>
            <a:r>
              <a:rPr lang="en-US" sz="1300" dirty="0">
                <a:solidFill>
                  <a:schemeClr val="accent5"/>
                </a:solidFill>
              </a:rPr>
              <a:t>Unknown</a:t>
            </a:r>
            <a:pPr indent="0" marL="0">
              <a:buNone/>
            </a:pPr>
            <a:r>
              <a:rPr lang="en-US" sz="1300" dirty="0">
                <a:solidFill>
                  <a:schemeClr val="accent5"/>
                </a:solidFill>
              </a:rPr>
              <a:t>  →  </a:t>
            </a:r>
            <a:pPr indent="0" marL="0">
              <a:buNone/>
            </a:pPr>
            <a:r>
              <a:rPr lang="en-US" sz="1300" b="1" dirty="0">
                <a:solidFill>
                  <a:schemeClr val="accent2"/>
                </a:solidFill>
              </a:rPr>
              <a:t>Supported</a:t>
            </a:r>
            <a:pPr indent="0" marL="0">
              <a:buNone/>
            </a:pPr>
            <a:r>
              <a:rPr lang="en-US" sz="1300" dirty="0">
                <a:solidFill>
                  <a:schemeClr val="accent5"/>
                </a:solidFill>
              </a:rPr>
              <a:t>  on 17 Sep</a:t>
            </a:r>
            <a:endParaRPr lang="en-US" sz="1300" dirty="0"/>
          </a:p>
        </p:txBody>
      </p:sp>
      <p:sp>
        <p:nvSpPr>
          <p:cNvPr id="27" name="Text 25"/>
          <p:cNvSpPr txBox="1"/>
          <p:nvPr/>
        </p:nvSpPr>
        <p:spPr>
          <a:xfrm>
            <a:off x="9189720" y="2834640"/>
            <a:ext cx="2453335"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VISION</a:t>
            </a:r>
            <a:endParaRPr lang="en-US" sz="1000" dirty="0"/>
          </a:p>
        </p:txBody>
      </p:sp>
      <p:sp>
        <p:nvSpPr>
          <p:cNvPr id="28" name="Text 26"/>
          <p:cNvSpPr txBox="1"/>
          <p:nvPr/>
        </p:nvSpPr>
        <p:spPr>
          <a:xfrm>
            <a:off x="9189720" y="3090672"/>
            <a:ext cx="2453335" cy="566928"/>
          </a:xfrm>
          <a:prstGeom prst="rect">
            <a:avLst/>
          </a:prstGeom>
          <a:noFill/>
          <a:ln/>
        </p:spPr>
        <p:txBody>
          <a:bodyPr wrap="square" lIns="0" tIns="0" rIns="0" bIns="0" rtlCol="0" anchor="t"/>
          <a:lstStyle/>
          <a:p>
            <a:pPr indent="0" marL="0">
              <a:buNone/>
            </a:pPr>
            <a:r>
              <a:rPr lang="en-US" sz="1700" b="1" dirty="0">
                <a:solidFill>
                  <a:schemeClr val="tx1"/>
                </a:solidFill>
              </a:rPr>
              <a:t>Evidence-native CRM</a:t>
            </a:r>
            <a:endParaRPr lang="en-US" sz="1700" dirty="0"/>
          </a:p>
        </p:txBody>
      </p:sp>
      <p:sp>
        <p:nvSpPr>
          <p:cNvPr id="29" name="Shape 27"/>
          <p:cNvSpPr/>
          <p:nvPr/>
        </p:nvSpPr>
        <p:spPr>
          <a:xfrm>
            <a:off x="9189720" y="3767328"/>
            <a:ext cx="2453335" cy="0"/>
          </a:xfrm>
          <a:prstGeom prst="line">
            <a:avLst/>
          </a:prstGeom>
          <a:noFill/>
          <a:ln w="9525">
            <a:solidFill>
              <a:schemeClr val="accent6"/>
            </a:solidFill>
            <a:prstDash val="solid"/>
          </a:ln>
        </p:spPr>
      </p:sp>
      <p:sp>
        <p:nvSpPr>
          <p:cNvPr id="30" name="Text 28"/>
          <p:cNvSpPr txBox="1"/>
          <p:nvPr/>
        </p:nvSpPr>
        <p:spPr>
          <a:xfrm>
            <a:off x="9189720" y="3904488"/>
            <a:ext cx="2453335"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FIRST PRODUCT</a:t>
            </a:r>
            <a:endParaRPr lang="en-US" sz="1000" dirty="0"/>
          </a:p>
        </p:txBody>
      </p:sp>
      <p:sp>
        <p:nvSpPr>
          <p:cNvPr id="31" name="Text 29"/>
          <p:cNvSpPr txBox="1"/>
          <p:nvPr/>
        </p:nvSpPr>
        <p:spPr>
          <a:xfrm>
            <a:off x="9189720" y="4160520"/>
            <a:ext cx="2453335" cy="566928"/>
          </a:xfrm>
          <a:prstGeom prst="rect">
            <a:avLst/>
          </a:prstGeom>
          <a:noFill/>
          <a:ln/>
        </p:spPr>
        <p:txBody>
          <a:bodyPr wrap="square" lIns="0" tIns="0" rIns="0" bIns="0" rtlCol="0" anchor="t"/>
          <a:lstStyle/>
          <a:p>
            <a:pPr indent="0" marL="0">
              <a:buNone/>
            </a:pPr>
            <a:r>
              <a:rPr lang="en-US" sz="1700" b="1" dirty="0">
                <a:solidFill>
                  <a:schemeClr val="tx1"/>
                </a:solidFill>
              </a:rPr>
              <a:t>Deal Evidence Ledger</a:t>
            </a:r>
            <a:endParaRPr lang="en-US" sz="1700" dirty="0"/>
          </a:p>
        </p:txBody>
      </p:sp>
      <p:sp>
        <p:nvSpPr>
          <p:cNvPr id="32" name="Shape 30"/>
          <p:cNvSpPr/>
          <p:nvPr/>
        </p:nvSpPr>
        <p:spPr>
          <a:xfrm>
            <a:off x="9189720" y="4837176"/>
            <a:ext cx="2453335" cy="0"/>
          </a:xfrm>
          <a:prstGeom prst="line">
            <a:avLst/>
          </a:prstGeom>
          <a:noFill/>
          <a:ln w="9525">
            <a:solidFill>
              <a:schemeClr val="accent6"/>
            </a:solidFill>
            <a:prstDash val="solid"/>
          </a:ln>
        </p:spPr>
      </p:sp>
      <p:sp>
        <p:nvSpPr>
          <p:cNvPr id="33" name="Text 31"/>
          <p:cNvSpPr txBox="1"/>
          <p:nvPr/>
        </p:nvSpPr>
        <p:spPr>
          <a:xfrm>
            <a:off x="9189720" y="4974336"/>
            <a:ext cx="2453335"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FIRST USER</a:t>
            </a:r>
            <a:endParaRPr lang="en-US" sz="1000" dirty="0"/>
          </a:p>
        </p:txBody>
      </p:sp>
      <p:sp>
        <p:nvSpPr>
          <p:cNvPr id="34" name="Text 32"/>
          <p:cNvSpPr txBox="1"/>
          <p:nvPr/>
        </p:nvSpPr>
        <p:spPr>
          <a:xfrm>
            <a:off x="9189720" y="5230368"/>
            <a:ext cx="2453335" cy="566928"/>
          </a:xfrm>
          <a:prstGeom prst="rect">
            <a:avLst/>
          </a:prstGeom>
          <a:noFill/>
          <a:ln/>
        </p:spPr>
        <p:txBody>
          <a:bodyPr wrap="square" lIns="0" tIns="0" rIns="0" bIns="0" rtlCol="0" anchor="t"/>
          <a:lstStyle/>
          <a:p>
            <a:pPr indent="0" marL="0">
              <a:buNone/>
            </a:pPr>
            <a:r>
              <a:rPr lang="en-US" sz="1700" b="1" dirty="0">
                <a:solidFill>
                  <a:schemeClr val="tx1"/>
                </a:solidFill>
              </a:rPr>
              <a:t>Front-line sales manager</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PROBLEM  ·  TARGET USER</a:t>
            </a:r>
            <a:endParaRPr lang="en-US" sz="1100" dirty="0"/>
          </a:p>
        </p:txBody>
      </p:sp>
      <p:sp>
        <p:nvSpPr>
          <p:cNvPr id="3" name="Text 0"/>
          <p:cNvSpPr/>
          <p:nvPr>
            <p:ph idx="101" type="title" hasCustomPrompt="1"/>
          </p:nvPr>
        </p:nvSpPr>
        <p:spPr>
          <a:xfrm>
            <a:off x="548640" y="603504"/>
            <a:ext cx="11094415" cy="987552"/>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rPr>
              <a:t>CRM fields compress the evidence, so managers reconstruct it at every forecast review.</a:t>
            </a:r>
            <a:endParaRPr lang="en-US" sz="2800" dirty="0"/>
          </a:p>
        </p:txBody>
      </p:sp>
      <p:sp>
        <p:nvSpPr>
          <p:cNvPr id="4" name="Text 0"/>
          <p:cNvSpPr/>
          <p:nvPr>
            <p:ph idx="102" type="body" hasCustomPrompt="1"/>
          </p:nvPr>
        </p:nvSpPr>
        <p:spPr>
          <a:xfrm>
            <a:off x="548640" y="6327648"/>
            <a:ext cx="10287000" cy="384048"/>
          </a:xfrm>
          <a:prstGeom prst="rect">
            <a:avLst/>
          </a:prstGeom>
          <a:noFill/>
          <a:ln/>
        </p:spPr>
        <p:txBody>
          <a:bodyPr wrap="square" lIns="0" tIns="0" rIns="0" bIns="0" rtlCol="0" anchor="t"/>
          <a:lstStyle/>
          <a:p>
            <a:pPr algn="l" indent="0" marL="0">
              <a:buNone/>
            </a:pPr>
            <a:r>
              <a:rPr lang="en-US" sz="1000" dirty="0">
                <a:solidFill>
                  <a:schemeClr val="accent5"/>
                </a:solidFill>
              </a:rPr>
              <a:t>PRODUCT ASSUMPTION  ·  manager workflow drawn from secondary sources; not yet confirmed in interviews     HYPOTHESIS  ·  the data-model reading</a:t>
            </a:r>
            <a:endParaRPr lang="en-US" sz="1000" dirty="0"/>
          </a:p>
        </p:txBody>
      </p:sp>
      <p:sp>
        <p:nvSpPr>
          <p:cNvPr id="5" name="Text 3"/>
          <p:cNvSpPr txBox="1"/>
          <p:nvPr/>
        </p:nvSpPr>
        <p:spPr>
          <a:xfrm>
            <a:off x="548640" y="1828800"/>
            <a:ext cx="4892040"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A 60-MINUTE CUSTOMER CALL</a:t>
            </a:r>
            <a:endParaRPr lang="en-US" sz="1000" dirty="0"/>
          </a:p>
        </p:txBody>
      </p:sp>
      <p:sp>
        <p:nvSpPr>
          <p:cNvPr id="6" name="Shape 4"/>
          <p:cNvSpPr/>
          <p:nvPr/>
        </p:nvSpPr>
        <p:spPr>
          <a:xfrm>
            <a:off x="548640" y="2103120"/>
            <a:ext cx="4892040" cy="749808"/>
          </a:xfrm>
          <a:prstGeom prst="roundRect">
            <a:avLst>
              <a:gd name="adj" fmla="val 12195"/>
            </a:avLst>
          </a:prstGeom>
          <a:solidFill>
            <a:schemeClr val="bg1"/>
          </a:solidFill>
          <a:ln w="9525">
            <a:solidFill>
              <a:schemeClr val="accent6"/>
            </a:solidFill>
            <a:prstDash val="solid"/>
          </a:ln>
        </p:spPr>
      </p:sp>
      <p:sp>
        <p:nvSpPr>
          <p:cNvPr id="7" name="Shape 5"/>
          <p:cNvSpPr/>
          <p:nvPr/>
        </p:nvSpPr>
        <p:spPr>
          <a:xfrm>
            <a:off x="777240" y="2231136"/>
            <a:ext cx="4206240" cy="64008"/>
          </a:xfrm>
          <a:prstGeom prst="roundRect">
            <a:avLst>
              <a:gd name="adj" fmla="val 50000"/>
            </a:avLst>
          </a:prstGeom>
          <a:solidFill>
            <a:schemeClr val="accent6"/>
          </a:solidFill>
          <a:ln/>
        </p:spPr>
      </p:sp>
      <p:sp>
        <p:nvSpPr>
          <p:cNvPr id="8" name="Shape 6"/>
          <p:cNvSpPr/>
          <p:nvPr/>
        </p:nvSpPr>
        <p:spPr>
          <a:xfrm>
            <a:off x="777240" y="2377440"/>
            <a:ext cx="3383280" cy="64008"/>
          </a:xfrm>
          <a:prstGeom prst="roundRect">
            <a:avLst>
              <a:gd name="adj" fmla="val 50000"/>
            </a:avLst>
          </a:prstGeom>
          <a:solidFill>
            <a:schemeClr val="accent6"/>
          </a:solidFill>
          <a:ln/>
        </p:spPr>
      </p:sp>
      <p:sp>
        <p:nvSpPr>
          <p:cNvPr id="9" name="Shape 7"/>
          <p:cNvSpPr/>
          <p:nvPr/>
        </p:nvSpPr>
        <p:spPr>
          <a:xfrm>
            <a:off x="777240" y="2523744"/>
            <a:ext cx="3840480" cy="64008"/>
          </a:xfrm>
          <a:prstGeom prst="roundRect">
            <a:avLst>
              <a:gd name="adj" fmla="val 50000"/>
            </a:avLst>
          </a:prstGeom>
          <a:solidFill>
            <a:schemeClr val="accent6"/>
          </a:solidFill>
          <a:ln/>
        </p:spPr>
      </p:sp>
      <p:sp>
        <p:nvSpPr>
          <p:cNvPr id="10" name="Shape 8"/>
          <p:cNvSpPr/>
          <p:nvPr/>
        </p:nvSpPr>
        <p:spPr>
          <a:xfrm>
            <a:off x="777240" y="2670048"/>
            <a:ext cx="2651760" cy="64008"/>
          </a:xfrm>
          <a:prstGeom prst="roundRect">
            <a:avLst>
              <a:gd name="adj" fmla="val 50000"/>
            </a:avLst>
          </a:prstGeom>
          <a:solidFill>
            <a:schemeClr val="accent6"/>
          </a:solidFill>
          <a:ln/>
        </p:spPr>
      </p:sp>
      <p:sp>
        <p:nvSpPr>
          <p:cNvPr id="11" name="Shape 9"/>
          <p:cNvSpPr/>
          <p:nvPr/>
        </p:nvSpPr>
        <p:spPr>
          <a:xfrm>
            <a:off x="2994660" y="2898648"/>
            <a:ext cx="0" cy="301752"/>
          </a:xfrm>
          <a:prstGeom prst="line">
            <a:avLst/>
          </a:prstGeom>
          <a:noFill/>
          <a:ln w="15875">
            <a:solidFill>
              <a:schemeClr val="accent5"/>
            </a:solidFill>
            <a:prstDash val="solid"/>
            <a:tailEnd type="triangle"/>
          </a:ln>
        </p:spPr>
      </p:sp>
      <p:sp>
        <p:nvSpPr>
          <p:cNvPr id="12" name="Text 10"/>
          <p:cNvSpPr txBox="1"/>
          <p:nvPr/>
        </p:nvSpPr>
        <p:spPr>
          <a:xfrm>
            <a:off x="3131820" y="2926080"/>
            <a:ext cx="2194560" cy="274320"/>
          </a:xfrm>
          <a:prstGeom prst="rect">
            <a:avLst/>
          </a:prstGeom>
          <a:noFill/>
          <a:ln/>
        </p:spPr>
        <p:txBody>
          <a:bodyPr wrap="square" lIns="0" tIns="0" rIns="0" bIns="0" rtlCol="0" anchor="ctr"/>
          <a:lstStyle/>
          <a:p>
            <a:pPr indent="0" marL="0">
              <a:buNone/>
            </a:pPr>
            <a:r>
              <a:rPr lang="en-US" sz="1100" i="1" dirty="0">
                <a:solidFill>
                  <a:schemeClr val="accent5"/>
                </a:solidFill>
              </a:rPr>
              <a:t>becomes four values</a:t>
            </a:r>
            <a:endParaRPr lang="en-US" sz="1100" dirty="0"/>
          </a:p>
        </p:txBody>
      </p:sp>
      <p:sp>
        <p:nvSpPr>
          <p:cNvPr id="13" name="Shape 11"/>
          <p:cNvSpPr/>
          <p:nvPr/>
        </p:nvSpPr>
        <p:spPr>
          <a:xfrm>
            <a:off x="548640" y="3255264"/>
            <a:ext cx="2354580" cy="347472"/>
          </a:xfrm>
          <a:prstGeom prst="roundRect">
            <a:avLst>
              <a:gd name="adj" fmla="val 50000"/>
            </a:avLst>
          </a:prstGeom>
          <a:solidFill>
            <a:schemeClr val="bg1"/>
          </a:solidFill>
          <a:ln w="9525">
            <a:solidFill>
              <a:schemeClr val="accent6"/>
            </a:solidFill>
            <a:prstDash val="solid"/>
          </a:ln>
        </p:spPr>
      </p:sp>
      <p:sp>
        <p:nvSpPr>
          <p:cNvPr id="14" name="Text 12"/>
          <p:cNvSpPr txBox="1"/>
          <p:nvPr/>
        </p:nvSpPr>
        <p:spPr>
          <a:xfrm>
            <a:off x="548640" y="3255264"/>
            <a:ext cx="2354580" cy="347472"/>
          </a:xfrm>
          <a:prstGeom prst="rect">
            <a:avLst/>
          </a:prstGeom>
          <a:noFill/>
          <a:ln/>
        </p:spPr>
        <p:txBody>
          <a:bodyPr wrap="square" lIns="0" tIns="0" rIns="0" bIns="0" rtlCol="0" anchor="ctr"/>
          <a:lstStyle/>
          <a:p>
            <a:pPr algn="ctr" indent="0" marL="0">
              <a:buNone/>
            </a:pPr>
            <a:r>
              <a:rPr lang="en-US" sz="1300" b="1" dirty="0">
                <a:solidFill>
                  <a:schemeClr val="tx1"/>
                </a:solidFill>
              </a:rPr>
              <a:t>Budget = Yes</a:t>
            </a:r>
            <a:endParaRPr lang="en-US" sz="1300" dirty="0"/>
          </a:p>
        </p:txBody>
      </p:sp>
      <p:sp>
        <p:nvSpPr>
          <p:cNvPr id="15" name="Shape 13"/>
          <p:cNvSpPr/>
          <p:nvPr/>
        </p:nvSpPr>
        <p:spPr>
          <a:xfrm>
            <a:off x="3086100" y="3255264"/>
            <a:ext cx="2354580" cy="347472"/>
          </a:xfrm>
          <a:prstGeom prst="roundRect">
            <a:avLst>
              <a:gd name="adj" fmla="val 50000"/>
            </a:avLst>
          </a:prstGeom>
          <a:solidFill>
            <a:schemeClr val="bg1"/>
          </a:solidFill>
          <a:ln w="9525">
            <a:solidFill>
              <a:schemeClr val="accent6"/>
            </a:solidFill>
            <a:prstDash val="solid"/>
          </a:ln>
        </p:spPr>
      </p:sp>
      <p:sp>
        <p:nvSpPr>
          <p:cNvPr id="16" name="Text 14"/>
          <p:cNvSpPr txBox="1"/>
          <p:nvPr/>
        </p:nvSpPr>
        <p:spPr>
          <a:xfrm>
            <a:off x="3086100" y="3255264"/>
            <a:ext cx="2354580" cy="347472"/>
          </a:xfrm>
          <a:prstGeom prst="rect">
            <a:avLst/>
          </a:prstGeom>
          <a:noFill/>
          <a:ln/>
        </p:spPr>
        <p:txBody>
          <a:bodyPr wrap="square" lIns="0" tIns="0" rIns="0" bIns="0" rtlCol="0" anchor="ctr"/>
          <a:lstStyle/>
          <a:p>
            <a:pPr algn="ctr" indent="0" marL="0">
              <a:buNone/>
            </a:pPr>
            <a:r>
              <a:rPr lang="en-US" sz="1300" b="1" dirty="0">
                <a:solidFill>
                  <a:schemeClr val="tx1"/>
                </a:solidFill>
              </a:rPr>
              <a:t>Security = Complete</a:t>
            </a:r>
            <a:endParaRPr lang="en-US" sz="1300" dirty="0"/>
          </a:p>
        </p:txBody>
      </p:sp>
      <p:sp>
        <p:nvSpPr>
          <p:cNvPr id="17" name="Shape 15"/>
          <p:cNvSpPr/>
          <p:nvPr/>
        </p:nvSpPr>
        <p:spPr>
          <a:xfrm>
            <a:off x="548640" y="3694176"/>
            <a:ext cx="2354580" cy="347472"/>
          </a:xfrm>
          <a:prstGeom prst="roundRect">
            <a:avLst>
              <a:gd name="adj" fmla="val 50000"/>
            </a:avLst>
          </a:prstGeom>
          <a:solidFill>
            <a:schemeClr val="bg1"/>
          </a:solidFill>
          <a:ln w="9525">
            <a:solidFill>
              <a:schemeClr val="accent6"/>
            </a:solidFill>
            <a:prstDash val="solid"/>
          </a:ln>
        </p:spPr>
      </p:sp>
      <p:sp>
        <p:nvSpPr>
          <p:cNvPr id="18" name="Text 16"/>
          <p:cNvSpPr txBox="1"/>
          <p:nvPr/>
        </p:nvSpPr>
        <p:spPr>
          <a:xfrm>
            <a:off x="548640" y="3694176"/>
            <a:ext cx="2354580" cy="347472"/>
          </a:xfrm>
          <a:prstGeom prst="rect">
            <a:avLst/>
          </a:prstGeom>
          <a:noFill/>
          <a:ln/>
        </p:spPr>
        <p:txBody>
          <a:bodyPr wrap="square" lIns="0" tIns="0" rIns="0" bIns="0" rtlCol="0" anchor="ctr"/>
          <a:lstStyle/>
          <a:p>
            <a:pPr algn="ctr" indent="0" marL="0">
              <a:buNone/>
            </a:pPr>
            <a:r>
              <a:rPr lang="en-US" sz="1300" b="1" dirty="0">
                <a:solidFill>
                  <a:schemeClr val="tx1"/>
                </a:solidFill>
              </a:rPr>
              <a:t>Stage = Negotiation</a:t>
            </a:r>
            <a:endParaRPr lang="en-US" sz="1300" dirty="0"/>
          </a:p>
        </p:txBody>
      </p:sp>
      <p:sp>
        <p:nvSpPr>
          <p:cNvPr id="19" name="Shape 17"/>
          <p:cNvSpPr/>
          <p:nvPr/>
        </p:nvSpPr>
        <p:spPr>
          <a:xfrm>
            <a:off x="3086100" y="3694176"/>
            <a:ext cx="2354580" cy="347472"/>
          </a:xfrm>
          <a:prstGeom prst="roundRect">
            <a:avLst>
              <a:gd name="adj" fmla="val 50000"/>
            </a:avLst>
          </a:prstGeom>
          <a:solidFill>
            <a:schemeClr val="bg1"/>
          </a:solidFill>
          <a:ln w="9525">
            <a:solidFill>
              <a:schemeClr val="accent6"/>
            </a:solidFill>
            <a:prstDash val="solid"/>
          </a:ln>
        </p:spPr>
      </p:sp>
      <p:sp>
        <p:nvSpPr>
          <p:cNvPr id="20" name="Text 18"/>
          <p:cNvSpPr txBox="1"/>
          <p:nvPr/>
        </p:nvSpPr>
        <p:spPr>
          <a:xfrm>
            <a:off x="3086100" y="3694176"/>
            <a:ext cx="2354580" cy="347472"/>
          </a:xfrm>
          <a:prstGeom prst="rect">
            <a:avLst/>
          </a:prstGeom>
          <a:noFill/>
          <a:ln/>
        </p:spPr>
        <p:txBody>
          <a:bodyPr wrap="square" lIns="0" tIns="0" rIns="0" bIns="0" rtlCol="0" anchor="ctr"/>
          <a:lstStyle/>
          <a:p>
            <a:pPr algn="ctr" indent="0" marL="0">
              <a:buNone/>
            </a:pPr>
            <a:r>
              <a:rPr lang="en-US" sz="1300" b="1" dirty="0">
                <a:solidFill>
                  <a:schemeClr val="tx1"/>
                </a:solidFill>
              </a:rPr>
              <a:t>Close = 15 Oct</a:t>
            </a:r>
            <a:endParaRPr lang="en-US" sz="1300" dirty="0"/>
          </a:p>
        </p:txBody>
      </p:sp>
      <p:sp>
        <p:nvSpPr>
          <p:cNvPr id="21" name="Text 19"/>
          <p:cNvSpPr txBox="1"/>
          <p:nvPr/>
        </p:nvSpPr>
        <p:spPr>
          <a:xfrm>
            <a:off x="548640" y="4206240"/>
            <a:ext cx="4892040"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LOST ON THE WAY</a:t>
            </a:r>
            <a:endParaRPr lang="en-US" sz="1000" dirty="0"/>
          </a:p>
        </p:txBody>
      </p:sp>
      <p:sp>
        <p:nvSpPr>
          <p:cNvPr id="22" name="Shape 20"/>
          <p:cNvSpPr/>
          <p:nvPr/>
        </p:nvSpPr>
        <p:spPr>
          <a:xfrm>
            <a:off x="548640" y="4480560"/>
            <a:ext cx="1140714" cy="603504"/>
          </a:xfrm>
          <a:prstGeom prst="roundRect">
            <a:avLst>
              <a:gd name="adj" fmla="val 12121"/>
            </a:avLst>
          </a:prstGeom>
          <a:ln w="9525">
            <a:solidFill>
              <a:schemeClr val="accent5"/>
            </a:solidFill>
            <a:prstDash val="dash"/>
          </a:ln>
        </p:spPr>
      </p:sp>
      <p:sp>
        <p:nvSpPr>
          <p:cNvPr id="23" name="Text 21"/>
          <p:cNvSpPr txBox="1"/>
          <p:nvPr/>
        </p:nvSpPr>
        <p:spPr>
          <a:xfrm>
            <a:off x="548640" y="4480560"/>
            <a:ext cx="1140714" cy="603504"/>
          </a:xfrm>
          <a:prstGeom prst="rect">
            <a:avLst/>
          </a:prstGeom>
          <a:noFill/>
          <a:ln/>
        </p:spPr>
        <p:txBody>
          <a:bodyPr wrap="square" lIns="0" tIns="0" rIns="0" bIns="0" rtlCol="0" anchor="ctr"/>
          <a:lstStyle/>
          <a:p>
            <a:pPr algn="ctr" indent="0" marL="0">
              <a:buNone/>
            </a:pPr>
            <a:r>
              <a:rPr lang="en-US" sz="1200" b="1" dirty="0">
                <a:solidFill>
                  <a:schemeClr val="accent5"/>
                </a:solidFill>
              </a:rPr>
              <a:t>Evidence</a:t>
            </a:r>
            <a:endParaRPr lang="en-US" sz="1400" dirty="0"/>
          </a:p>
          <a:p>
            <a:pPr algn="ctr" indent="0" marL="0">
              <a:buNone/>
            </a:pPr>
            <a:r>
              <a:rPr lang="en-US" sz="1000" dirty="0">
                <a:solidFill>
                  <a:schemeClr val="accent5"/>
                </a:solidFill>
              </a:rPr>
              <a:t>what was said</a:t>
            </a:r>
            <a:endParaRPr lang="en-US" sz="1400" dirty="0"/>
          </a:p>
        </p:txBody>
      </p:sp>
      <p:sp>
        <p:nvSpPr>
          <p:cNvPr id="24" name="Shape 22"/>
          <p:cNvSpPr/>
          <p:nvPr/>
        </p:nvSpPr>
        <p:spPr>
          <a:xfrm>
            <a:off x="1799082" y="4480560"/>
            <a:ext cx="1140714" cy="603504"/>
          </a:xfrm>
          <a:prstGeom prst="roundRect">
            <a:avLst>
              <a:gd name="adj" fmla="val 12121"/>
            </a:avLst>
          </a:prstGeom>
          <a:ln w="9525">
            <a:solidFill>
              <a:schemeClr val="accent5"/>
            </a:solidFill>
            <a:prstDash val="dash"/>
          </a:ln>
        </p:spPr>
      </p:sp>
      <p:sp>
        <p:nvSpPr>
          <p:cNvPr id="25" name="Text 23"/>
          <p:cNvSpPr txBox="1"/>
          <p:nvPr/>
        </p:nvSpPr>
        <p:spPr>
          <a:xfrm>
            <a:off x="1799082" y="4480560"/>
            <a:ext cx="1140714" cy="603504"/>
          </a:xfrm>
          <a:prstGeom prst="rect">
            <a:avLst/>
          </a:prstGeom>
          <a:noFill/>
          <a:ln/>
        </p:spPr>
        <p:txBody>
          <a:bodyPr wrap="square" lIns="0" tIns="0" rIns="0" bIns="0" rtlCol="0" anchor="ctr"/>
          <a:lstStyle/>
          <a:p>
            <a:pPr algn="ctr" indent="0" marL="0">
              <a:buNone/>
            </a:pPr>
            <a:r>
              <a:rPr lang="en-US" sz="1200" b="1" dirty="0">
                <a:solidFill>
                  <a:schemeClr val="accent5"/>
                </a:solidFill>
              </a:rPr>
              <a:t>Source</a:t>
            </a:r>
            <a:endParaRPr lang="en-US" sz="1400" dirty="0"/>
          </a:p>
          <a:p>
            <a:pPr algn="ctr" indent="0" marL="0">
              <a:buNone/>
            </a:pPr>
            <a:r>
              <a:rPr lang="en-US" sz="1000" dirty="0">
                <a:solidFill>
                  <a:schemeClr val="accent5"/>
                </a:solidFill>
              </a:rPr>
              <a:t>who said it</a:t>
            </a:r>
            <a:endParaRPr lang="en-US" sz="1400" dirty="0"/>
          </a:p>
        </p:txBody>
      </p:sp>
      <p:sp>
        <p:nvSpPr>
          <p:cNvPr id="26" name="Shape 24"/>
          <p:cNvSpPr/>
          <p:nvPr/>
        </p:nvSpPr>
        <p:spPr>
          <a:xfrm>
            <a:off x="3049524" y="4480560"/>
            <a:ext cx="1140714" cy="603504"/>
          </a:xfrm>
          <a:prstGeom prst="roundRect">
            <a:avLst>
              <a:gd name="adj" fmla="val 12121"/>
            </a:avLst>
          </a:prstGeom>
          <a:ln w="9525">
            <a:solidFill>
              <a:schemeClr val="accent5"/>
            </a:solidFill>
            <a:prstDash val="dash"/>
          </a:ln>
        </p:spPr>
      </p:sp>
      <p:sp>
        <p:nvSpPr>
          <p:cNvPr id="27" name="Text 25"/>
          <p:cNvSpPr txBox="1"/>
          <p:nvPr/>
        </p:nvSpPr>
        <p:spPr>
          <a:xfrm>
            <a:off x="3049524" y="4480560"/>
            <a:ext cx="1140714" cy="603504"/>
          </a:xfrm>
          <a:prstGeom prst="rect">
            <a:avLst/>
          </a:prstGeom>
          <a:noFill/>
          <a:ln/>
        </p:spPr>
        <p:txBody>
          <a:bodyPr wrap="square" lIns="0" tIns="0" rIns="0" bIns="0" rtlCol="0" anchor="ctr"/>
          <a:lstStyle/>
          <a:p>
            <a:pPr algn="ctr" indent="0" marL="0">
              <a:buNone/>
            </a:pPr>
            <a:r>
              <a:rPr lang="en-US" sz="1200" b="1" dirty="0">
                <a:solidFill>
                  <a:schemeClr val="accent5"/>
                </a:solidFill>
              </a:rPr>
              <a:t>History</a:t>
            </a:r>
            <a:endParaRPr lang="en-US" sz="1400" dirty="0"/>
          </a:p>
          <a:p>
            <a:pPr algn="ctr" indent="0" marL="0">
              <a:buNone/>
            </a:pPr>
            <a:r>
              <a:rPr lang="en-US" sz="1000" dirty="0">
                <a:solidFill>
                  <a:schemeClr val="accent5"/>
                </a:solidFill>
              </a:rPr>
              <a:t>what changed</a:t>
            </a:r>
            <a:endParaRPr lang="en-US" sz="1400" dirty="0"/>
          </a:p>
        </p:txBody>
      </p:sp>
      <p:sp>
        <p:nvSpPr>
          <p:cNvPr id="28" name="Shape 26"/>
          <p:cNvSpPr/>
          <p:nvPr/>
        </p:nvSpPr>
        <p:spPr>
          <a:xfrm>
            <a:off x="4299966" y="4480560"/>
            <a:ext cx="1140714" cy="603504"/>
          </a:xfrm>
          <a:prstGeom prst="roundRect">
            <a:avLst>
              <a:gd name="adj" fmla="val 12121"/>
            </a:avLst>
          </a:prstGeom>
          <a:ln w="9525">
            <a:solidFill>
              <a:schemeClr val="accent5"/>
            </a:solidFill>
            <a:prstDash val="dash"/>
          </a:ln>
        </p:spPr>
      </p:sp>
      <p:sp>
        <p:nvSpPr>
          <p:cNvPr id="29" name="Text 27"/>
          <p:cNvSpPr txBox="1"/>
          <p:nvPr/>
        </p:nvSpPr>
        <p:spPr>
          <a:xfrm>
            <a:off x="4299966" y="4480560"/>
            <a:ext cx="1140714" cy="603504"/>
          </a:xfrm>
          <a:prstGeom prst="rect">
            <a:avLst/>
          </a:prstGeom>
          <a:noFill/>
          <a:ln/>
        </p:spPr>
        <p:txBody>
          <a:bodyPr wrap="square" lIns="0" tIns="0" rIns="0" bIns="0" rtlCol="0" anchor="ctr"/>
          <a:lstStyle/>
          <a:p>
            <a:pPr algn="ctr" indent="0" marL="0">
              <a:buNone/>
            </a:pPr>
            <a:r>
              <a:rPr lang="en-US" sz="1200" b="1" dirty="0">
                <a:solidFill>
                  <a:schemeClr val="accent5"/>
                </a:solidFill>
              </a:rPr>
              <a:t>Uncertainty</a:t>
            </a:r>
            <a:endParaRPr lang="en-US" sz="1400" dirty="0"/>
          </a:p>
          <a:p>
            <a:pPr algn="ctr" indent="0" marL="0">
              <a:buNone/>
            </a:pPr>
            <a:r>
              <a:rPr lang="en-US" sz="1000" dirty="0">
                <a:solidFill>
                  <a:schemeClr val="accent5"/>
                </a:solidFill>
              </a:rPr>
              <a:t>how sure</a:t>
            </a:r>
            <a:endParaRPr lang="en-US" sz="1400" dirty="0"/>
          </a:p>
        </p:txBody>
      </p:sp>
      <p:sp>
        <p:nvSpPr>
          <p:cNvPr id="30" name="Text 28"/>
          <p:cNvSpPr txBox="1"/>
          <p:nvPr/>
        </p:nvSpPr>
        <p:spPr>
          <a:xfrm>
            <a:off x="5989320" y="1828800"/>
            <a:ext cx="4937760"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EVERY FORECAST REVIEW</a:t>
            </a:r>
            <a:endParaRPr lang="en-US" sz="1000" dirty="0"/>
          </a:p>
        </p:txBody>
      </p:sp>
      <p:sp>
        <p:nvSpPr>
          <p:cNvPr id="31" name="Shape 29"/>
          <p:cNvSpPr/>
          <p:nvPr/>
        </p:nvSpPr>
        <p:spPr>
          <a:xfrm>
            <a:off x="5989320" y="2103120"/>
            <a:ext cx="4937760" cy="457200"/>
          </a:xfrm>
          <a:prstGeom prst="roundRect">
            <a:avLst>
              <a:gd name="adj" fmla="val 16000"/>
            </a:avLst>
          </a:prstGeom>
          <a:solidFill>
            <a:schemeClr val="bg1"/>
          </a:solidFill>
          <a:ln w="9525">
            <a:solidFill>
              <a:schemeClr val="accent6"/>
            </a:solidFill>
            <a:prstDash val="solid"/>
          </a:ln>
        </p:spPr>
      </p:sp>
      <p:sp>
        <p:nvSpPr>
          <p:cNvPr id="32" name="Shape 30"/>
          <p:cNvSpPr/>
          <p:nvPr/>
        </p:nvSpPr>
        <p:spPr>
          <a:xfrm>
            <a:off x="6117336" y="2194560"/>
            <a:ext cx="274320" cy="274320"/>
          </a:xfrm>
          <a:prstGeom prst="ellipse">
            <a:avLst/>
          </a:prstGeom>
          <a:solidFill>
            <a:schemeClr val="tx1"/>
          </a:solidFill>
          <a:ln/>
        </p:spPr>
      </p:sp>
      <p:sp>
        <p:nvSpPr>
          <p:cNvPr id="33" name="Text 31"/>
          <p:cNvSpPr txBox="1"/>
          <p:nvPr/>
        </p:nvSpPr>
        <p:spPr>
          <a:xfrm>
            <a:off x="6117336" y="219456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34" name="Text 32"/>
          <p:cNvSpPr txBox="1"/>
          <p:nvPr/>
        </p:nvSpPr>
        <p:spPr>
          <a:xfrm>
            <a:off x="6537960" y="2103120"/>
            <a:ext cx="4251960" cy="457200"/>
          </a:xfrm>
          <a:prstGeom prst="rect">
            <a:avLst/>
          </a:prstGeom>
          <a:noFill/>
          <a:ln/>
        </p:spPr>
        <p:txBody>
          <a:bodyPr wrap="square" lIns="0" tIns="0" rIns="0" bIns="0" rtlCol="0" anchor="ctr"/>
          <a:lstStyle/>
          <a:p>
            <a:pPr indent="0" marL="0">
              <a:buNone/>
            </a:pPr>
            <a:r>
              <a:rPr lang="en-US" sz="1350" b="1" dirty="0">
                <a:solidFill>
                  <a:schemeClr val="tx1"/>
                </a:solidFill>
              </a:rPr>
              <a:t>Manager reads the claim</a:t>
            </a:r>
            <a:pPr indent="0" marL="0">
              <a:buNone/>
            </a:pPr>
            <a:r>
              <a:rPr lang="en-US" sz="1350" dirty="0">
                <a:solidFill>
                  <a:schemeClr val="accent5"/>
                </a:solidFill>
              </a:rPr>
              <a:t>   “Budget confirmed ✓”</a:t>
            </a:r>
            <a:endParaRPr lang="en-US" sz="1350" dirty="0"/>
          </a:p>
        </p:txBody>
      </p:sp>
      <p:sp>
        <p:nvSpPr>
          <p:cNvPr id="35" name="Shape 33"/>
          <p:cNvSpPr/>
          <p:nvPr/>
        </p:nvSpPr>
        <p:spPr>
          <a:xfrm>
            <a:off x="5989320" y="2697480"/>
            <a:ext cx="4937760" cy="457200"/>
          </a:xfrm>
          <a:prstGeom prst="roundRect">
            <a:avLst>
              <a:gd name="adj" fmla="val 16000"/>
            </a:avLst>
          </a:prstGeom>
          <a:solidFill>
            <a:schemeClr val="bg1"/>
          </a:solidFill>
          <a:ln w="9525">
            <a:solidFill>
              <a:schemeClr val="accent6"/>
            </a:solidFill>
            <a:prstDash val="solid"/>
          </a:ln>
        </p:spPr>
      </p:sp>
      <p:sp>
        <p:nvSpPr>
          <p:cNvPr id="36" name="Shape 34"/>
          <p:cNvSpPr/>
          <p:nvPr/>
        </p:nvSpPr>
        <p:spPr>
          <a:xfrm>
            <a:off x="6117336" y="2788920"/>
            <a:ext cx="274320" cy="274320"/>
          </a:xfrm>
          <a:prstGeom prst="ellipse">
            <a:avLst/>
          </a:prstGeom>
          <a:solidFill>
            <a:schemeClr val="tx1"/>
          </a:solidFill>
          <a:ln/>
        </p:spPr>
      </p:sp>
      <p:sp>
        <p:nvSpPr>
          <p:cNvPr id="37" name="Text 35"/>
          <p:cNvSpPr txBox="1"/>
          <p:nvPr/>
        </p:nvSpPr>
        <p:spPr>
          <a:xfrm>
            <a:off x="6117336" y="278892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38" name="Text 36"/>
          <p:cNvSpPr txBox="1"/>
          <p:nvPr/>
        </p:nvSpPr>
        <p:spPr>
          <a:xfrm>
            <a:off x="6537960" y="2697480"/>
            <a:ext cx="4251960" cy="457200"/>
          </a:xfrm>
          <a:prstGeom prst="rect">
            <a:avLst/>
          </a:prstGeom>
          <a:noFill/>
          <a:ln/>
        </p:spPr>
        <p:txBody>
          <a:bodyPr wrap="square" lIns="0" tIns="0" rIns="0" bIns="0" rtlCol="0" anchor="ctr"/>
          <a:lstStyle/>
          <a:p>
            <a:pPr indent="0" marL="0">
              <a:buNone/>
            </a:pPr>
            <a:r>
              <a:rPr lang="en-US" sz="1350" b="1" dirty="0">
                <a:solidFill>
                  <a:schemeClr val="tx1"/>
                </a:solidFill>
              </a:rPr>
              <a:t>Asks the rep where it came from</a:t>
            </a:r>
            <a:endParaRPr lang="en-US" sz="1350" dirty="0"/>
          </a:p>
        </p:txBody>
      </p:sp>
      <p:sp>
        <p:nvSpPr>
          <p:cNvPr id="39" name="Shape 37"/>
          <p:cNvSpPr/>
          <p:nvPr/>
        </p:nvSpPr>
        <p:spPr>
          <a:xfrm>
            <a:off x="5989320" y="3291840"/>
            <a:ext cx="4937760" cy="457200"/>
          </a:xfrm>
          <a:prstGeom prst="roundRect">
            <a:avLst>
              <a:gd name="adj" fmla="val 16000"/>
            </a:avLst>
          </a:prstGeom>
          <a:solidFill>
            <a:schemeClr val="bg1"/>
          </a:solidFill>
          <a:ln w="9525">
            <a:solidFill>
              <a:schemeClr val="accent6"/>
            </a:solidFill>
            <a:prstDash val="solid"/>
          </a:ln>
        </p:spPr>
      </p:sp>
      <p:sp>
        <p:nvSpPr>
          <p:cNvPr id="40" name="Shape 38"/>
          <p:cNvSpPr/>
          <p:nvPr/>
        </p:nvSpPr>
        <p:spPr>
          <a:xfrm>
            <a:off x="6117336" y="3383280"/>
            <a:ext cx="274320" cy="274320"/>
          </a:xfrm>
          <a:prstGeom prst="ellipse">
            <a:avLst/>
          </a:prstGeom>
          <a:solidFill>
            <a:schemeClr val="tx1"/>
          </a:solidFill>
          <a:ln/>
        </p:spPr>
      </p:sp>
      <p:sp>
        <p:nvSpPr>
          <p:cNvPr id="41" name="Text 39"/>
          <p:cNvSpPr txBox="1"/>
          <p:nvPr/>
        </p:nvSpPr>
        <p:spPr>
          <a:xfrm>
            <a:off x="6117336" y="338328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42" name="Text 40"/>
          <p:cNvSpPr txBox="1"/>
          <p:nvPr/>
        </p:nvSpPr>
        <p:spPr>
          <a:xfrm>
            <a:off x="6537960" y="3291840"/>
            <a:ext cx="4251960" cy="457200"/>
          </a:xfrm>
          <a:prstGeom prst="rect">
            <a:avLst/>
          </a:prstGeom>
          <a:noFill/>
          <a:ln/>
        </p:spPr>
        <p:txBody>
          <a:bodyPr wrap="square" lIns="0" tIns="0" rIns="0" bIns="0" rtlCol="0" anchor="ctr"/>
          <a:lstStyle/>
          <a:p>
            <a:pPr indent="0" marL="0">
              <a:buNone/>
            </a:pPr>
            <a:r>
              <a:rPr lang="en-US" sz="1350" b="1" dirty="0">
                <a:solidFill>
                  <a:schemeClr val="tx1"/>
                </a:solidFill>
              </a:rPr>
              <a:t>Rep searches memory, inbox and notes</a:t>
            </a:r>
            <a:endParaRPr lang="en-US" sz="1350" dirty="0"/>
          </a:p>
        </p:txBody>
      </p:sp>
      <p:sp>
        <p:nvSpPr>
          <p:cNvPr id="43" name="Shape 41"/>
          <p:cNvSpPr/>
          <p:nvPr/>
        </p:nvSpPr>
        <p:spPr>
          <a:xfrm>
            <a:off x="5989320" y="3886200"/>
            <a:ext cx="4937760" cy="457200"/>
          </a:xfrm>
          <a:prstGeom prst="roundRect">
            <a:avLst>
              <a:gd name="adj" fmla="val 16000"/>
            </a:avLst>
          </a:prstGeom>
          <a:solidFill>
            <a:schemeClr val="bg1"/>
          </a:solidFill>
          <a:ln w="9525">
            <a:solidFill>
              <a:schemeClr val="accent6"/>
            </a:solidFill>
            <a:prstDash val="solid"/>
          </a:ln>
        </p:spPr>
      </p:sp>
      <p:sp>
        <p:nvSpPr>
          <p:cNvPr id="44" name="Shape 42"/>
          <p:cNvSpPr/>
          <p:nvPr/>
        </p:nvSpPr>
        <p:spPr>
          <a:xfrm>
            <a:off x="6117336" y="3977640"/>
            <a:ext cx="274320" cy="274320"/>
          </a:xfrm>
          <a:prstGeom prst="ellipse">
            <a:avLst/>
          </a:prstGeom>
          <a:solidFill>
            <a:schemeClr val="tx1"/>
          </a:solidFill>
          <a:ln/>
        </p:spPr>
      </p:sp>
      <p:sp>
        <p:nvSpPr>
          <p:cNvPr id="45" name="Text 43"/>
          <p:cNvSpPr txBox="1"/>
          <p:nvPr/>
        </p:nvSpPr>
        <p:spPr>
          <a:xfrm>
            <a:off x="6117336" y="397764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46" name="Text 44"/>
          <p:cNvSpPr txBox="1"/>
          <p:nvPr/>
        </p:nvSpPr>
        <p:spPr>
          <a:xfrm>
            <a:off x="6537960" y="3886200"/>
            <a:ext cx="4251960" cy="457200"/>
          </a:xfrm>
          <a:prstGeom prst="rect">
            <a:avLst/>
          </a:prstGeom>
          <a:noFill/>
          <a:ln/>
        </p:spPr>
        <p:txBody>
          <a:bodyPr wrap="square" lIns="0" tIns="0" rIns="0" bIns="0" rtlCol="0" anchor="ctr"/>
          <a:lstStyle/>
          <a:p>
            <a:pPr indent="0" marL="0">
              <a:buNone/>
            </a:pPr>
            <a:r>
              <a:rPr lang="en-US" sz="1350" b="1" dirty="0">
                <a:solidFill>
                  <a:schemeClr val="tx1"/>
                </a:solidFill>
              </a:rPr>
              <a:t>Manager makes a judgement</a:t>
            </a:r>
            <a:pPr indent="0" marL="0">
              <a:buNone/>
            </a:pPr>
            <a:r>
              <a:rPr lang="en-US" sz="1350" dirty="0">
                <a:solidFill>
                  <a:schemeClr val="accent5"/>
                </a:solidFill>
              </a:rPr>
              <a:t>   on the rep's word</a:t>
            </a:r>
            <a:endParaRPr lang="en-US" sz="1350" dirty="0"/>
          </a:p>
        </p:txBody>
      </p:sp>
      <p:sp>
        <p:nvSpPr>
          <p:cNvPr id="47" name="Shape 45"/>
          <p:cNvSpPr/>
          <p:nvPr/>
        </p:nvSpPr>
        <p:spPr>
          <a:xfrm>
            <a:off x="10927080" y="4114800"/>
            <a:ext cx="365760" cy="0"/>
          </a:xfrm>
          <a:prstGeom prst="line">
            <a:avLst/>
          </a:prstGeom>
          <a:noFill/>
          <a:ln w="19050">
            <a:solidFill>
              <a:schemeClr val="accent1"/>
            </a:solidFill>
            <a:prstDash val="solid"/>
          </a:ln>
        </p:spPr>
      </p:sp>
      <p:sp>
        <p:nvSpPr>
          <p:cNvPr id="48" name="Shape 46"/>
          <p:cNvSpPr/>
          <p:nvPr/>
        </p:nvSpPr>
        <p:spPr>
          <a:xfrm flipV="1">
            <a:off x="11292840" y="2331720"/>
            <a:ext cx="0" cy="1783080"/>
          </a:xfrm>
          <a:prstGeom prst="line">
            <a:avLst/>
          </a:prstGeom>
          <a:noFill/>
          <a:ln w="19050">
            <a:solidFill>
              <a:schemeClr val="accent1"/>
            </a:solidFill>
            <a:prstDash val="solid"/>
          </a:ln>
        </p:spPr>
      </p:sp>
      <p:sp>
        <p:nvSpPr>
          <p:cNvPr id="49" name="Shape 47"/>
          <p:cNvSpPr/>
          <p:nvPr/>
        </p:nvSpPr>
        <p:spPr>
          <a:xfrm flipH="1">
            <a:off x="10963656" y="2331720"/>
            <a:ext cx="329184" cy="0"/>
          </a:xfrm>
          <a:prstGeom prst="line">
            <a:avLst/>
          </a:prstGeom>
          <a:noFill/>
          <a:ln w="19050">
            <a:solidFill>
              <a:schemeClr val="accent1"/>
            </a:solidFill>
            <a:prstDash val="solid"/>
            <a:tailEnd type="triangle"/>
          </a:ln>
        </p:spPr>
      </p:sp>
      <p:sp>
        <p:nvSpPr>
          <p:cNvPr id="50" name="Shape 48"/>
          <p:cNvSpPr/>
          <p:nvPr/>
        </p:nvSpPr>
        <p:spPr>
          <a:xfrm>
            <a:off x="6117336" y="4590288"/>
            <a:ext cx="274320" cy="274320"/>
          </a:xfrm>
          <a:prstGeom prst="ellipse">
            <a:avLst/>
          </a:prstGeom>
          <a:solidFill>
            <a:schemeClr val="accent1"/>
          </a:solidFill>
          <a:ln/>
        </p:spPr>
      </p:sp>
      <p:sp>
        <p:nvSpPr>
          <p:cNvPr id="51" name="Text 49"/>
          <p:cNvSpPr txBox="1"/>
          <p:nvPr/>
        </p:nvSpPr>
        <p:spPr>
          <a:xfrm>
            <a:off x="6117336" y="459028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52" name="Text 50"/>
          <p:cNvSpPr txBox="1"/>
          <p:nvPr/>
        </p:nvSpPr>
        <p:spPr>
          <a:xfrm>
            <a:off x="6537960" y="4498848"/>
            <a:ext cx="4389120" cy="457200"/>
          </a:xfrm>
          <a:prstGeom prst="rect">
            <a:avLst/>
          </a:prstGeom>
          <a:noFill/>
          <a:ln/>
        </p:spPr>
        <p:txBody>
          <a:bodyPr wrap="square" lIns="0" tIns="0" rIns="0" bIns="0" rtlCol="0" anchor="ctr"/>
          <a:lstStyle/>
          <a:p>
            <a:pPr indent="0" marL="0">
              <a:buNone/>
            </a:pPr>
            <a:r>
              <a:rPr lang="en-US" sz="1350" b="1" dirty="0">
                <a:solidFill>
                  <a:schemeClr val="accent1"/>
                </a:solidFill>
              </a:rPr>
              <a:t>Nothing is retained, so next week the same questions start again.</a:t>
            </a:r>
            <a:endParaRPr lang="en-US" sz="1350" dirty="0"/>
          </a:p>
        </p:txBody>
      </p:sp>
      <p:sp>
        <p:nvSpPr>
          <p:cNvPr id="53" name="Shape 51"/>
          <p:cNvSpPr/>
          <p:nvPr/>
        </p:nvSpPr>
        <p:spPr>
          <a:xfrm>
            <a:off x="548640" y="5468112"/>
            <a:ext cx="11094415" cy="0"/>
          </a:xfrm>
          <a:prstGeom prst="line">
            <a:avLst/>
          </a:prstGeom>
          <a:noFill/>
          <a:ln w="9525">
            <a:solidFill>
              <a:schemeClr val="accent6"/>
            </a:solidFill>
            <a:prstDash val="solid"/>
          </a:ln>
        </p:spPr>
      </p:sp>
      <p:sp>
        <p:nvSpPr>
          <p:cNvPr id="54" name="Text 52"/>
          <p:cNvSpPr txBox="1"/>
          <p:nvPr/>
        </p:nvSpPr>
        <p:spPr>
          <a:xfrm>
            <a:off x="548640" y="5559552"/>
            <a:ext cx="2682164"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PRIMARY USER</a:t>
            </a:r>
            <a:endParaRPr lang="en-US" sz="1000" dirty="0"/>
          </a:p>
        </p:txBody>
      </p:sp>
      <p:sp>
        <p:nvSpPr>
          <p:cNvPr id="55" name="Text 53"/>
          <p:cNvSpPr txBox="1"/>
          <p:nvPr/>
        </p:nvSpPr>
        <p:spPr>
          <a:xfrm>
            <a:off x="548640" y="5779008"/>
            <a:ext cx="2682164" cy="274320"/>
          </a:xfrm>
          <a:prstGeom prst="rect">
            <a:avLst/>
          </a:prstGeom>
          <a:noFill/>
          <a:ln/>
        </p:spPr>
        <p:txBody>
          <a:bodyPr wrap="square" lIns="0" tIns="0" rIns="0" bIns="0" rtlCol="0" anchor="t"/>
          <a:lstStyle/>
          <a:p>
            <a:pPr indent="0" marL="0">
              <a:buNone/>
            </a:pPr>
            <a:r>
              <a:rPr lang="en-US" sz="1300" b="1" dirty="0">
                <a:solidFill>
                  <a:schemeClr val="tx1"/>
                </a:solidFill>
              </a:rPr>
              <a:t>Front-line sales manager</a:t>
            </a:r>
            <a:endParaRPr lang="en-US" sz="1300" dirty="0"/>
          </a:p>
        </p:txBody>
      </p:sp>
      <p:sp>
        <p:nvSpPr>
          <p:cNvPr id="56" name="Text 54"/>
          <p:cNvSpPr txBox="1"/>
          <p:nvPr/>
        </p:nvSpPr>
        <p:spPr>
          <a:xfrm>
            <a:off x="3322244" y="5559552"/>
            <a:ext cx="2682164"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SECONDARY</a:t>
            </a:r>
            <a:endParaRPr lang="en-US" sz="1000" dirty="0"/>
          </a:p>
        </p:txBody>
      </p:sp>
      <p:sp>
        <p:nvSpPr>
          <p:cNvPr id="57" name="Text 55"/>
          <p:cNvSpPr txBox="1"/>
          <p:nvPr/>
        </p:nvSpPr>
        <p:spPr>
          <a:xfrm>
            <a:off x="3322244" y="5779008"/>
            <a:ext cx="2682164" cy="274320"/>
          </a:xfrm>
          <a:prstGeom prst="rect">
            <a:avLst/>
          </a:prstGeom>
          <a:noFill/>
          <a:ln/>
        </p:spPr>
        <p:txBody>
          <a:bodyPr wrap="square" lIns="0" tIns="0" rIns="0" bIns="0" rtlCol="0" anchor="t"/>
          <a:lstStyle/>
          <a:p>
            <a:pPr indent="0" marL="0">
              <a:buNone/>
            </a:pPr>
            <a:r>
              <a:rPr lang="en-US" sz="1300" dirty="0">
                <a:solidFill>
                  <a:schemeClr val="tx2"/>
                </a:solidFill>
              </a:rPr>
              <a:t>Account executive (rep)</a:t>
            </a:r>
            <a:endParaRPr lang="en-US" sz="1300" dirty="0"/>
          </a:p>
        </p:txBody>
      </p:sp>
      <p:sp>
        <p:nvSpPr>
          <p:cNvPr id="58" name="Text 56"/>
          <p:cNvSpPr txBox="1"/>
          <p:nvPr/>
        </p:nvSpPr>
        <p:spPr>
          <a:xfrm>
            <a:off x="6095848" y="5559552"/>
            <a:ext cx="2682164"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BUYER</a:t>
            </a:r>
            <a:endParaRPr lang="en-US" sz="1000" dirty="0"/>
          </a:p>
        </p:txBody>
      </p:sp>
      <p:sp>
        <p:nvSpPr>
          <p:cNvPr id="59" name="Text 57"/>
          <p:cNvSpPr txBox="1"/>
          <p:nvPr/>
        </p:nvSpPr>
        <p:spPr>
          <a:xfrm>
            <a:off x="6095848" y="5779008"/>
            <a:ext cx="2682164" cy="274320"/>
          </a:xfrm>
          <a:prstGeom prst="rect">
            <a:avLst/>
          </a:prstGeom>
          <a:noFill/>
          <a:ln/>
        </p:spPr>
        <p:txBody>
          <a:bodyPr wrap="square" lIns="0" tIns="0" rIns="0" bIns="0" rtlCol="0" anchor="t"/>
          <a:lstStyle/>
          <a:p>
            <a:pPr indent="0" marL="0">
              <a:buNone/>
            </a:pPr>
            <a:r>
              <a:rPr lang="en-US" sz="1300" dirty="0">
                <a:solidFill>
                  <a:schemeClr val="tx2"/>
                </a:solidFill>
              </a:rPr>
              <a:t>CRO / VP Sales</a:t>
            </a:r>
            <a:endParaRPr lang="en-US" sz="1300" dirty="0"/>
          </a:p>
        </p:txBody>
      </p:sp>
      <p:sp>
        <p:nvSpPr>
          <p:cNvPr id="60" name="Text 58"/>
          <p:cNvSpPr txBox="1"/>
          <p:nvPr/>
        </p:nvSpPr>
        <p:spPr>
          <a:xfrm>
            <a:off x="8869451" y="5559552"/>
            <a:ext cx="2682164"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CHAMPION</a:t>
            </a:r>
            <a:endParaRPr lang="en-US" sz="1000" dirty="0"/>
          </a:p>
        </p:txBody>
      </p:sp>
      <p:sp>
        <p:nvSpPr>
          <p:cNvPr id="61" name="Text 59"/>
          <p:cNvSpPr txBox="1"/>
          <p:nvPr/>
        </p:nvSpPr>
        <p:spPr>
          <a:xfrm>
            <a:off x="8869451" y="5779008"/>
            <a:ext cx="2682164" cy="274320"/>
          </a:xfrm>
          <a:prstGeom prst="rect">
            <a:avLst/>
          </a:prstGeom>
          <a:noFill/>
          <a:ln/>
        </p:spPr>
        <p:txBody>
          <a:bodyPr wrap="square" lIns="0" tIns="0" rIns="0" bIns="0" rtlCol="0" anchor="t"/>
          <a:lstStyle/>
          <a:p>
            <a:pPr indent="0" marL="0">
              <a:buNone/>
            </a:pPr>
            <a:r>
              <a:rPr lang="en-US" sz="1300" dirty="0">
                <a:solidFill>
                  <a:schemeClr val="tx2"/>
                </a:solidFill>
              </a:rPr>
              <a:t>RevOps</a:t>
            </a:r>
            <a:endParaRPr lang="en-US" sz="13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PROBLEM  ·  ON ONE DEAL</a:t>
            </a:r>
            <a:endParaRPr lang="en-US" sz="1100" dirty="0"/>
          </a:p>
        </p:txBody>
      </p:sp>
      <p:sp>
        <p:nvSpPr>
          <p:cNvPr id="3" name="Text 0"/>
          <p:cNvSpPr/>
          <p:nvPr>
            <p:ph idx="101" type="title" hasCustomPrompt="1"/>
          </p:nvPr>
        </p:nvSpPr>
        <p:spPr>
          <a:xfrm>
            <a:off x="548640" y="603504"/>
            <a:ext cx="11094415" cy="987552"/>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rPr>
              <a:t>CRM says Commit. Only one of four deal-critical claims is supported by customer evidence.</a:t>
            </a:r>
            <a:endParaRPr lang="en-US" sz="2800" dirty="0"/>
          </a:p>
        </p:txBody>
      </p:sp>
      <p:sp>
        <p:nvSpPr>
          <p:cNvPr id="4" name="Text 0"/>
          <p:cNvSpPr/>
          <p:nvPr>
            <p:ph idx="102" type="body" hasCustomPrompt="1"/>
          </p:nvPr>
        </p:nvSpPr>
        <p:spPr>
          <a:xfrm>
            <a:off x="548640" y="6327648"/>
            <a:ext cx="10287000" cy="384048"/>
          </a:xfrm>
          <a:prstGeom prst="rect">
            <a:avLst/>
          </a:prstGeom>
          <a:noFill/>
          <a:ln/>
        </p:spPr>
        <p:txBody>
          <a:bodyPr wrap="square" lIns="0" tIns="0" rIns="0" bIns="0" rtlCol="0" anchor="t"/>
          <a:lstStyle/>
          <a:p>
            <a:pPr algn="l" indent="0" marL="0">
              <a:buNone/>
            </a:pPr>
            <a:r>
              <a:rPr lang="en-US" sz="1000" dirty="0">
                <a:solidFill>
                  <a:schemeClr val="accent5"/>
                </a:solidFill>
              </a:rPr>
              <a:t>ILLUSTRATIVE  ·  Castellan Freight, the deal and all quotes are invented for the prototype</a:t>
            </a:r>
            <a:endParaRPr lang="en-US" sz="1000" dirty="0"/>
          </a:p>
        </p:txBody>
      </p:sp>
      <p:sp>
        <p:nvSpPr>
          <p:cNvPr id="5" name="Text 3"/>
          <p:cNvSpPr txBox="1"/>
          <p:nvPr/>
        </p:nvSpPr>
        <p:spPr>
          <a:xfrm>
            <a:off x="548640" y="1828800"/>
            <a:ext cx="3703320"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WHAT THE CRM SAYS</a:t>
            </a:r>
            <a:endParaRPr lang="en-US" sz="1000" dirty="0"/>
          </a:p>
        </p:txBody>
      </p:sp>
      <p:sp>
        <p:nvSpPr>
          <p:cNvPr id="6" name="Shape 4"/>
          <p:cNvSpPr/>
          <p:nvPr/>
        </p:nvSpPr>
        <p:spPr>
          <a:xfrm>
            <a:off x="548640" y="2212848"/>
            <a:ext cx="3703320" cy="3145536"/>
          </a:xfrm>
          <a:prstGeom prst="roundRect">
            <a:avLst>
              <a:gd name="adj" fmla="val 2907"/>
            </a:avLst>
          </a:prstGeom>
          <a:solidFill>
            <a:schemeClr val="bg1"/>
          </a:solidFill>
          <a:ln w="9525">
            <a:solidFill>
              <a:schemeClr val="accent6"/>
            </a:solidFill>
            <a:prstDash val="solid"/>
          </a:ln>
        </p:spPr>
      </p:sp>
      <p:sp>
        <p:nvSpPr>
          <p:cNvPr id="7" name="Text 5"/>
          <p:cNvSpPr txBox="1"/>
          <p:nvPr/>
        </p:nvSpPr>
        <p:spPr>
          <a:xfrm>
            <a:off x="804672" y="2414016"/>
            <a:ext cx="2377440" cy="365760"/>
          </a:xfrm>
          <a:prstGeom prst="rect">
            <a:avLst/>
          </a:prstGeom>
          <a:noFill/>
          <a:ln/>
        </p:spPr>
        <p:txBody>
          <a:bodyPr wrap="square" lIns="0" tIns="0" rIns="0" bIns="0" rtlCol="0" anchor="ctr"/>
          <a:lstStyle/>
          <a:p>
            <a:pPr indent="0" marL="0">
              <a:buNone/>
            </a:pPr>
            <a:r>
              <a:rPr lang="en-US" sz="1800" b="1" dirty="0">
                <a:solidFill>
                  <a:schemeClr val="tx1"/>
                </a:solidFill>
              </a:rPr>
              <a:t>Castellan Freight</a:t>
            </a:r>
            <a:endParaRPr lang="en-US" sz="1800" dirty="0"/>
          </a:p>
        </p:txBody>
      </p:sp>
      <p:sp>
        <p:nvSpPr>
          <p:cNvPr id="8" name="Text 6"/>
          <p:cNvSpPr txBox="1"/>
          <p:nvPr/>
        </p:nvSpPr>
        <p:spPr>
          <a:xfrm>
            <a:off x="3063240" y="2414016"/>
            <a:ext cx="932688" cy="365760"/>
          </a:xfrm>
          <a:prstGeom prst="rect">
            <a:avLst/>
          </a:prstGeom>
          <a:noFill/>
          <a:ln/>
        </p:spPr>
        <p:txBody>
          <a:bodyPr wrap="square" lIns="0" tIns="0" rIns="0" bIns="0" rtlCol="0" anchor="ctr"/>
          <a:lstStyle/>
          <a:p>
            <a:pPr algn="r" indent="0" marL="0">
              <a:buNone/>
            </a:pPr>
            <a:r>
              <a:rPr lang="en-US" sz="1800" b="1" dirty="0">
                <a:solidFill>
                  <a:schemeClr val="tx1"/>
                </a:solidFill>
              </a:rPr>
              <a:t>$186k</a:t>
            </a:r>
            <a:endParaRPr lang="en-US" sz="1800" dirty="0"/>
          </a:p>
        </p:txBody>
      </p:sp>
      <p:sp>
        <p:nvSpPr>
          <p:cNvPr id="9" name="Shape 7"/>
          <p:cNvSpPr/>
          <p:nvPr/>
        </p:nvSpPr>
        <p:spPr>
          <a:xfrm>
            <a:off x="804672" y="2926080"/>
            <a:ext cx="3191256" cy="0"/>
          </a:xfrm>
          <a:prstGeom prst="line">
            <a:avLst/>
          </a:prstGeom>
          <a:noFill/>
          <a:ln w="9525">
            <a:solidFill>
              <a:schemeClr val="accent6"/>
            </a:solidFill>
            <a:prstDash val="solid"/>
          </a:ln>
        </p:spPr>
      </p:sp>
      <p:sp>
        <p:nvSpPr>
          <p:cNvPr id="10" name="Text 8"/>
          <p:cNvSpPr txBox="1"/>
          <p:nvPr/>
        </p:nvSpPr>
        <p:spPr>
          <a:xfrm>
            <a:off x="804672" y="3081528"/>
            <a:ext cx="2011680" cy="329184"/>
          </a:xfrm>
          <a:prstGeom prst="rect">
            <a:avLst/>
          </a:prstGeom>
          <a:noFill/>
          <a:ln/>
        </p:spPr>
        <p:txBody>
          <a:bodyPr wrap="square" lIns="0" tIns="0" rIns="0" bIns="0" rtlCol="0" anchor="ctr"/>
          <a:lstStyle/>
          <a:p>
            <a:pPr indent="0" marL="0">
              <a:buNone/>
            </a:pPr>
            <a:r>
              <a:rPr lang="en-US" sz="1400" dirty="0">
                <a:solidFill>
                  <a:schemeClr val="accent5"/>
                </a:solidFill>
              </a:rPr>
              <a:t>Forecast</a:t>
            </a:r>
            <a:endParaRPr lang="en-US" sz="1400" dirty="0"/>
          </a:p>
        </p:txBody>
      </p:sp>
      <p:sp>
        <p:nvSpPr>
          <p:cNvPr id="11" name="Shape 9"/>
          <p:cNvSpPr/>
          <p:nvPr/>
        </p:nvSpPr>
        <p:spPr>
          <a:xfrm>
            <a:off x="3035808" y="3099816"/>
            <a:ext cx="960120" cy="292608"/>
          </a:xfrm>
          <a:prstGeom prst="roundRect">
            <a:avLst>
              <a:gd name="adj" fmla="val 50000"/>
            </a:avLst>
          </a:prstGeom>
          <a:solidFill>
            <a:schemeClr val="tx1"/>
          </a:solidFill>
          <a:ln/>
        </p:spPr>
      </p:sp>
      <p:sp>
        <p:nvSpPr>
          <p:cNvPr id="12" name="Text 10"/>
          <p:cNvSpPr txBox="1"/>
          <p:nvPr/>
        </p:nvSpPr>
        <p:spPr>
          <a:xfrm>
            <a:off x="3035808" y="3099816"/>
            <a:ext cx="960120" cy="292608"/>
          </a:xfrm>
          <a:prstGeom prst="rect">
            <a:avLst/>
          </a:prstGeom>
          <a:noFill/>
          <a:ln/>
        </p:spPr>
        <p:txBody>
          <a:bodyPr wrap="square" lIns="0" tIns="0" rIns="0" bIns="0" rtlCol="0" anchor="ctr"/>
          <a:lstStyle/>
          <a:p>
            <a:pPr algn="ctr" indent="0" marL="0">
              <a:buNone/>
            </a:pPr>
            <a:r>
              <a:rPr lang="en-US" sz="1250" b="1" dirty="0">
                <a:solidFill>
                  <a:schemeClr val="bg1"/>
                </a:solidFill>
              </a:rPr>
              <a:t>Commit</a:t>
            </a:r>
            <a:endParaRPr lang="en-US" sz="1250" dirty="0"/>
          </a:p>
        </p:txBody>
      </p:sp>
      <p:sp>
        <p:nvSpPr>
          <p:cNvPr id="13" name="Shape 11"/>
          <p:cNvSpPr/>
          <p:nvPr/>
        </p:nvSpPr>
        <p:spPr>
          <a:xfrm>
            <a:off x="804672" y="3465576"/>
            <a:ext cx="3191256" cy="0"/>
          </a:xfrm>
          <a:prstGeom prst="line">
            <a:avLst/>
          </a:prstGeom>
          <a:noFill/>
          <a:ln w="9525">
            <a:solidFill>
              <a:schemeClr val="accent6"/>
            </a:solidFill>
            <a:prstDash val="solid"/>
          </a:ln>
        </p:spPr>
      </p:sp>
      <p:sp>
        <p:nvSpPr>
          <p:cNvPr id="14" name="Text 12"/>
          <p:cNvSpPr txBox="1"/>
          <p:nvPr/>
        </p:nvSpPr>
        <p:spPr>
          <a:xfrm>
            <a:off x="804672" y="3511296"/>
            <a:ext cx="2011680" cy="329184"/>
          </a:xfrm>
          <a:prstGeom prst="rect">
            <a:avLst/>
          </a:prstGeom>
          <a:noFill/>
          <a:ln/>
        </p:spPr>
        <p:txBody>
          <a:bodyPr wrap="square" lIns="0" tIns="0" rIns="0" bIns="0" rtlCol="0" anchor="ctr"/>
          <a:lstStyle/>
          <a:p>
            <a:pPr indent="0" marL="0">
              <a:buNone/>
            </a:pPr>
            <a:r>
              <a:rPr lang="en-US" sz="1400" dirty="0">
                <a:solidFill>
                  <a:schemeClr val="accent5"/>
                </a:solidFill>
              </a:rPr>
              <a:t>Budget confirmed</a:t>
            </a:r>
            <a:endParaRPr lang="en-US" sz="1400" dirty="0"/>
          </a:p>
        </p:txBody>
      </p:sp>
      <p:sp>
        <p:nvSpPr>
          <p:cNvPr id="15" name="Text 13"/>
          <p:cNvSpPr txBox="1"/>
          <p:nvPr/>
        </p:nvSpPr>
        <p:spPr>
          <a:xfrm>
            <a:off x="2532888" y="3511296"/>
            <a:ext cx="1463040" cy="329184"/>
          </a:xfrm>
          <a:prstGeom prst="rect">
            <a:avLst/>
          </a:prstGeom>
          <a:noFill/>
          <a:ln/>
        </p:spPr>
        <p:txBody>
          <a:bodyPr wrap="square" lIns="0" tIns="0" rIns="0" bIns="0" rtlCol="0" anchor="ctr"/>
          <a:lstStyle/>
          <a:p>
            <a:pPr algn="r" indent="0" marL="0">
              <a:buNone/>
            </a:pPr>
            <a:r>
              <a:rPr lang="en-US" sz="1400" b="1" dirty="0">
                <a:solidFill>
                  <a:schemeClr val="tx1"/>
                </a:solidFill>
              </a:rPr>
              <a:t>✓</a:t>
            </a:r>
            <a:endParaRPr lang="en-US" sz="1400" dirty="0"/>
          </a:p>
        </p:txBody>
      </p:sp>
      <p:sp>
        <p:nvSpPr>
          <p:cNvPr id="16" name="Text 14"/>
          <p:cNvSpPr txBox="1"/>
          <p:nvPr/>
        </p:nvSpPr>
        <p:spPr>
          <a:xfrm>
            <a:off x="804672" y="3941064"/>
            <a:ext cx="2011680" cy="329184"/>
          </a:xfrm>
          <a:prstGeom prst="rect">
            <a:avLst/>
          </a:prstGeom>
          <a:noFill/>
          <a:ln/>
        </p:spPr>
        <p:txBody>
          <a:bodyPr wrap="square" lIns="0" tIns="0" rIns="0" bIns="0" rtlCol="0" anchor="ctr"/>
          <a:lstStyle/>
          <a:p>
            <a:pPr indent="0" marL="0">
              <a:buNone/>
            </a:pPr>
            <a:r>
              <a:rPr lang="en-US" sz="1400" dirty="0">
                <a:solidFill>
                  <a:schemeClr val="accent5"/>
                </a:solidFill>
              </a:rPr>
              <a:t>Security complete</a:t>
            </a:r>
            <a:endParaRPr lang="en-US" sz="1400" dirty="0"/>
          </a:p>
        </p:txBody>
      </p:sp>
      <p:sp>
        <p:nvSpPr>
          <p:cNvPr id="17" name="Text 15"/>
          <p:cNvSpPr txBox="1"/>
          <p:nvPr/>
        </p:nvSpPr>
        <p:spPr>
          <a:xfrm>
            <a:off x="2532888" y="3941064"/>
            <a:ext cx="1463040" cy="329184"/>
          </a:xfrm>
          <a:prstGeom prst="rect">
            <a:avLst/>
          </a:prstGeom>
          <a:noFill/>
          <a:ln/>
        </p:spPr>
        <p:txBody>
          <a:bodyPr wrap="square" lIns="0" tIns="0" rIns="0" bIns="0" rtlCol="0" anchor="ctr"/>
          <a:lstStyle/>
          <a:p>
            <a:pPr algn="r" indent="0" marL="0">
              <a:buNone/>
            </a:pPr>
            <a:r>
              <a:rPr lang="en-US" sz="1400" b="1" dirty="0">
                <a:solidFill>
                  <a:schemeClr val="tx1"/>
                </a:solidFill>
              </a:rPr>
              <a:t>✓</a:t>
            </a:r>
            <a:endParaRPr lang="en-US" sz="1400" dirty="0"/>
          </a:p>
        </p:txBody>
      </p:sp>
      <p:sp>
        <p:nvSpPr>
          <p:cNvPr id="18" name="Text 16"/>
          <p:cNvSpPr txBox="1"/>
          <p:nvPr/>
        </p:nvSpPr>
        <p:spPr>
          <a:xfrm>
            <a:off x="804672" y="4370832"/>
            <a:ext cx="2011680" cy="329184"/>
          </a:xfrm>
          <a:prstGeom prst="rect">
            <a:avLst/>
          </a:prstGeom>
          <a:noFill/>
          <a:ln/>
        </p:spPr>
        <p:txBody>
          <a:bodyPr wrap="square" lIns="0" tIns="0" rIns="0" bIns="0" rtlCol="0" anchor="ctr"/>
          <a:lstStyle/>
          <a:p>
            <a:pPr indent="0" marL="0">
              <a:buNone/>
            </a:pPr>
            <a:r>
              <a:rPr lang="en-US" sz="1400" dirty="0">
                <a:solidFill>
                  <a:schemeClr val="accent5"/>
                </a:solidFill>
              </a:rPr>
              <a:t>Procurement</a:t>
            </a:r>
            <a:endParaRPr lang="en-US" sz="1400" dirty="0"/>
          </a:p>
        </p:txBody>
      </p:sp>
      <p:sp>
        <p:nvSpPr>
          <p:cNvPr id="19" name="Text 17"/>
          <p:cNvSpPr txBox="1"/>
          <p:nvPr/>
        </p:nvSpPr>
        <p:spPr>
          <a:xfrm>
            <a:off x="2532888" y="4370832"/>
            <a:ext cx="1463040" cy="329184"/>
          </a:xfrm>
          <a:prstGeom prst="rect">
            <a:avLst/>
          </a:prstGeom>
          <a:noFill/>
          <a:ln/>
        </p:spPr>
        <p:txBody>
          <a:bodyPr wrap="square" lIns="0" tIns="0" rIns="0" bIns="0" rtlCol="0" anchor="ctr"/>
          <a:lstStyle/>
          <a:p>
            <a:pPr algn="r" indent="0" marL="0">
              <a:buNone/>
            </a:pPr>
            <a:r>
              <a:rPr lang="en-US" sz="1400" b="1" dirty="0">
                <a:solidFill>
                  <a:schemeClr val="tx1"/>
                </a:solidFill>
              </a:rPr>
              <a:t>2 weeks</a:t>
            </a:r>
            <a:endParaRPr lang="en-US" sz="1400" dirty="0"/>
          </a:p>
        </p:txBody>
      </p:sp>
      <p:sp>
        <p:nvSpPr>
          <p:cNvPr id="20" name="Text 18"/>
          <p:cNvSpPr txBox="1"/>
          <p:nvPr/>
        </p:nvSpPr>
        <p:spPr>
          <a:xfrm>
            <a:off x="804672" y="4800600"/>
            <a:ext cx="2011680" cy="329184"/>
          </a:xfrm>
          <a:prstGeom prst="rect">
            <a:avLst/>
          </a:prstGeom>
          <a:noFill/>
          <a:ln/>
        </p:spPr>
        <p:txBody>
          <a:bodyPr wrap="square" lIns="0" tIns="0" rIns="0" bIns="0" rtlCol="0" anchor="ctr"/>
          <a:lstStyle/>
          <a:p>
            <a:pPr indent="0" marL="0">
              <a:buNone/>
            </a:pPr>
            <a:r>
              <a:rPr lang="en-US" sz="1400" dirty="0">
                <a:solidFill>
                  <a:schemeClr val="accent5"/>
                </a:solidFill>
              </a:rPr>
              <a:t>Close</a:t>
            </a:r>
            <a:endParaRPr lang="en-US" sz="1400" dirty="0"/>
          </a:p>
        </p:txBody>
      </p:sp>
      <p:sp>
        <p:nvSpPr>
          <p:cNvPr id="21" name="Text 19"/>
          <p:cNvSpPr txBox="1"/>
          <p:nvPr/>
        </p:nvSpPr>
        <p:spPr>
          <a:xfrm>
            <a:off x="2532888" y="4800600"/>
            <a:ext cx="1463040" cy="329184"/>
          </a:xfrm>
          <a:prstGeom prst="rect">
            <a:avLst/>
          </a:prstGeom>
          <a:noFill/>
          <a:ln/>
        </p:spPr>
        <p:txBody>
          <a:bodyPr wrap="square" lIns="0" tIns="0" rIns="0" bIns="0" rtlCol="0" anchor="ctr"/>
          <a:lstStyle/>
          <a:p>
            <a:pPr algn="r" indent="0" marL="0">
              <a:buNone/>
            </a:pPr>
            <a:r>
              <a:rPr lang="en-US" sz="1400" b="1" dirty="0">
                <a:solidFill>
                  <a:schemeClr val="tx1"/>
                </a:solidFill>
              </a:rPr>
              <a:t>15 Oct</a:t>
            </a:r>
            <a:endParaRPr lang="en-US" sz="1400" dirty="0"/>
          </a:p>
        </p:txBody>
      </p:sp>
      <p:sp>
        <p:nvSpPr>
          <p:cNvPr id="22" name="Text 20"/>
          <p:cNvSpPr txBox="1"/>
          <p:nvPr/>
        </p:nvSpPr>
        <p:spPr>
          <a:xfrm>
            <a:off x="4617720" y="1828800"/>
            <a:ext cx="7025335" cy="237744"/>
          </a:xfrm>
          <a:prstGeom prst="rect">
            <a:avLst/>
          </a:prstGeom>
          <a:noFill/>
          <a:ln/>
        </p:spPr>
        <p:txBody>
          <a:bodyPr wrap="square" lIns="0" tIns="0" rIns="0" bIns="0" rtlCol="0" anchor="t"/>
          <a:lstStyle/>
          <a:p>
            <a:pPr indent="0" marL="0">
              <a:buNone/>
            </a:pPr>
            <a:r>
              <a:rPr lang="en-US" sz="1000" b="1" spc="100" kern="0" dirty="0">
                <a:solidFill>
                  <a:schemeClr val="accent5"/>
                </a:solidFill>
              </a:rPr>
              <a:t>WHAT THE EVIDENCE SUPPORTS</a:t>
            </a:r>
            <a:pPr indent="0" marL="0">
              <a:buNone/>
            </a:pPr>
            <a:r>
              <a:rPr lang="en-US" sz="1100" dirty="0">
                <a:solidFill>
                  <a:schemeClr val="accent5"/>
                </a:solidFill>
              </a:rPr>
              <a:t>     four deal-critical claims RevOps chose to inspect</a:t>
            </a:r>
            <a:endParaRPr lang="en-US" sz="1400" dirty="0"/>
          </a:p>
        </p:txBody>
      </p:sp>
      <p:sp>
        <p:nvSpPr>
          <p:cNvPr id="23" name="Shape 21"/>
          <p:cNvSpPr/>
          <p:nvPr/>
        </p:nvSpPr>
        <p:spPr>
          <a:xfrm>
            <a:off x="4617720" y="2212848"/>
            <a:ext cx="7025335" cy="704088"/>
          </a:xfrm>
          <a:prstGeom prst="roundRect">
            <a:avLst>
              <a:gd name="adj" fmla="val 10390"/>
            </a:avLst>
          </a:prstGeom>
          <a:solidFill>
            <a:schemeClr val="bg1"/>
          </a:solidFill>
          <a:ln w="9525">
            <a:solidFill>
              <a:schemeClr val="accent6"/>
            </a:solidFill>
            <a:prstDash val="solid"/>
          </a:ln>
        </p:spPr>
      </p:sp>
      <p:sp>
        <p:nvSpPr>
          <p:cNvPr id="24" name="Text 22"/>
          <p:cNvSpPr txBox="1"/>
          <p:nvPr/>
        </p:nvSpPr>
        <p:spPr>
          <a:xfrm>
            <a:off x="4846320" y="2212848"/>
            <a:ext cx="2331720" cy="704088"/>
          </a:xfrm>
          <a:prstGeom prst="rect">
            <a:avLst/>
          </a:prstGeom>
          <a:noFill/>
          <a:ln/>
        </p:spPr>
        <p:txBody>
          <a:bodyPr wrap="square" lIns="0" tIns="0" rIns="0" bIns="0" rtlCol="0" anchor="ctr"/>
          <a:lstStyle/>
          <a:p>
            <a:pPr indent="0" marL="0">
              <a:buNone/>
            </a:pPr>
            <a:r>
              <a:rPr lang="en-US" sz="1500" b="1" dirty="0">
                <a:solidFill>
                  <a:schemeClr val="tx1"/>
                </a:solidFill>
              </a:rPr>
              <a:t>Budget confirmed</a:t>
            </a:r>
            <a:endParaRPr lang="en-US" sz="1500" dirty="0"/>
          </a:p>
        </p:txBody>
      </p:sp>
      <p:sp>
        <p:nvSpPr>
          <p:cNvPr id="25" name="Shape 23"/>
          <p:cNvSpPr/>
          <p:nvPr/>
        </p:nvSpPr>
        <p:spPr>
          <a:xfrm>
            <a:off x="7315200" y="2427732"/>
            <a:ext cx="1121146" cy="274320"/>
          </a:xfrm>
          <a:prstGeom prst="roundRect">
            <a:avLst>
              <a:gd name="adj" fmla="val 50000"/>
            </a:avLst>
          </a:prstGeom>
          <a:solidFill>
            <a:schemeClr val="accent2">
              <a:alpha val="12000"/>
            </a:schemeClr>
          </a:solidFill>
          <a:ln w="9525">
            <a:solidFill>
              <a:schemeClr val="accent2"/>
            </a:solidFill>
            <a:prstDash val="solid"/>
          </a:ln>
        </p:spPr>
      </p:sp>
      <p:sp>
        <p:nvSpPr>
          <p:cNvPr id="26" name="Text 24"/>
          <p:cNvSpPr txBox="1"/>
          <p:nvPr/>
        </p:nvSpPr>
        <p:spPr>
          <a:xfrm>
            <a:off x="7315200" y="2427732"/>
            <a:ext cx="1121146"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SUPPORTED</a:t>
            </a:r>
            <a:endParaRPr lang="en-US" sz="1050" dirty="0"/>
          </a:p>
        </p:txBody>
      </p:sp>
      <p:sp>
        <p:nvSpPr>
          <p:cNvPr id="27" name="Text 25"/>
          <p:cNvSpPr txBox="1"/>
          <p:nvPr/>
        </p:nvSpPr>
        <p:spPr>
          <a:xfrm>
            <a:off x="8823960" y="2212848"/>
            <a:ext cx="2636215" cy="704088"/>
          </a:xfrm>
          <a:prstGeom prst="rect">
            <a:avLst/>
          </a:prstGeom>
          <a:noFill/>
          <a:ln/>
        </p:spPr>
        <p:txBody>
          <a:bodyPr wrap="square" lIns="0" tIns="0" rIns="0" bIns="0" rtlCol="0" anchor="ctr"/>
          <a:lstStyle/>
          <a:p>
            <a:pPr indent="0" marL="0">
              <a:buNone/>
            </a:pPr>
            <a:r>
              <a:rPr lang="en-US" sz="1250" dirty="0">
                <a:solidFill>
                  <a:schemeClr val="tx2"/>
                </a:solidFill>
              </a:rPr>
              <a:t>CFO email · 17 Sep</a:t>
            </a:r>
            <a:endParaRPr lang="en-US" sz="1250" dirty="0"/>
          </a:p>
        </p:txBody>
      </p:sp>
      <p:sp>
        <p:nvSpPr>
          <p:cNvPr id="28" name="Shape 26"/>
          <p:cNvSpPr/>
          <p:nvPr/>
        </p:nvSpPr>
        <p:spPr>
          <a:xfrm>
            <a:off x="4617720" y="3026664"/>
            <a:ext cx="7025335" cy="704088"/>
          </a:xfrm>
          <a:prstGeom prst="roundRect">
            <a:avLst>
              <a:gd name="adj" fmla="val 10390"/>
            </a:avLst>
          </a:prstGeom>
          <a:solidFill>
            <a:schemeClr val="bg1"/>
          </a:solidFill>
          <a:ln w="9525">
            <a:solidFill>
              <a:schemeClr val="accent6"/>
            </a:solidFill>
            <a:prstDash val="solid"/>
          </a:ln>
        </p:spPr>
      </p:sp>
      <p:sp>
        <p:nvSpPr>
          <p:cNvPr id="29" name="Text 27"/>
          <p:cNvSpPr txBox="1"/>
          <p:nvPr/>
        </p:nvSpPr>
        <p:spPr>
          <a:xfrm>
            <a:off x="4846320" y="3026664"/>
            <a:ext cx="2331720" cy="704088"/>
          </a:xfrm>
          <a:prstGeom prst="rect">
            <a:avLst/>
          </a:prstGeom>
          <a:noFill/>
          <a:ln/>
        </p:spPr>
        <p:txBody>
          <a:bodyPr wrap="square" lIns="0" tIns="0" rIns="0" bIns="0" rtlCol="0" anchor="ctr"/>
          <a:lstStyle/>
          <a:p>
            <a:pPr indent="0" marL="0">
              <a:buNone/>
            </a:pPr>
            <a:r>
              <a:rPr lang="en-US" sz="1500" b="1" dirty="0">
                <a:solidFill>
                  <a:schemeClr val="tx1"/>
                </a:solidFill>
              </a:rPr>
              <a:t>Security complete</a:t>
            </a:r>
            <a:endParaRPr lang="en-US" sz="1500" dirty="0"/>
          </a:p>
        </p:txBody>
      </p:sp>
      <p:sp>
        <p:nvSpPr>
          <p:cNvPr id="30" name="Shape 28"/>
          <p:cNvSpPr/>
          <p:nvPr/>
        </p:nvSpPr>
        <p:spPr>
          <a:xfrm>
            <a:off x="7315200" y="3241548"/>
            <a:ext cx="1309329" cy="274320"/>
          </a:xfrm>
          <a:prstGeom prst="roundRect">
            <a:avLst>
              <a:gd name="adj" fmla="val 50000"/>
            </a:avLst>
          </a:prstGeom>
          <a:solidFill>
            <a:schemeClr val="accent3">
              <a:alpha val="12000"/>
            </a:schemeClr>
          </a:solidFill>
          <a:ln w="9525">
            <a:solidFill>
              <a:schemeClr val="accent3"/>
            </a:solidFill>
            <a:prstDash val="solid"/>
          </a:ln>
        </p:spPr>
      </p:sp>
      <p:sp>
        <p:nvSpPr>
          <p:cNvPr id="31" name="Text 29"/>
          <p:cNvSpPr txBox="1"/>
          <p:nvPr/>
        </p:nvSpPr>
        <p:spPr>
          <a:xfrm>
            <a:off x="7315200" y="3241548"/>
            <a:ext cx="1309329" cy="274320"/>
          </a:xfrm>
          <a:prstGeom prst="rect">
            <a:avLst/>
          </a:prstGeom>
          <a:noFill/>
          <a:ln/>
        </p:spPr>
        <p:txBody>
          <a:bodyPr wrap="square" lIns="0" tIns="0" rIns="0" bIns="0" rtlCol="0" anchor="ctr"/>
          <a:lstStyle/>
          <a:p>
            <a:pPr algn="ctr" indent="0" marL="0">
              <a:buNone/>
            </a:pPr>
            <a:r>
              <a:rPr lang="en-US" sz="1050" b="1" spc="50" kern="0" dirty="0">
                <a:solidFill>
                  <a:schemeClr val="accent3"/>
                </a:solidFill>
              </a:rPr>
              <a:t>UNSUPPORTED</a:t>
            </a:r>
            <a:endParaRPr lang="en-US" sz="1050" dirty="0"/>
          </a:p>
        </p:txBody>
      </p:sp>
      <p:sp>
        <p:nvSpPr>
          <p:cNvPr id="32" name="Text 30"/>
          <p:cNvSpPr txBox="1"/>
          <p:nvPr/>
        </p:nvSpPr>
        <p:spPr>
          <a:xfrm>
            <a:off x="8823960" y="3026664"/>
            <a:ext cx="2636215" cy="704088"/>
          </a:xfrm>
          <a:prstGeom prst="rect">
            <a:avLst/>
          </a:prstGeom>
          <a:noFill/>
          <a:ln/>
        </p:spPr>
        <p:txBody>
          <a:bodyPr wrap="square" lIns="0" tIns="0" rIns="0" bIns="0" rtlCol="0" anchor="ctr"/>
          <a:lstStyle/>
          <a:p>
            <a:pPr indent="0" marL="0">
              <a:buNone/>
            </a:pPr>
            <a:r>
              <a:rPr lang="en-US" sz="1250" dirty="0">
                <a:solidFill>
                  <a:schemeClr val="tx2"/>
                </a:solidFill>
              </a:rPr>
              <a:t>Only a rep note. No customer evidence in connected sources.</a:t>
            </a:r>
            <a:endParaRPr lang="en-US" sz="1250" dirty="0"/>
          </a:p>
        </p:txBody>
      </p:sp>
      <p:sp>
        <p:nvSpPr>
          <p:cNvPr id="33" name="Shape 31"/>
          <p:cNvSpPr/>
          <p:nvPr/>
        </p:nvSpPr>
        <p:spPr>
          <a:xfrm>
            <a:off x="4617720" y="3840480"/>
            <a:ext cx="7025335" cy="704088"/>
          </a:xfrm>
          <a:prstGeom prst="roundRect">
            <a:avLst>
              <a:gd name="adj" fmla="val 10390"/>
            </a:avLst>
          </a:prstGeom>
          <a:solidFill>
            <a:schemeClr val="bg1"/>
          </a:solidFill>
          <a:ln w="9525">
            <a:solidFill>
              <a:schemeClr val="accent6"/>
            </a:solidFill>
            <a:prstDash val="solid"/>
          </a:ln>
        </p:spPr>
      </p:sp>
      <p:sp>
        <p:nvSpPr>
          <p:cNvPr id="34" name="Text 32"/>
          <p:cNvSpPr txBox="1"/>
          <p:nvPr/>
        </p:nvSpPr>
        <p:spPr>
          <a:xfrm>
            <a:off x="4846320" y="3840480"/>
            <a:ext cx="2331720" cy="704088"/>
          </a:xfrm>
          <a:prstGeom prst="rect">
            <a:avLst/>
          </a:prstGeom>
          <a:noFill/>
          <a:ln/>
        </p:spPr>
        <p:txBody>
          <a:bodyPr wrap="square" lIns="0" tIns="0" rIns="0" bIns="0" rtlCol="0" anchor="ctr"/>
          <a:lstStyle/>
          <a:p>
            <a:pPr indent="0" marL="0">
              <a:buNone/>
            </a:pPr>
            <a:r>
              <a:rPr lang="en-US" sz="1500" b="1" dirty="0">
                <a:solidFill>
                  <a:schemeClr val="tx1"/>
                </a:solidFill>
              </a:rPr>
              <a:t>Procurement takes two weeks</a:t>
            </a:r>
            <a:endParaRPr lang="en-US" sz="1500" dirty="0"/>
          </a:p>
        </p:txBody>
      </p:sp>
      <p:sp>
        <p:nvSpPr>
          <p:cNvPr id="35" name="Shape 33"/>
          <p:cNvSpPr/>
          <p:nvPr/>
        </p:nvSpPr>
        <p:spPr>
          <a:xfrm>
            <a:off x="7315200" y="4055364"/>
            <a:ext cx="1403421" cy="274320"/>
          </a:xfrm>
          <a:prstGeom prst="roundRect">
            <a:avLst>
              <a:gd name="adj" fmla="val 50000"/>
            </a:avLst>
          </a:prstGeom>
          <a:solidFill>
            <a:schemeClr val="accent4">
              <a:alpha val="12000"/>
            </a:schemeClr>
          </a:solidFill>
          <a:ln w="9525">
            <a:solidFill>
              <a:schemeClr val="accent4"/>
            </a:solidFill>
            <a:prstDash val="solid"/>
          </a:ln>
        </p:spPr>
      </p:sp>
      <p:sp>
        <p:nvSpPr>
          <p:cNvPr id="36" name="Text 34"/>
          <p:cNvSpPr txBox="1"/>
          <p:nvPr/>
        </p:nvSpPr>
        <p:spPr>
          <a:xfrm>
            <a:off x="7315200" y="4055364"/>
            <a:ext cx="1403421" cy="274320"/>
          </a:xfrm>
          <a:prstGeom prst="rect">
            <a:avLst/>
          </a:prstGeom>
          <a:noFill/>
          <a:ln/>
        </p:spPr>
        <p:txBody>
          <a:bodyPr wrap="square" lIns="0" tIns="0" rIns="0" bIns="0" rtlCol="0" anchor="ctr"/>
          <a:lstStyle/>
          <a:p>
            <a:pPr algn="ctr" indent="0" marL="0">
              <a:buNone/>
            </a:pPr>
            <a:r>
              <a:rPr lang="en-US" sz="1050" b="1" spc="50" kern="0" dirty="0">
                <a:solidFill>
                  <a:schemeClr val="accent4"/>
                </a:solidFill>
              </a:rPr>
              <a:t>CONTRADICTED</a:t>
            </a:r>
            <a:endParaRPr lang="en-US" sz="1050" dirty="0"/>
          </a:p>
        </p:txBody>
      </p:sp>
      <p:sp>
        <p:nvSpPr>
          <p:cNvPr id="37" name="Text 35"/>
          <p:cNvSpPr txBox="1"/>
          <p:nvPr/>
        </p:nvSpPr>
        <p:spPr>
          <a:xfrm>
            <a:off x="8823960" y="3840480"/>
            <a:ext cx="2636215" cy="704088"/>
          </a:xfrm>
          <a:prstGeom prst="rect">
            <a:avLst/>
          </a:prstGeom>
          <a:noFill/>
          <a:ln/>
        </p:spPr>
        <p:txBody>
          <a:bodyPr wrap="square" lIns="0" tIns="0" rIns="0" bIns="0" rtlCol="0" anchor="ctr"/>
          <a:lstStyle/>
          <a:p>
            <a:pPr indent="0" marL="0">
              <a:buNone/>
            </a:pPr>
            <a:r>
              <a:rPr lang="en-US" sz="1250" dirty="0">
                <a:solidFill>
                  <a:schemeClr val="tx2"/>
                </a:solidFill>
              </a:rPr>
              <a:t>Champion said so; a later procurement email disagrees.</a:t>
            </a:r>
            <a:endParaRPr lang="en-US" sz="1250" dirty="0"/>
          </a:p>
        </p:txBody>
      </p:sp>
      <p:sp>
        <p:nvSpPr>
          <p:cNvPr id="38" name="Shape 36"/>
          <p:cNvSpPr/>
          <p:nvPr/>
        </p:nvSpPr>
        <p:spPr>
          <a:xfrm>
            <a:off x="4617720" y="4654296"/>
            <a:ext cx="7025335" cy="704088"/>
          </a:xfrm>
          <a:prstGeom prst="roundRect">
            <a:avLst>
              <a:gd name="adj" fmla="val 10390"/>
            </a:avLst>
          </a:prstGeom>
          <a:solidFill>
            <a:schemeClr val="bg1"/>
          </a:solidFill>
          <a:ln w="9525">
            <a:solidFill>
              <a:schemeClr val="accent6"/>
            </a:solidFill>
            <a:prstDash val="solid"/>
          </a:ln>
        </p:spPr>
      </p:sp>
      <p:sp>
        <p:nvSpPr>
          <p:cNvPr id="39" name="Text 37"/>
          <p:cNvSpPr txBox="1"/>
          <p:nvPr/>
        </p:nvSpPr>
        <p:spPr>
          <a:xfrm>
            <a:off x="4846320" y="4654296"/>
            <a:ext cx="2331720" cy="704088"/>
          </a:xfrm>
          <a:prstGeom prst="rect">
            <a:avLst/>
          </a:prstGeom>
          <a:noFill/>
          <a:ln/>
        </p:spPr>
        <p:txBody>
          <a:bodyPr wrap="square" lIns="0" tIns="0" rIns="0" bIns="0" rtlCol="0" anchor="ctr"/>
          <a:lstStyle/>
          <a:p>
            <a:pPr indent="0" marL="0">
              <a:buNone/>
            </a:pPr>
            <a:r>
              <a:rPr lang="en-US" sz="1500" b="1" dirty="0">
                <a:solidFill>
                  <a:schemeClr val="tx1"/>
                </a:solidFill>
              </a:rPr>
              <a:t>Close by 15 Oct</a:t>
            </a:r>
            <a:endParaRPr lang="en-US" sz="1500" dirty="0"/>
          </a:p>
        </p:txBody>
      </p:sp>
      <p:sp>
        <p:nvSpPr>
          <p:cNvPr id="40" name="Shape 38"/>
          <p:cNvSpPr/>
          <p:nvPr/>
        </p:nvSpPr>
        <p:spPr>
          <a:xfrm>
            <a:off x="7315200" y="4869180"/>
            <a:ext cx="1309329" cy="274320"/>
          </a:xfrm>
          <a:prstGeom prst="roundRect">
            <a:avLst>
              <a:gd name="adj" fmla="val 50000"/>
            </a:avLst>
          </a:prstGeom>
          <a:solidFill>
            <a:schemeClr val="accent3">
              <a:alpha val="12000"/>
            </a:schemeClr>
          </a:solidFill>
          <a:ln w="9525">
            <a:solidFill>
              <a:schemeClr val="accent3"/>
            </a:solidFill>
            <a:prstDash val="solid"/>
          </a:ln>
        </p:spPr>
      </p:sp>
      <p:sp>
        <p:nvSpPr>
          <p:cNvPr id="41" name="Text 39"/>
          <p:cNvSpPr txBox="1"/>
          <p:nvPr/>
        </p:nvSpPr>
        <p:spPr>
          <a:xfrm>
            <a:off x="7315200" y="4869180"/>
            <a:ext cx="1309329" cy="274320"/>
          </a:xfrm>
          <a:prstGeom prst="rect">
            <a:avLst/>
          </a:prstGeom>
          <a:noFill/>
          <a:ln/>
        </p:spPr>
        <p:txBody>
          <a:bodyPr wrap="square" lIns="0" tIns="0" rIns="0" bIns="0" rtlCol="0" anchor="ctr"/>
          <a:lstStyle/>
          <a:p>
            <a:pPr algn="ctr" indent="0" marL="0">
              <a:buNone/>
            </a:pPr>
            <a:r>
              <a:rPr lang="en-US" sz="1050" b="1" spc="50" kern="0" dirty="0">
                <a:solidFill>
                  <a:schemeClr val="accent3"/>
                </a:solidFill>
              </a:rPr>
              <a:t>UNSUPPORTED</a:t>
            </a:r>
            <a:endParaRPr lang="en-US" sz="1050" dirty="0"/>
          </a:p>
        </p:txBody>
      </p:sp>
      <p:sp>
        <p:nvSpPr>
          <p:cNvPr id="42" name="Text 40"/>
          <p:cNvSpPr txBox="1"/>
          <p:nvPr/>
        </p:nvSpPr>
        <p:spPr>
          <a:xfrm>
            <a:off x="8823960" y="4654296"/>
            <a:ext cx="2636215" cy="704088"/>
          </a:xfrm>
          <a:prstGeom prst="rect">
            <a:avLst/>
          </a:prstGeom>
          <a:noFill/>
          <a:ln/>
        </p:spPr>
        <p:txBody>
          <a:bodyPr wrap="square" lIns="0" tIns="0" rIns="0" bIns="0" rtlCol="0" anchor="ctr"/>
          <a:lstStyle/>
          <a:p>
            <a:pPr indent="0" marL="0">
              <a:buNone/>
            </a:pPr>
            <a:r>
              <a:rPr lang="en-US" sz="1250" dirty="0">
                <a:solidFill>
                  <a:schemeClr val="tx2"/>
                </a:solidFill>
              </a:rPr>
              <a:t>No customer statement confirming this signing date.</a:t>
            </a:r>
            <a:endParaRPr lang="en-US" sz="1250" dirty="0"/>
          </a:p>
        </p:txBody>
      </p:sp>
      <p:sp>
        <p:nvSpPr>
          <p:cNvPr id="43" name="Text 41"/>
          <p:cNvSpPr txBox="1"/>
          <p:nvPr/>
        </p:nvSpPr>
        <p:spPr>
          <a:xfrm>
            <a:off x="548640" y="5532120"/>
            <a:ext cx="11094415" cy="384048"/>
          </a:xfrm>
          <a:prstGeom prst="rect">
            <a:avLst/>
          </a:prstGeom>
          <a:noFill/>
          <a:ln/>
        </p:spPr>
        <p:txBody>
          <a:bodyPr wrap="square" lIns="0" tIns="0" rIns="0" bIns="0" rtlCol="0" anchor="ctr"/>
          <a:lstStyle/>
          <a:p>
            <a:pPr indent="0" marL="0">
              <a:buNone/>
            </a:pPr>
            <a:r>
              <a:rPr lang="en-US" sz="2100" b="1" dirty="0">
                <a:solidFill>
                  <a:schemeClr val="tx1"/>
                </a:solidFill>
              </a:rPr>
              <a:t>Unsupported does not mean wrong. It means the assumption is visible.</a:t>
            </a:r>
            <a:endParaRPr lang="en-US" sz="2100" dirty="0"/>
          </a:p>
        </p:txBody>
      </p:sp>
      <p:sp>
        <p:nvSpPr>
          <p:cNvPr id="44" name="Text 42"/>
          <p:cNvSpPr txBox="1"/>
          <p:nvPr/>
        </p:nvSpPr>
        <p:spPr>
          <a:xfrm>
            <a:off x="548640" y="5925312"/>
            <a:ext cx="11094415" cy="274320"/>
          </a:xfrm>
          <a:prstGeom prst="rect">
            <a:avLst/>
          </a:prstGeom>
          <a:noFill/>
          <a:ln/>
        </p:spPr>
        <p:txBody>
          <a:bodyPr wrap="square" lIns="0" tIns="0" rIns="0" bIns="0" rtlCol="0" anchor="ctr"/>
          <a:lstStyle/>
          <a:p>
            <a:pPr indent="0" marL="0">
              <a:buNone/>
            </a:pPr>
            <a:r>
              <a:rPr lang="en-US" sz="1300" dirty="0">
                <a:solidFill>
                  <a:schemeClr val="accent5"/>
                </a:solidFill>
              </a:rPr>
              <a:t>The forecast remains the manager's call. The ledger does not predict whether the deal will close.</a:t>
            </a:r>
            <a:endParaRPr lang="en-US" sz="13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PRODUCT VISION</a:t>
            </a:r>
            <a:endParaRPr lang="en-US" sz="1100" dirty="0"/>
          </a:p>
        </p:txBody>
      </p:sp>
      <p:sp>
        <p:nvSpPr>
          <p:cNvPr id="3" name="Text 0"/>
          <p:cNvSpPr/>
          <p:nvPr>
            <p:ph idx="101" type="title" hasCustomPrompt="1"/>
          </p:nvPr>
        </p:nvSpPr>
        <p:spPr>
          <a:xfrm>
            <a:off x="548640" y="603504"/>
            <a:ext cx="11094415" cy="987552"/>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rPr>
              <a:t>The claim and its evidence become the record. AI interprets. Policy computes. People decide.</a:t>
            </a:r>
            <a:endParaRPr lang="en-US" sz="2800" dirty="0"/>
          </a:p>
        </p:txBody>
      </p:sp>
      <p:sp>
        <p:nvSpPr>
          <p:cNvPr id="4" name="Text 0"/>
          <p:cNvSpPr/>
          <p:nvPr>
            <p:ph idx="102" type="body" hasCustomPrompt="1"/>
          </p:nvPr>
        </p:nvSpPr>
        <p:spPr>
          <a:xfrm>
            <a:off x="548640" y="6327648"/>
            <a:ext cx="10287000" cy="384048"/>
          </a:xfrm>
          <a:prstGeom prst="rect">
            <a:avLst/>
          </a:prstGeom>
          <a:noFill/>
          <a:ln/>
        </p:spPr>
        <p:txBody>
          <a:bodyPr wrap="square" lIns="0" tIns="0" rIns="0" bIns="0" rtlCol="0" anchor="t"/>
          <a:lstStyle/>
          <a:p>
            <a:pPr algn="l" indent="0" marL="0">
              <a:buNone/>
            </a:pPr>
            <a:r>
              <a:rPr lang="en-US" sz="1000" dirty="0">
                <a:solidFill>
                  <a:schemeClr val="accent5"/>
                </a:solidFill>
              </a:rPr>
              <a:t>HYPOTHESIS  ·  product architecture, not the engineering design</a:t>
            </a:r>
            <a:endParaRPr lang="en-US" sz="1000" dirty="0"/>
          </a:p>
        </p:txBody>
      </p:sp>
      <p:sp>
        <p:nvSpPr>
          <p:cNvPr id="5" name="Text 3"/>
          <p:cNvSpPr txBox="1"/>
          <p:nvPr/>
        </p:nvSpPr>
        <p:spPr>
          <a:xfrm>
            <a:off x="548640" y="1700784"/>
            <a:ext cx="11094415" cy="292608"/>
          </a:xfrm>
          <a:prstGeom prst="rect">
            <a:avLst/>
          </a:prstGeom>
          <a:noFill/>
          <a:ln/>
        </p:spPr>
        <p:txBody>
          <a:bodyPr wrap="square" lIns="0" tIns="0" rIns="0" bIns="0" rtlCol="0" anchor="ctr"/>
          <a:lstStyle/>
          <a:p>
            <a:pPr indent="0" marL="0">
              <a:buNone/>
            </a:pPr>
            <a:r>
              <a:rPr lang="en-US" sz="1400" b="1" dirty="0">
                <a:solidFill>
                  <a:schemeClr val="tx1"/>
                </a:solidFill>
              </a:rPr>
              <a:t>Why now: </a:t>
            </a:r>
            <a:pPr indent="0" marL="0">
              <a:buNone/>
            </a:pPr>
            <a:r>
              <a:rPr lang="en-US" sz="1400" dirty="0">
                <a:solidFill>
                  <a:schemeClr val="tx2"/>
                </a:solidFill>
              </a:rPr>
              <a:t>models can now read calls and email at scale and propose who said what; rules keep the status consistent and explainable.</a:t>
            </a:r>
            <a:endParaRPr lang="en-US" sz="1400" dirty="0"/>
          </a:p>
        </p:txBody>
      </p:sp>
      <p:sp>
        <p:nvSpPr>
          <p:cNvPr id="6" name="Text 4"/>
          <p:cNvSpPr txBox="1"/>
          <p:nvPr/>
        </p:nvSpPr>
        <p:spPr>
          <a:xfrm>
            <a:off x="548640" y="2212848"/>
            <a:ext cx="1965960" cy="292608"/>
          </a:xfrm>
          <a:prstGeom prst="rect">
            <a:avLst/>
          </a:prstGeom>
          <a:noFill/>
          <a:ln/>
        </p:spPr>
        <p:txBody>
          <a:bodyPr wrap="square" lIns="0" tIns="0" rIns="0" bIns="0" rtlCol="0" anchor="t"/>
          <a:lstStyle/>
          <a:p>
            <a:pPr indent="0" marL="0">
              <a:buNone/>
            </a:pPr>
            <a:r>
              <a:rPr lang="en-US" sz="1500" b="1" dirty="0">
                <a:solidFill>
                  <a:schemeClr val="tx1"/>
                </a:solidFill>
              </a:rPr>
              <a:t>Sources</a:t>
            </a:r>
            <a:endParaRPr lang="en-US" sz="1500" dirty="0"/>
          </a:p>
        </p:txBody>
      </p:sp>
      <p:sp>
        <p:nvSpPr>
          <p:cNvPr id="7" name="Text 5"/>
          <p:cNvSpPr txBox="1"/>
          <p:nvPr/>
        </p:nvSpPr>
        <p:spPr>
          <a:xfrm>
            <a:off x="2830754" y="2212848"/>
            <a:ext cx="1965960" cy="292608"/>
          </a:xfrm>
          <a:prstGeom prst="rect">
            <a:avLst/>
          </a:prstGeom>
          <a:noFill/>
          <a:ln/>
        </p:spPr>
        <p:txBody>
          <a:bodyPr wrap="square" lIns="0" tIns="0" rIns="0" bIns="0" rtlCol="0" anchor="t"/>
          <a:lstStyle/>
          <a:p>
            <a:pPr indent="0" marL="0">
              <a:buNone/>
            </a:pPr>
            <a:r>
              <a:rPr lang="en-US" sz="1500" b="1" dirty="0">
                <a:solidFill>
                  <a:schemeClr val="tx1"/>
                </a:solidFill>
              </a:rPr>
              <a:t>AI interprets</a:t>
            </a:r>
            <a:endParaRPr lang="en-US" sz="1500" dirty="0"/>
          </a:p>
        </p:txBody>
      </p:sp>
      <p:sp>
        <p:nvSpPr>
          <p:cNvPr id="8" name="Text 6"/>
          <p:cNvSpPr txBox="1"/>
          <p:nvPr/>
        </p:nvSpPr>
        <p:spPr>
          <a:xfrm>
            <a:off x="2830754" y="2496312"/>
            <a:ext cx="1965960" cy="237744"/>
          </a:xfrm>
          <a:prstGeom prst="rect">
            <a:avLst/>
          </a:prstGeom>
          <a:noFill/>
          <a:ln/>
        </p:spPr>
        <p:txBody>
          <a:bodyPr wrap="square" lIns="0" tIns="0" rIns="0" bIns="0" rtlCol="0" anchor="t"/>
          <a:lstStyle/>
          <a:p>
            <a:pPr indent="0" marL="0">
              <a:buNone/>
            </a:pPr>
            <a:r>
              <a:rPr lang="en-US" sz="1050" i="1" dirty="0">
                <a:solidFill>
                  <a:schemeClr val="accent5"/>
                </a:solidFill>
              </a:rPr>
              <a:t>probabilistic</a:t>
            </a:r>
            <a:endParaRPr lang="en-US" sz="1050" dirty="0"/>
          </a:p>
        </p:txBody>
      </p:sp>
      <p:sp>
        <p:nvSpPr>
          <p:cNvPr id="9" name="Text 7"/>
          <p:cNvSpPr txBox="1"/>
          <p:nvPr/>
        </p:nvSpPr>
        <p:spPr>
          <a:xfrm>
            <a:off x="5112868" y="2212848"/>
            <a:ext cx="1965960" cy="292608"/>
          </a:xfrm>
          <a:prstGeom prst="rect">
            <a:avLst/>
          </a:prstGeom>
          <a:noFill/>
          <a:ln/>
        </p:spPr>
        <p:txBody>
          <a:bodyPr wrap="square" lIns="0" tIns="0" rIns="0" bIns="0" rtlCol="0" anchor="t"/>
          <a:lstStyle/>
          <a:p>
            <a:pPr indent="0" marL="0">
              <a:buNone/>
            </a:pPr>
            <a:r>
              <a:rPr lang="en-US" sz="1500" b="1" dirty="0">
                <a:solidFill>
                  <a:schemeClr val="tx1"/>
                </a:solidFill>
              </a:rPr>
              <a:t>Evidence record</a:t>
            </a:r>
            <a:endParaRPr lang="en-US" sz="1500" dirty="0"/>
          </a:p>
        </p:txBody>
      </p:sp>
      <p:sp>
        <p:nvSpPr>
          <p:cNvPr id="10" name="Text 8"/>
          <p:cNvSpPr txBox="1"/>
          <p:nvPr/>
        </p:nvSpPr>
        <p:spPr>
          <a:xfrm>
            <a:off x="5112868" y="2496312"/>
            <a:ext cx="1965960" cy="237744"/>
          </a:xfrm>
          <a:prstGeom prst="rect">
            <a:avLst/>
          </a:prstGeom>
          <a:noFill/>
          <a:ln/>
        </p:spPr>
        <p:txBody>
          <a:bodyPr wrap="square" lIns="0" tIns="0" rIns="0" bIns="0" rtlCol="0" anchor="t"/>
          <a:lstStyle/>
          <a:p>
            <a:pPr indent="0" marL="0">
              <a:buNone/>
            </a:pPr>
            <a:r>
              <a:rPr lang="en-US" sz="1050" i="1" dirty="0">
                <a:solidFill>
                  <a:schemeClr val="accent5"/>
                </a:solidFill>
              </a:rPr>
              <a:t>the unit of record</a:t>
            </a:r>
            <a:endParaRPr lang="en-US" sz="1050" dirty="0"/>
          </a:p>
        </p:txBody>
      </p:sp>
      <p:sp>
        <p:nvSpPr>
          <p:cNvPr id="11" name="Text 9"/>
          <p:cNvSpPr txBox="1"/>
          <p:nvPr/>
        </p:nvSpPr>
        <p:spPr>
          <a:xfrm>
            <a:off x="7394981" y="2212848"/>
            <a:ext cx="1965960" cy="292608"/>
          </a:xfrm>
          <a:prstGeom prst="rect">
            <a:avLst/>
          </a:prstGeom>
          <a:noFill/>
          <a:ln/>
        </p:spPr>
        <p:txBody>
          <a:bodyPr wrap="square" lIns="0" tIns="0" rIns="0" bIns="0" rtlCol="0" anchor="t"/>
          <a:lstStyle/>
          <a:p>
            <a:pPr indent="0" marL="0">
              <a:buNone/>
            </a:pPr>
            <a:r>
              <a:rPr lang="en-US" sz="1500" b="1" dirty="0">
                <a:solidFill>
                  <a:schemeClr val="tx1"/>
                </a:solidFill>
              </a:rPr>
              <a:t>Policy computes</a:t>
            </a:r>
            <a:endParaRPr lang="en-US" sz="1500" dirty="0"/>
          </a:p>
        </p:txBody>
      </p:sp>
      <p:sp>
        <p:nvSpPr>
          <p:cNvPr id="12" name="Text 10"/>
          <p:cNvSpPr txBox="1"/>
          <p:nvPr/>
        </p:nvSpPr>
        <p:spPr>
          <a:xfrm>
            <a:off x="7394981" y="2496312"/>
            <a:ext cx="1965960" cy="237744"/>
          </a:xfrm>
          <a:prstGeom prst="rect">
            <a:avLst/>
          </a:prstGeom>
          <a:noFill/>
          <a:ln/>
        </p:spPr>
        <p:txBody>
          <a:bodyPr wrap="square" lIns="0" tIns="0" rIns="0" bIns="0" rtlCol="0" anchor="t"/>
          <a:lstStyle/>
          <a:p>
            <a:pPr indent="0" marL="0">
              <a:buNone/>
            </a:pPr>
            <a:r>
              <a:rPr lang="en-US" sz="1050" i="1" dirty="0">
                <a:solidFill>
                  <a:schemeClr val="accent5"/>
                </a:solidFill>
              </a:rPr>
              <a:t>deterministic · RevOps rules</a:t>
            </a:r>
            <a:endParaRPr lang="en-US" sz="1050" dirty="0"/>
          </a:p>
        </p:txBody>
      </p:sp>
      <p:sp>
        <p:nvSpPr>
          <p:cNvPr id="13" name="Text 11"/>
          <p:cNvSpPr txBox="1"/>
          <p:nvPr/>
        </p:nvSpPr>
        <p:spPr>
          <a:xfrm>
            <a:off x="9677095" y="2212848"/>
            <a:ext cx="1965960" cy="292608"/>
          </a:xfrm>
          <a:prstGeom prst="rect">
            <a:avLst/>
          </a:prstGeom>
          <a:noFill/>
          <a:ln/>
        </p:spPr>
        <p:txBody>
          <a:bodyPr wrap="square" lIns="0" tIns="0" rIns="0" bIns="0" rtlCol="0" anchor="t"/>
          <a:lstStyle/>
          <a:p>
            <a:pPr indent="0" marL="0">
              <a:buNone/>
            </a:pPr>
            <a:r>
              <a:rPr lang="en-US" sz="1500" b="1" dirty="0">
                <a:solidFill>
                  <a:schemeClr val="tx1"/>
                </a:solidFill>
              </a:rPr>
              <a:t>People decide</a:t>
            </a:r>
            <a:endParaRPr lang="en-US" sz="1500" dirty="0"/>
          </a:p>
        </p:txBody>
      </p:sp>
      <p:sp>
        <p:nvSpPr>
          <p:cNvPr id="14" name="Text 12"/>
          <p:cNvSpPr txBox="1"/>
          <p:nvPr/>
        </p:nvSpPr>
        <p:spPr>
          <a:xfrm>
            <a:off x="9677095" y="2496312"/>
            <a:ext cx="1965960" cy="237744"/>
          </a:xfrm>
          <a:prstGeom prst="rect">
            <a:avLst/>
          </a:prstGeom>
          <a:noFill/>
          <a:ln/>
        </p:spPr>
        <p:txBody>
          <a:bodyPr wrap="square" lIns="0" tIns="0" rIns="0" bIns="0" rtlCol="0" anchor="t"/>
          <a:lstStyle/>
          <a:p>
            <a:pPr indent="0" marL="0">
              <a:buNone/>
            </a:pPr>
            <a:r>
              <a:rPr lang="en-US" sz="1050" i="1" dirty="0">
                <a:solidFill>
                  <a:schemeClr val="accent5"/>
                </a:solidFill>
              </a:rPr>
              <a:t>judgement, with a reason</a:t>
            </a:r>
            <a:endParaRPr lang="en-US" sz="1050" dirty="0"/>
          </a:p>
        </p:txBody>
      </p:sp>
      <p:sp>
        <p:nvSpPr>
          <p:cNvPr id="15" name="Shape 13"/>
          <p:cNvSpPr/>
          <p:nvPr/>
        </p:nvSpPr>
        <p:spPr>
          <a:xfrm>
            <a:off x="548640" y="2761488"/>
            <a:ext cx="1965960" cy="2103120"/>
          </a:xfrm>
          <a:prstGeom prst="roundRect">
            <a:avLst>
              <a:gd name="adj" fmla="val 4651"/>
            </a:avLst>
          </a:prstGeom>
          <a:solidFill>
            <a:schemeClr val="bg1"/>
          </a:solidFill>
          <a:ln w="9525">
            <a:solidFill>
              <a:schemeClr val="accent6"/>
            </a:solidFill>
            <a:prstDash val="solid"/>
          </a:ln>
        </p:spPr>
      </p:sp>
      <p:sp>
        <p:nvSpPr>
          <p:cNvPr id="16" name="Shape 14"/>
          <p:cNvSpPr/>
          <p:nvPr/>
        </p:nvSpPr>
        <p:spPr>
          <a:xfrm>
            <a:off x="822960" y="2944368"/>
            <a:ext cx="1417320" cy="274320"/>
          </a:xfrm>
          <a:prstGeom prst="roundRect">
            <a:avLst>
              <a:gd name="adj" fmla="val 50000"/>
            </a:avLst>
          </a:prstGeom>
          <a:solidFill>
            <a:schemeClr val="bg1"/>
          </a:solidFill>
          <a:ln w="9525">
            <a:solidFill>
              <a:schemeClr val="accent6"/>
            </a:solidFill>
            <a:prstDash val="solid"/>
          </a:ln>
        </p:spPr>
      </p:sp>
      <p:sp>
        <p:nvSpPr>
          <p:cNvPr id="17" name="Text 15"/>
          <p:cNvSpPr txBox="1"/>
          <p:nvPr/>
        </p:nvSpPr>
        <p:spPr>
          <a:xfrm>
            <a:off x="822960" y="2944368"/>
            <a:ext cx="1417320" cy="274320"/>
          </a:xfrm>
          <a:prstGeom prst="rect">
            <a:avLst/>
          </a:prstGeom>
          <a:noFill/>
          <a:ln/>
        </p:spPr>
        <p:txBody>
          <a:bodyPr wrap="square" lIns="0" tIns="0" rIns="0" bIns="0" rtlCol="0" anchor="ctr"/>
          <a:lstStyle/>
          <a:p>
            <a:pPr algn="ctr" indent="0" marL="0">
              <a:buNone/>
            </a:pPr>
            <a:r>
              <a:rPr lang="en-US" sz="1200" dirty="0">
                <a:solidFill>
                  <a:schemeClr val="tx2"/>
                </a:solidFill>
              </a:rPr>
              <a:t>Email</a:t>
            </a:r>
            <a:endParaRPr lang="en-US" sz="1200" dirty="0"/>
          </a:p>
        </p:txBody>
      </p:sp>
      <p:sp>
        <p:nvSpPr>
          <p:cNvPr id="18" name="Shape 16"/>
          <p:cNvSpPr/>
          <p:nvPr/>
        </p:nvSpPr>
        <p:spPr>
          <a:xfrm>
            <a:off x="822960" y="3310128"/>
            <a:ext cx="1417320" cy="274320"/>
          </a:xfrm>
          <a:prstGeom prst="roundRect">
            <a:avLst>
              <a:gd name="adj" fmla="val 50000"/>
            </a:avLst>
          </a:prstGeom>
          <a:solidFill>
            <a:schemeClr val="bg1"/>
          </a:solidFill>
          <a:ln w="9525">
            <a:solidFill>
              <a:schemeClr val="accent6"/>
            </a:solidFill>
            <a:prstDash val="solid"/>
          </a:ln>
        </p:spPr>
      </p:sp>
      <p:sp>
        <p:nvSpPr>
          <p:cNvPr id="19" name="Text 17"/>
          <p:cNvSpPr txBox="1"/>
          <p:nvPr/>
        </p:nvSpPr>
        <p:spPr>
          <a:xfrm>
            <a:off x="822960" y="3310128"/>
            <a:ext cx="1417320" cy="274320"/>
          </a:xfrm>
          <a:prstGeom prst="rect">
            <a:avLst/>
          </a:prstGeom>
          <a:noFill/>
          <a:ln/>
        </p:spPr>
        <p:txBody>
          <a:bodyPr wrap="square" lIns="0" tIns="0" rIns="0" bIns="0" rtlCol="0" anchor="ctr"/>
          <a:lstStyle/>
          <a:p>
            <a:pPr algn="ctr" indent="0" marL="0">
              <a:buNone/>
            </a:pPr>
            <a:r>
              <a:rPr lang="en-US" sz="1200" dirty="0">
                <a:solidFill>
                  <a:schemeClr val="tx2"/>
                </a:solidFill>
              </a:rPr>
              <a:t>Calls</a:t>
            </a:r>
            <a:endParaRPr lang="en-US" sz="1200" dirty="0"/>
          </a:p>
        </p:txBody>
      </p:sp>
      <p:sp>
        <p:nvSpPr>
          <p:cNvPr id="20" name="Shape 18"/>
          <p:cNvSpPr/>
          <p:nvPr/>
        </p:nvSpPr>
        <p:spPr>
          <a:xfrm>
            <a:off x="822960" y="3675888"/>
            <a:ext cx="1417320" cy="274320"/>
          </a:xfrm>
          <a:prstGeom prst="roundRect">
            <a:avLst>
              <a:gd name="adj" fmla="val 50000"/>
            </a:avLst>
          </a:prstGeom>
          <a:solidFill>
            <a:schemeClr val="bg1"/>
          </a:solidFill>
          <a:ln w="9525">
            <a:solidFill>
              <a:schemeClr val="accent6"/>
            </a:solidFill>
            <a:prstDash val="solid"/>
          </a:ln>
        </p:spPr>
      </p:sp>
      <p:sp>
        <p:nvSpPr>
          <p:cNvPr id="21" name="Text 19"/>
          <p:cNvSpPr txBox="1"/>
          <p:nvPr/>
        </p:nvSpPr>
        <p:spPr>
          <a:xfrm>
            <a:off x="822960" y="3675888"/>
            <a:ext cx="1417320" cy="274320"/>
          </a:xfrm>
          <a:prstGeom prst="rect">
            <a:avLst/>
          </a:prstGeom>
          <a:noFill/>
          <a:ln/>
        </p:spPr>
        <p:txBody>
          <a:bodyPr wrap="square" lIns="0" tIns="0" rIns="0" bIns="0" rtlCol="0" anchor="ctr"/>
          <a:lstStyle/>
          <a:p>
            <a:pPr algn="ctr" indent="0" marL="0">
              <a:buNone/>
            </a:pPr>
            <a:r>
              <a:rPr lang="en-US" sz="1200" dirty="0">
                <a:solidFill>
                  <a:schemeClr val="tx2"/>
                </a:solidFill>
              </a:rPr>
              <a:t>Meetings</a:t>
            </a:r>
            <a:endParaRPr lang="en-US" sz="1200" dirty="0"/>
          </a:p>
        </p:txBody>
      </p:sp>
      <p:sp>
        <p:nvSpPr>
          <p:cNvPr id="22" name="Shape 20"/>
          <p:cNvSpPr/>
          <p:nvPr/>
        </p:nvSpPr>
        <p:spPr>
          <a:xfrm>
            <a:off x="822960" y="4041648"/>
            <a:ext cx="1417320" cy="274320"/>
          </a:xfrm>
          <a:prstGeom prst="roundRect">
            <a:avLst>
              <a:gd name="adj" fmla="val 50000"/>
            </a:avLst>
          </a:prstGeom>
          <a:solidFill>
            <a:schemeClr val="bg1"/>
          </a:solidFill>
          <a:ln w="9525">
            <a:solidFill>
              <a:schemeClr val="accent6"/>
            </a:solidFill>
            <a:prstDash val="solid"/>
          </a:ln>
        </p:spPr>
      </p:sp>
      <p:sp>
        <p:nvSpPr>
          <p:cNvPr id="23" name="Text 21"/>
          <p:cNvSpPr txBox="1"/>
          <p:nvPr/>
        </p:nvSpPr>
        <p:spPr>
          <a:xfrm>
            <a:off x="822960" y="4041648"/>
            <a:ext cx="1417320" cy="274320"/>
          </a:xfrm>
          <a:prstGeom prst="rect">
            <a:avLst/>
          </a:prstGeom>
          <a:noFill/>
          <a:ln/>
        </p:spPr>
        <p:txBody>
          <a:bodyPr wrap="square" lIns="0" tIns="0" rIns="0" bIns="0" rtlCol="0" anchor="ctr"/>
          <a:lstStyle/>
          <a:p>
            <a:pPr algn="ctr" indent="0" marL="0">
              <a:buNone/>
            </a:pPr>
            <a:r>
              <a:rPr lang="en-US" sz="1200" dirty="0">
                <a:solidFill>
                  <a:schemeClr val="tx2"/>
                </a:solidFill>
              </a:rPr>
              <a:t>CRM</a:t>
            </a:r>
            <a:endParaRPr lang="en-US" sz="1200" dirty="0"/>
          </a:p>
        </p:txBody>
      </p:sp>
      <p:sp>
        <p:nvSpPr>
          <p:cNvPr id="24" name="Shape 22"/>
          <p:cNvSpPr/>
          <p:nvPr/>
        </p:nvSpPr>
        <p:spPr>
          <a:xfrm>
            <a:off x="822960" y="4407408"/>
            <a:ext cx="1417320" cy="274320"/>
          </a:xfrm>
          <a:prstGeom prst="roundRect">
            <a:avLst>
              <a:gd name="adj" fmla="val 50000"/>
            </a:avLst>
          </a:prstGeom>
          <a:solidFill>
            <a:schemeClr val="bg1"/>
          </a:solidFill>
          <a:ln w="9525">
            <a:solidFill>
              <a:schemeClr val="accent6"/>
            </a:solidFill>
            <a:prstDash val="solid"/>
          </a:ln>
        </p:spPr>
      </p:sp>
      <p:sp>
        <p:nvSpPr>
          <p:cNvPr id="25" name="Text 23"/>
          <p:cNvSpPr txBox="1"/>
          <p:nvPr/>
        </p:nvSpPr>
        <p:spPr>
          <a:xfrm>
            <a:off x="822960" y="4407408"/>
            <a:ext cx="1417320" cy="274320"/>
          </a:xfrm>
          <a:prstGeom prst="rect">
            <a:avLst/>
          </a:prstGeom>
          <a:noFill/>
          <a:ln/>
        </p:spPr>
        <p:txBody>
          <a:bodyPr wrap="square" lIns="0" tIns="0" rIns="0" bIns="0" rtlCol="0" anchor="ctr"/>
          <a:lstStyle/>
          <a:p>
            <a:pPr algn="ctr" indent="0" marL="0">
              <a:buNone/>
            </a:pPr>
            <a:r>
              <a:rPr lang="en-US" sz="1200" dirty="0">
                <a:solidFill>
                  <a:schemeClr val="tx2"/>
                </a:solidFill>
              </a:rPr>
              <a:t>Contracts</a:t>
            </a:r>
            <a:endParaRPr lang="en-US" sz="1200" dirty="0"/>
          </a:p>
        </p:txBody>
      </p:sp>
      <p:sp>
        <p:nvSpPr>
          <p:cNvPr id="26" name="Shape 24"/>
          <p:cNvSpPr/>
          <p:nvPr/>
        </p:nvSpPr>
        <p:spPr>
          <a:xfrm>
            <a:off x="2830754" y="2761488"/>
            <a:ext cx="1965960" cy="2103120"/>
          </a:xfrm>
          <a:prstGeom prst="roundRect">
            <a:avLst>
              <a:gd name="adj" fmla="val 4651"/>
            </a:avLst>
          </a:prstGeom>
          <a:solidFill>
            <a:schemeClr val="bg1"/>
          </a:solidFill>
          <a:ln w="9525">
            <a:solidFill>
              <a:schemeClr val="accent6"/>
            </a:solidFill>
            <a:prstDash val="solid"/>
          </a:ln>
        </p:spPr>
      </p:sp>
      <p:sp>
        <p:nvSpPr>
          <p:cNvPr id="27" name="Text 25"/>
          <p:cNvSpPr txBox="1"/>
          <p:nvPr/>
        </p:nvSpPr>
        <p:spPr>
          <a:xfrm>
            <a:off x="3013634" y="2889504"/>
            <a:ext cx="1600200" cy="438912"/>
          </a:xfrm>
          <a:prstGeom prst="rect">
            <a:avLst/>
          </a:prstGeom>
          <a:noFill/>
          <a:ln/>
        </p:spPr>
        <p:txBody>
          <a:bodyPr wrap="square" lIns="0" tIns="0" rIns="0" bIns="0" rtlCol="0" anchor="ctr"/>
          <a:lstStyle/>
          <a:p>
            <a:pPr indent="0" marL="0">
              <a:buNone/>
            </a:pPr>
            <a:r>
              <a:rPr lang="en-US" sz="1250" dirty="0">
                <a:solidFill>
                  <a:schemeClr val="tx1"/>
                </a:solidFill>
              </a:rPr>
              <a:t>Who said what?</a:t>
            </a:r>
            <a:endParaRPr lang="en-US" sz="1250" dirty="0"/>
          </a:p>
        </p:txBody>
      </p:sp>
      <p:sp>
        <p:nvSpPr>
          <p:cNvPr id="28" name="Shape 26"/>
          <p:cNvSpPr/>
          <p:nvPr/>
        </p:nvSpPr>
        <p:spPr>
          <a:xfrm>
            <a:off x="3013634" y="3351276"/>
            <a:ext cx="1600200" cy="0"/>
          </a:xfrm>
          <a:prstGeom prst="line">
            <a:avLst/>
          </a:prstGeom>
          <a:noFill/>
          <a:ln w="9525">
            <a:solidFill>
              <a:schemeClr val="accent6"/>
            </a:solidFill>
            <a:prstDash val="solid"/>
          </a:ln>
        </p:spPr>
      </p:sp>
      <p:sp>
        <p:nvSpPr>
          <p:cNvPr id="29" name="Text 27"/>
          <p:cNvSpPr txBox="1"/>
          <p:nvPr/>
        </p:nvSpPr>
        <p:spPr>
          <a:xfrm>
            <a:off x="3013634" y="3374136"/>
            <a:ext cx="1600200" cy="438912"/>
          </a:xfrm>
          <a:prstGeom prst="rect">
            <a:avLst/>
          </a:prstGeom>
          <a:noFill/>
          <a:ln/>
        </p:spPr>
        <p:txBody>
          <a:bodyPr wrap="square" lIns="0" tIns="0" rIns="0" bIns="0" rtlCol="0" anchor="ctr"/>
          <a:lstStyle/>
          <a:p>
            <a:pPr indent="0" marL="0">
              <a:buNone/>
            </a:pPr>
            <a:r>
              <a:rPr lang="en-US" sz="1250" dirty="0">
                <a:solidFill>
                  <a:schemeClr val="tx1"/>
                </a:solidFill>
              </a:rPr>
              <a:t>Where, and when?</a:t>
            </a:r>
            <a:endParaRPr lang="en-US" sz="1250" dirty="0"/>
          </a:p>
        </p:txBody>
      </p:sp>
      <p:sp>
        <p:nvSpPr>
          <p:cNvPr id="30" name="Shape 28"/>
          <p:cNvSpPr/>
          <p:nvPr/>
        </p:nvSpPr>
        <p:spPr>
          <a:xfrm>
            <a:off x="3013634" y="3835908"/>
            <a:ext cx="1600200" cy="0"/>
          </a:xfrm>
          <a:prstGeom prst="line">
            <a:avLst/>
          </a:prstGeom>
          <a:noFill/>
          <a:ln w="9525">
            <a:solidFill>
              <a:schemeClr val="accent6"/>
            </a:solidFill>
            <a:prstDash val="solid"/>
          </a:ln>
        </p:spPr>
      </p:sp>
      <p:sp>
        <p:nvSpPr>
          <p:cNvPr id="31" name="Text 29"/>
          <p:cNvSpPr txBox="1"/>
          <p:nvPr/>
        </p:nvSpPr>
        <p:spPr>
          <a:xfrm>
            <a:off x="3013634" y="3858768"/>
            <a:ext cx="1600200" cy="438912"/>
          </a:xfrm>
          <a:prstGeom prst="rect">
            <a:avLst/>
          </a:prstGeom>
          <a:noFill/>
          <a:ln/>
        </p:spPr>
        <p:txBody>
          <a:bodyPr wrap="square" lIns="0" tIns="0" rIns="0" bIns="0" rtlCol="0" anchor="ctr"/>
          <a:lstStyle/>
          <a:p>
            <a:pPr indent="0" marL="0">
              <a:buNone/>
            </a:pPr>
            <a:r>
              <a:rPr lang="en-US" sz="1250" dirty="0">
                <a:solidFill>
                  <a:schemeClr val="tx1"/>
                </a:solidFill>
              </a:rPr>
              <a:t>Which claim does it relate to?</a:t>
            </a:r>
            <a:endParaRPr lang="en-US" sz="1250" dirty="0"/>
          </a:p>
        </p:txBody>
      </p:sp>
      <p:sp>
        <p:nvSpPr>
          <p:cNvPr id="32" name="Shape 30"/>
          <p:cNvSpPr/>
          <p:nvPr/>
        </p:nvSpPr>
        <p:spPr>
          <a:xfrm>
            <a:off x="3013634" y="4320540"/>
            <a:ext cx="1600200" cy="0"/>
          </a:xfrm>
          <a:prstGeom prst="line">
            <a:avLst/>
          </a:prstGeom>
          <a:noFill/>
          <a:ln w="9525">
            <a:solidFill>
              <a:schemeClr val="accent6"/>
            </a:solidFill>
            <a:prstDash val="solid"/>
          </a:ln>
        </p:spPr>
      </p:sp>
      <p:sp>
        <p:nvSpPr>
          <p:cNvPr id="33" name="Text 31"/>
          <p:cNvSpPr txBox="1"/>
          <p:nvPr/>
        </p:nvSpPr>
        <p:spPr>
          <a:xfrm>
            <a:off x="3013634" y="4343400"/>
            <a:ext cx="1600200" cy="438912"/>
          </a:xfrm>
          <a:prstGeom prst="rect">
            <a:avLst/>
          </a:prstGeom>
          <a:noFill/>
          <a:ln/>
        </p:spPr>
        <p:txBody>
          <a:bodyPr wrap="square" lIns="0" tIns="0" rIns="0" bIns="0" rtlCol="0" anchor="ctr"/>
          <a:lstStyle/>
          <a:p>
            <a:pPr indent="0" marL="0">
              <a:buNone/>
            </a:pPr>
            <a:r>
              <a:rPr lang="en-US" sz="1250" dirty="0">
                <a:solidFill>
                  <a:schemeClr val="tx1"/>
                </a:solidFill>
              </a:rPr>
              <a:t>Is there later conflicting evidence?</a:t>
            </a:r>
            <a:endParaRPr lang="en-US" sz="1250" dirty="0"/>
          </a:p>
        </p:txBody>
      </p:sp>
      <p:sp>
        <p:nvSpPr>
          <p:cNvPr id="34" name="Shape 32"/>
          <p:cNvSpPr/>
          <p:nvPr/>
        </p:nvSpPr>
        <p:spPr>
          <a:xfrm>
            <a:off x="5112868" y="2761488"/>
            <a:ext cx="1965960" cy="2103120"/>
          </a:xfrm>
          <a:prstGeom prst="roundRect">
            <a:avLst>
              <a:gd name="adj" fmla="val 4651"/>
            </a:avLst>
          </a:prstGeom>
          <a:solidFill>
            <a:schemeClr val="bg1"/>
          </a:solidFill>
          <a:ln w="19050">
            <a:solidFill>
              <a:schemeClr val="tx1"/>
            </a:solidFill>
            <a:prstDash val="solid"/>
          </a:ln>
        </p:spPr>
      </p:sp>
      <p:sp>
        <p:nvSpPr>
          <p:cNvPr id="35" name="Text 33"/>
          <p:cNvSpPr txBox="1"/>
          <p:nvPr/>
        </p:nvSpPr>
        <p:spPr>
          <a:xfrm>
            <a:off x="5341468" y="2889504"/>
            <a:ext cx="1508760" cy="347472"/>
          </a:xfrm>
          <a:prstGeom prst="rect">
            <a:avLst/>
          </a:prstGeom>
          <a:noFill/>
          <a:ln/>
        </p:spPr>
        <p:txBody>
          <a:bodyPr wrap="square" lIns="0" tIns="0" rIns="0" bIns="0" rtlCol="0" anchor="ctr"/>
          <a:lstStyle/>
          <a:p>
            <a:pPr indent="0" marL="0">
              <a:buNone/>
            </a:pPr>
            <a:r>
              <a:rPr lang="en-US" sz="1400" b="1" dirty="0">
                <a:solidFill>
                  <a:schemeClr val="tx1"/>
                </a:solidFill>
              </a:rPr>
              <a:t>Claim</a:t>
            </a:r>
            <a:endParaRPr lang="en-US" sz="1400" dirty="0"/>
          </a:p>
        </p:txBody>
      </p:sp>
      <p:sp>
        <p:nvSpPr>
          <p:cNvPr id="36" name="Shape 34"/>
          <p:cNvSpPr/>
          <p:nvPr/>
        </p:nvSpPr>
        <p:spPr>
          <a:xfrm>
            <a:off x="5341468" y="3255264"/>
            <a:ext cx="1508760" cy="0"/>
          </a:xfrm>
          <a:prstGeom prst="line">
            <a:avLst/>
          </a:prstGeom>
          <a:noFill/>
          <a:ln w="9525">
            <a:solidFill>
              <a:schemeClr val="accent6"/>
            </a:solidFill>
            <a:prstDash val="solid"/>
          </a:ln>
        </p:spPr>
      </p:sp>
      <p:sp>
        <p:nvSpPr>
          <p:cNvPr id="37" name="Text 35"/>
          <p:cNvSpPr txBox="1"/>
          <p:nvPr/>
        </p:nvSpPr>
        <p:spPr>
          <a:xfrm>
            <a:off x="5341468" y="3273552"/>
            <a:ext cx="1508760" cy="347472"/>
          </a:xfrm>
          <a:prstGeom prst="rect">
            <a:avLst/>
          </a:prstGeom>
          <a:noFill/>
          <a:ln/>
        </p:spPr>
        <p:txBody>
          <a:bodyPr wrap="square" lIns="0" tIns="0" rIns="0" bIns="0" rtlCol="0" anchor="ctr"/>
          <a:lstStyle/>
          <a:p>
            <a:pPr indent="0" marL="0">
              <a:buNone/>
            </a:pPr>
            <a:r>
              <a:rPr lang="en-US" sz="1400" b="1" dirty="0">
                <a:solidFill>
                  <a:schemeClr val="tx1"/>
                </a:solidFill>
              </a:rPr>
              <a:t>Evidence</a:t>
            </a:r>
            <a:endParaRPr lang="en-US" sz="1400" dirty="0"/>
          </a:p>
        </p:txBody>
      </p:sp>
      <p:sp>
        <p:nvSpPr>
          <p:cNvPr id="38" name="Shape 36"/>
          <p:cNvSpPr/>
          <p:nvPr/>
        </p:nvSpPr>
        <p:spPr>
          <a:xfrm>
            <a:off x="5341468" y="3639312"/>
            <a:ext cx="1508760" cy="0"/>
          </a:xfrm>
          <a:prstGeom prst="line">
            <a:avLst/>
          </a:prstGeom>
          <a:noFill/>
          <a:ln w="9525">
            <a:solidFill>
              <a:schemeClr val="accent6"/>
            </a:solidFill>
            <a:prstDash val="solid"/>
          </a:ln>
        </p:spPr>
      </p:sp>
      <p:sp>
        <p:nvSpPr>
          <p:cNvPr id="39" name="Text 37"/>
          <p:cNvSpPr txBox="1"/>
          <p:nvPr/>
        </p:nvSpPr>
        <p:spPr>
          <a:xfrm>
            <a:off x="5341468" y="3657600"/>
            <a:ext cx="1508760" cy="347472"/>
          </a:xfrm>
          <a:prstGeom prst="rect">
            <a:avLst/>
          </a:prstGeom>
          <a:noFill/>
          <a:ln/>
        </p:spPr>
        <p:txBody>
          <a:bodyPr wrap="square" lIns="0" tIns="0" rIns="0" bIns="0" rtlCol="0" anchor="ctr"/>
          <a:lstStyle/>
          <a:p>
            <a:pPr indent="0" marL="0">
              <a:buNone/>
            </a:pPr>
            <a:r>
              <a:rPr lang="en-US" sz="1400" b="1" dirty="0">
                <a:solidFill>
                  <a:schemeClr val="tx1"/>
                </a:solidFill>
              </a:rPr>
              <a:t>Source</a:t>
            </a:r>
            <a:endParaRPr lang="en-US" sz="1400" dirty="0"/>
          </a:p>
        </p:txBody>
      </p:sp>
      <p:sp>
        <p:nvSpPr>
          <p:cNvPr id="40" name="Shape 38"/>
          <p:cNvSpPr/>
          <p:nvPr/>
        </p:nvSpPr>
        <p:spPr>
          <a:xfrm>
            <a:off x="5341468" y="4023360"/>
            <a:ext cx="1508760" cy="0"/>
          </a:xfrm>
          <a:prstGeom prst="line">
            <a:avLst/>
          </a:prstGeom>
          <a:noFill/>
          <a:ln w="9525">
            <a:solidFill>
              <a:schemeClr val="accent6"/>
            </a:solidFill>
            <a:prstDash val="solid"/>
          </a:ln>
        </p:spPr>
      </p:sp>
      <p:sp>
        <p:nvSpPr>
          <p:cNvPr id="41" name="Text 39"/>
          <p:cNvSpPr txBox="1"/>
          <p:nvPr/>
        </p:nvSpPr>
        <p:spPr>
          <a:xfrm>
            <a:off x="5341468" y="4041648"/>
            <a:ext cx="1508760" cy="347472"/>
          </a:xfrm>
          <a:prstGeom prst="rect">
            <a:avLst/>
          </a:prstGeom>
          <a:noFill/>
          <a:ln/>
        </p:spPr>
        <p:txBody>
          <a:bodyPr wrap="square" lIns="0" tIns="0" rIns="0" bIns="0" rtlCol="0" anchor="ctr"/>
          <a:lstStyle/>
          <a:p>
            <a:pPr indent="0" marL="0">
              <a:buNone/>
            </a:pPr>
            <a:r>
              <a:rPr lang="en-US" sz="1400" b="1" dirty="0">
                <a:solidFill>
                  <a:schemeClr val="tx1"/>
                </a:solidFill>
              </a:rPr>
              <a:t>Time</a:t>
            </a:r>
            <a:endParaRPr lang="en-US" sz="1400" dirty="0"/>
          </a:p>
        </p:txBody>
      </p:sp>
      <p:sp>
        <p:nvSpPr>
          <p:cNvPr id="42" name="Shape 40"/>
          <p:cNvSpPr/>
          <p:nvPr/>
        </p:nvSpPr>
        <p:spPr>
          <a:xfrm>
            <a:off x="5341468" y="4407408"/>
            <a:ext cx="1508760" cy="0"/>
          </a:xfrm>
          <a:prstGeom prst="line">
            <a:avLst/>
          </a:prstGeom>
          <a:noFill/>
          <a:ln w="9525">
            <a:solidFill>
              <a:schemeClr val="accent6"/>
            </a:solidFill>
            <a:prstDash val="solid"/>
          </a:ln>
        </p:spPr>
      </p:sp>
      <p:sp>
        <p:nvSpPr>
          <p:cNvPr id="43" name="Text 41"/>
          <p:cNvSpPr txBox="1"/>
          <p:nvPr/>
        </p:nvSpPr>
        <p:spPr>
          <a:xfrm>
            <a:off x="5341468" y="4425696"/>
            <a:ext cx="1508760" cy="347472"/>
          </a:xfrm>
          <a:prstGeom prst="rect">
            <a:avLst/>
          </a:prstGeom>
          <a:noFill/>
          <a:ln/>
        </p:spPr>
        <p:txBody>
          <a:bodyPr wrap="square" lIns="0" tIns="0" rIns="0" bIns="0" rtlCol="0" anchor="ctr"/>
          <a:lstStyle/>
          <a:p>
            <a:pPr indent="0" marL="0">
              <a:buNone/>
            </a:pPr>
            <a:r>
              <a:rPr lang="en-US" sz="1400" b="1" dirty="0">
                <a:solidFill>
                  <a:schemeClr val="tx1"/>
                </a:solidFill>
              </a:rPr>
              <a:t>History</a:t>
            </a:r>
            <a:endParaRPr lang="en-US" sz="1400" dirty="0"/>
          </a:p>
        </p:txBody>
      </p:sp>
      <p:sp>
        <p:nvSpPr>
          <p:cNvPr id="44" name="Shape 42"/>
          <p:cNvSpPr/>
          <p:nvPr/>
        </p:nvSpPr>
        <p:spPr>
          <a:xfrm>
            <a:off x="7394981" y="2761488"/>
            <a:ext cx="1965960" cy="2103120"/>
          </a:xfrm>
          <a:prstGeom prst="roundRect">
            <a:avLst>
              <a:gd name="adj" fmla="val 4651"/>
            </a:avLst>
          </a:prstGeom>
          <a:solidFill>
            <a:schemeClr val="bg1"/>
          </a:solidFill>
          <a:ln w="9525">
            <a:solidFill>
              <a:schemeClr val="accent6"/>
            </a:solidFill>
            <a:prstDash val="solid"/>
          </a:ln>
        </p:spPr>
      </p:sp>
      <p:sp>
        <p:nvSpPr>
          <p:cNvPr id="45" name="Shape 43"/>
          <p:cNvSpPr/>
          <p:nvPr/>
        </p:nvSpPr>
        <p:spPr>
          <a:xfrm>
            <a:off x="7669301" y="2944368"/>
            <a:ext cx="1417320" cy="274320"/>
          </a:xfrm>
          <a:prstGeom prst="roundRect">
            <a:avLst>
              <a:gd name="adj" fmla="val 50000"/>
            </a:avLst>
          </a:prstGeom>
          <a:solidFill>
            <a:schemeClr val="accent2">
              <a:alpha val="12000"/>
            </a:schemeClr>
          </a:solidFill>
          <a:ln w="9525">
            <a:solidFill>
              <a:schemeClr val="accent2"/>
            </a:solidFill>
            <a:prstDash val="solid"/>
          </a:ln>
        </p:spPr>
      </p:sp>
      <p:sp>
        <p:nvSpPr>
          <p:cNvPr id="46" name="Text 44"/>
          <p:cNvSpPr txBox="1"/>
          <p:nvPr/>
        </p:nvSpPr>
        <p:spPr>
          <a:xfrm>
            <a:off x="7669301" y="2944368"/>
            <a:ext cx="1417320"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SUPPORTED</a:t>
            </a:r>
            <a:endParaRPr lang="en-US" sz="1050" dirty="0"/>
          </a:p>
        </p:txBody>
      </p:sp>
      <p:sp>
        <p:nvSpPr>
          <p:cNvPr id="47" name="Shape 45"/>
          <p:cNvSpPr/>
          <p:nvPr/>
        </p:nvSpPr>
        <p:spPr>
          <a:xfrm>
            <a:off x="7669301" y="3310128"/>
            <a:ext cx="1417320" cy="274320"/>
          </a:xfrm>
          <a:prstGeom prst="roundRect">
            <a:avLst>
              <a:gd name="adj" fmla="val 50000"/>
            </a:avLst>
          </a:prstGeom>
          <a:solidFill>
            <a:schemeClr val="accent3">
              <a:alpha val="12000"/>
            </a:schemeClr>
          </a:solidFill>
          <a:ln w="9525">
            <a:solidFill>
              <a:schemeClr val="accent3"/>
            </a:solidFill>
            <a:prstDash val="solid"/>
          </a:ln>
        </p:spPr>
      </p:sp>
      <p:sp>
        <p:nvSpPr>
          <p:cNvPr id="48" name="Text 46"/>
          <p:cNvSpPr txBox="1"/>
          <p:nvPr/>
        </p:nvSpPr>
        <p:spPr>
          <a:xfrm>
            <a:off x="7669301" y="3310128"/>
            <a:ext cx="1417320" cy="274320"/>
          </a:xfrm>
          <a:prstGeom prst="rect">
            <a:avLst/>
          </a:prstGeom>
          <a:noFill/>
          <a:ln/>
        </p:spPr>
        <p:txBody>
          <a:bodyPr wrap="square" lIns="0" tIns="0" rIns="0" bIns="0" rtlCol="0" anchor="ctr"/>
          <a:lstStyle/>
          <a:p>
            <a:pPr algn="ctr" indent="0" marL="0">
              <a:buNone/>
            </a:pPr>
            <a:r>
              <a:rPr lang="en-US" sz="1050" b="1" spc="50" kern="0" dirty="0">
                <a:solidFill>
                  <a:schemeClr val="accent3"/>
                </a:solidFill>
              </a:rPr>
              <a:t>UNSUPPORTED</a:t>
            </a:r>
            <a:endParaRPr lang="en-US" sz="1050" dirty="0"/>
          </a:p>
        </p:txBody>
      </p:sp>
      <p:sp>
        <p:nvSpPr>
          <p:cNvPr id="49" name="Shape 47"/>
          <p:cNvSpPr/>
          <p:nvPr/>
        </p:nvSpPr>
        <p:spPr>
          <a:xfrm>
            <a:off x="7669301" y="3675888"/>
            <a:ext cx="1417320" cy="274320"/>
          </a:xfrm>
          <a:prstGeom prst="roundRect">
            <a:avLst>
              <a:gd name="adj" fmla="val 50000"/>
            </a:avLst>
          </a:prstGeom>
          <a:solidFill>
            <a:schemeClr val="accent4">
              <a:alpha val="12000"/>
            </a:schemeClr>
          </a:solidFill>
          <a:ln w="9525">
            <a:solidFill>
              <a:schemeClr val="accent4"/>
            </a:solidFill>
            <a:prstDash val="solid"/>
          </a:ln>
        </p:spPr>
      </p:sp>
      <p:sp>
        <p:nvSpPr>
          <p:cNvPr id="50" name="Text 48"/>
          <p:cNvSpPr txBox="1"/>
          <p:nvPr/>
        </p:nvSpPr>
        <p:spPr>
          <a:xfrm>
            <a:off x="7669301" y="3675888"/>
            <a:ext cx="1417320" cy="274320"/>
          </a:xfrm>
          <a:prstGeom prst="rect">
            <a:avLst/>
          </a:prstGeom>
          <a:noFill/>
          <a:ln/>
        </p:spPr>
        <p:txBody>
          <a:bodyPr wrap="square" lIns="0" tIns="0" rIns="0" bIns="0" rtlCol="0" anchor="ctr"/>
          <a:lstStyle/>
          <a:p>
            <a:pPr algn="ctr" indent="0" marL="0">
              <a:buNone/>
            </a:pPr>
            <a:r>
              <a:rPr lang="en-US" sz="1050" b="1" spc="50" kern="0" dirty="0">
                <a:solidFill>
                  <a:schemeClr val="accent4"/>
                </a:solidFill>
              </a:rPr>
              <a:t>CONTRADICTED</a:t>
            </a:r>
            <a:endParaRPr lang="en-US" sz="1050" dirty="0"/>
          </a:p>
        </p:txBody>
      </p:sp>
      <p:sp>
        <p:nvSpPr>
          <p:cNvPr id="51" name="Shape 49"/>
          <p:cNvSpPr/>
          <p:nvPr/>
        </p:nvSpPr>
        <p:spPr>
          <a:xfrm>
            <a:off x="7669301" y="4041648"/>
            <a:ext cx="1417320" cy="274320"/>
          </a:xfrm>
          <a:prstGeom prst="roundRect">
            <a:avLst>
              <a:gd name="adj" fmla="val 50000"/>
            </a:avLst>
          </a:prstGeom>
          <a:solidFill>
            <a:srgbClr val="8C6A4F">
              <a:alpha val="12000"/>
            </a:srgbClr>
          </a:solidFill>
          <a:ln w="9525">
            <a:solidFill>
              <a:srgbClr val="8C6A4F"/>
            </a:solidFill>
            <a:prstDash val="solid"/>
          </a:ln>
        </p:spPr>
      </p:sp>
      <p:sp>
        <p:nvSpPr>
          <p:cNvPr id="52" name="Text 50"/>
          <p:cNvSpPr txBox="1"/>
          <p:nvPr/>
        </p:nvSpPr>
        <p:spPr>
          <a:xfrm>
            <a:off x="7669301" y="4041648"/>
            <a:ext cx="1417320" cy="274320"/>
          </a:xfrm>
          <a:prstGeom prst="rect">
            <a:avLst/>
          </a:prstGeom>
          <a:noFill/>
          <a:ln/>
        </p:spPr>
        <p:txBody>
          <a:bodyPr wrap="square" lIns="0" tIns="0" rIns="0" bIns="0" rtlCol="0" anchor="ctr"/>
          <a:lstStyle/>
          <a:p>
            <a:pPr algn="ctr" indent="0" marL="0">
              <a:buNone/>
            </a:pPr>
            <a:r>
              <a:rPr lang="en-US" sz="1050" b="1" spc="50" kern="0" dirty="0">
                <a:solidFill>
                  <a:srgbClr val="8C6A4F"/>
                </a:solidFill>
              </a:rPr>
              <a:t>STALE</a:t>
            </a:r>
            <a:endParaRPr lang="en-US" sz="1050" dirty="0"/>
          </a:p>
        </p:txBody>
      </p:sp>
      <p:sp>
        <p:nvSpPr>
          <p:cNvPr id="53" name="Shape 51"/>
          <p:cNvSpPr/>
          <p:nvPr/>
        </p:nvSpPr>
        <p:spPr>
          <a:xfrm>
            <a:off x="7669301" y="4407408"/>
            <a:ext cx="1417320" cy="274320"/>
          </a:xfrm>
          <a:prstGeom prst="roundRect">
            <a:avLst>
              <a:gd name="adj" fmla="val 50000"/>
            </a:avLst>
          </a:prstGeom>
          <a:solidFill>
            <a:schemeClr val="accent5">
              <a:alpha val="12000"/>
            </a:schemeClr>
          </a:solidFill>
          <a:ln w="9525">
            <a:solidFill>
              <a:schemeClr val="accent5"/>
            </a:solidFill>
            <a:prstDash val="solid"/>
          </a:ln>
        </p:spPr>
      </p:sp>
      <p:sp>
        <p:nvSpPr>
          <p:cNvPr id="54" name="Text 52"/>
          <p:cNvSpPr txBox="1"/>
          <p:nvPr/>
        </p:nvSpPr>
        <p:spPr>
          <a:xfrm>
            <a:off x="7669301" y="4407408"/>
            <a:ext cx="1417320" cy="274320"/>
          </a:xfrm>
          <a:prstGeom prst="rect">
            <a:avLst/>
          </a:prstGeom>
          <a:noFill/>
          <a:ln/>
        </p:spPr>
        <p:txBody>
          <a:bodyPr wrap="square" lIns="0" tIns="0" rIns="0" bIns="0" rtlCol="0" anchor="ctr"/>
          <a:lstStyle/>
          <a:p>
            <a:pPr algn="ctr" indent="0" marL="0">
              <a:buNone/>
            </a:pPr>
            <a:r>
              <a:rPr lang="en-US" sz="1050" b="1" spc="50" kern="0" dirty="0">
                <a:solidFill>
                  <a:schemeClr val="accent5"/>
                </a:solidFill>
              </a:rPr>
              <a:t>UNKNOWN</a:t>
            </a:r>
            <a:endParaRPr lang="en-US" sz="1050" dirty="0"/>
          </a:p>
        </p:txBody>
      </p:sp>
      <p:sp>
        <p:nvSpPr>
          <p:cNvPr id="55" name="Shape 53"/>
          <p:cNvSpPr/>
          <p:nvPr/>
        </p:nvSpPr>
        <p:spPr>
          <a:xfrm>
            <a:off x="9677095" y="2761488"/>
            <a:ext cx="1965960" cy="2103120"/>
          </a:xfrm>
          <a:prstGeom prst="roundRect">
            <a:avLst>
              <a:gd name="adj" fmla="val 4651"/>
            </a:avLst>
          </a:prstGeom>
          <a:solidFill>
            <a:schemeClr val="bg1"/>
          </a:solidFill>
          <a:ln w="9525">
            <a:solidFill>
              <a:schemeClr val="accent6"/>
            </a:solidFill>
            <a:prstDash val="solid"/>
          </a:ln>
        </p:spPr>
      </p:sp>
      <p:sp>
        <p:nvSpPr>
          <p:cNvPr id="56" name="Text 54"/>
          <p:cNvSpPr txBox="1"/>
          <p:nvPr/>
        </p:nvSpPr>
        <p:spPr>
          <a:xfrm>
            <a:off x="9859975" y="2871216"/>
            <a:ext cx="1600200" cy="329184"/>
          </a:xfrm>
          <a:prstGeom prst="rect">
            <a:avLst/>
          </a:prstGeom>
          <a:noFill/>
          <a:ln/>
        </p:spPr>
        <p:txBody>
          <a:bodyPr wrap="square" lIns="0" tIns="0" rIns="0" bIns="0" rtlCol="0" anchor="ctr"/>
          <a:lstStyle/>
          <a:p>
            <a:pPr indent="0" marL="0">
              <a:buNone/>
            </a:pPr>
            <a:r>
              <a:rPr lang="en-US" sz="1250" dirty="0">
                <a:solidFill>
                  <a:schemeClr val="tx1"/>
                </a:solidFill>
              </a:rPr>
              <a:t>Manager's forecast</a:t>
            </a:r>
            <a:endParaRPr lang="en-US" sz="1250" dirty="0"/>
          </a:p>
        </p:txBody>
      </p:sp>
      <p:sp>
        <p:nvSpPr>
          <p:cNvPr id="57" name="Text 55"/>
          <p:cNvSpPr txBox="1"/>
          <p:nvPr/>
        </p:nvSpPr>
        <p:spPr>
          <a:xfrm>
            <a:off x="9859975" y="3236976"/>
            <a:ext cx="1600200" cy="329184"/>
          </a:xfrm>
          <a:prstGeom prst="rect">
            <a:avLst/>
          </a:prstGeom>
          <a:noFill/>
          <a:ln/>
        </p:spPr>
        <p:txBody>
          <a:bodyPr wrap="square" lIns="0" tIns="0" rIns="0" bIns="0" rtlCol="0" anchor="ctr"/>
          <a:lstStyle/>
          <a:p>
            <a:pPr indent="0" marL="0">
              <a:buNone/>
            </a:pPr>
            <a:r>
              <a:rPr lang="en-US" sz="1250" dirty="0">
                <a:solidFill>
                  <a:schemeClr val="tx1"/>
                </a:solidFill>
              </a:rPr>
              <a:t>CRM field, as a view</a:t>
            </a:r>
            <a:endParaRPr lang="en-US" sz="1250" dirty="0"/>
          </a:p>
        </p:txBody>
      </p:sp>
      <p:sp>
        <p:nvSpPr>
          <p:cNvPr id="58" name="Text 56"/>
          <p:cNvSpPr txBox="1"/>
          <p:nvPr/>
        </p:nvSpPr>
        <p:spPr>
          <a:xfrm>
            <a:off x="9859975" y="3602736"/>
            <a:ext cx="1600200" cy="329184"/>
          </a:xfrm>
          <a:prstGeom prst="rect">
            <a:avLst/>
          </a:prstGeom>
          <a:noFill/>
          <a:ln/>
        </p:spPr>
        <p:txBody>
          <a:bodyPr wrap="square" lIns="0" tIns="0" rIns="0" bIns="0" rtlCol="0" anchor="ctr"/>
          <a:lstStyle/>
          <a:p>
            <a:pPr indent="0" marL="0">
              <a:buNone/>
            </a:pPr>
            <a:r>
              <a:rPr lang="en-US" sz="1250" dirty="0">
                <a:solidFill>
                  <a:schemeClr val="tx1"/>
                </a:solidFill>
              </a:rPr>
              <a:t>Next question to ask</a:t>
            </a:r>
            <a:endParaRPr lang="en-US" sz="1250" dirty="0"/>
          </a:p>
        </p:txBody>
      </p:sp>
      <p:sp>
        <p:nvSpPr>
          <p:cNvPr id="59" name="Text 57"/>
          <p:cNvSpPr txBox="1"/>
          <p:nvPr/>
        </p:nvSpPr>
        <p:spPr>
          <a:xfrm>
            <a:off x="9859975" y="3968496"/>
            <a:ext cx="1600200" cy="329184"/>
          </a:xfrm>
          <a:prstGeom prst="rect">
            <a:avLst/>
          </a:prstGeom>
          <a:noFill/>
          <a:ln/>
        </p:spPr>
        <p:txBody>
          <a:bodyPr wrap="square" lIns="0" tIns="0" rIns="0" bIns="0" rtlCol="0" anchor="ctr"/>
          <a:lstStyle/>
          <a:p>
            <a:pPr indent="0" marL="0">
              <a:buNone/>
            </a:pPr>
            <a:r>
              <a:rPr lang="en-US" sz="1250" dirty="0">
                <a:solidFill>
                  <a:schemeClr val="tx1"/>
                </a:solidFill>
              </a:rPr>
              <a:t>Review priority</a:t>
            </a:r>
            <a:endParaRPr lang="en-US" sz="1250" dirty="0"/>
          </a:p>
        </p:txBody>
      </p:sp>
      <p:sp>
        <p:nvSpPr>
          <p:cNvPr id="60" name="Text 58"/>
          <p:cNvSpPr txBox="1"/>
          <p:nvPr/>
        </p:nvSpPr>
        <p:spPr>
          <a:xfrm>
            <a:off x="9859975" y="4352544"/>
            <a:ext cx="1600200" cy="420624"/>
          </a:xfrm>
          <a:prstGeom prst="rect">
            <a:avLst/>
          </a:prstGeom>
          <a:noFill/>
          <a:ln/>
        </p:spPr>
        <p:txBody>
          <a:bodyPr wrap="square" lIns="0" tIns="0" rIns="0" bIns="0" rtlCol="0" anchor="ctr"/>
          <a:lstStyle/>
          <a:p>
            <a:pPr indent="0" marL="0">
              <a:buNone/>
            </a:pPr>
            <a:r>
              <a:rPr lang="en-US" sz="1100" i="1" dirty="0">
                <a:solidFill>
                  <a:schemeClr val="accent5"/>
                </a:solidFill>
              </a:rPr>
              <a:t>Logged beside the status. Never rewrites it.</a:t>
            </a:r>
            <a:endParaRPr lang="en-US" sz="1100" dirty="0"/>
          </a:p>
        </p:txBody>
      </p:sp>
      <p:sp>
        <p:nvSpPr>
          <p:cNvPr id="61" name="Shape 59"/>
          <p:cNvSpPr/>
          <p:nvPr/>
        </p:nvSpPr>
        <p:spPr>
          <a:xfrm>
            <a:off x="2560320" y="3813048"/>
            <a:ext cx="224714" cy="0"/>
          </a:xfrm>
          <a:prstGeom prst="line">
            <a:avLst/>
          </a:prstGeom>
          <a:noFill/>
          <a:ln w="15875">
            <a:solidFill>
              <a:schemeClr val="accent5"/>
            </a:solidFill>
            <a:prstDash val="solid"/>
            <a:tailEnd type="triangle"/>
          </a:ln>
        </p:spPr>
      </p:sp>
      <p:sp>
        <p:nvSpPr>
          <p:cNvPr id="62" name="Shape 60"/>
          <p:cNvSpPr/>
          <p:nvPr/>
        </p:nvSpPr>
        <p:spPr>
          <a:xfrm>
            <a:off x="4842434" y="3813048"/>
            <a:ext cx="224714" cy="0"/>
          </a:xfrm>
          <a:prstGeom prst="line">
            <a:avLst/>
          </a:prstGeom>
          <a:noFill/>
          <a:ln w="15875">
            <a:solidFill>
              <a:schemeClr val="accent5"/>
            </a:solidFill>
            <a:prstDash val="solid"/>
            <a:tailEnd type="triangle"/>
          </a:ln>
        </p:spPr>
      </p:sp>
      <p:sp>
        <p:nvSpPr>
          <p:cNvPr id="63" name="Shape 61"/>
          <p:cNvSpPr/>
          <p:nvPr/>
        </p:nvSpPr>
        <p:spPr>
          <a:xfrm>
            <a:off x="7124548" y="3813048"/>
            <a:ext cx="224714" cy="0"/>
          </a:xfrm>
          <a:prstGeom prst="line">
            <a:avLst/>
          </a:prstGeom>
          <a:noFill/>
          <a:ln w="15875">
            <a:solidFill>
              <a:schemeClr val="accent5"/>
            </a:solidFill>
            <a:prstDash val="solid"/>
            <a:tailEnd type="triangle"/>
          </a:ln>
        </p:spPr>
      </p:sp>
      <p:sp>
        <p:nvSpPr>
          <p:cNvPr id="64" name="Shape 62"/>
          <p:cNvSpPr/>
          <p:nvPr/>
        </p:nvSpPr>
        <p:spPr>
          <a:xfrm>
            <a:off x="9406661" y="3813048"/>
            <a:ext cx="224714" cy="0"/>
          </a:xfrm>
          <a:prstGeom prst="line">
            <a:avLst/>
          </a:prstGeom>
          <a:noFill/>
          <a:ln w="15875">
            <a:solidFill>
              <a:schemeClr val="accent5"/>
            </a:solidFill>
            <a:prstDash val="solid"/>
            <a:tailEnd type="triangle"/>
          </a:ln>
        </p:spPr>
      </p:sp>
      <p:sp>
        <p:nvSpPr>
          <p:cNvPr id="65" name="Text 63"/>
          <p:cNvSpPr txBox="1"/>
          <p:nvPr/>
        </p:nvSpPr>
        <p:spPr>
          <a:xfrm>
            <a:off x="2830754" y="4937760"/>
            <a:ext cx="1965960" cy="402336"/>
          </a:xfrm>
          <a:prstGeom prst="rect">
            <a:avLst/>
          </a:prstGeom>
          <a:noFill/>
          <a:ln/>
        </p:spPr>
        <p:txBody>
          <a:bodyPr wrap="square" lIns="0" tIns="0" rIns="0" bIns="0" rtlCol="0" anchor="t"/>
          <a:lstStyle/>
          <a:p>
            <a:pPr indent="0" marL="0">
              <a:buNone/>
            </a:pPr>
            <a:r>
              <a:rPr lang="en-US" sz="1150" b="1" dirty="0">
                <a:solidFill>
                  <a:schemeClr val="tx2"/>
                </a:solidFill>
              </a:rPr>
              <a:t>→ evidence + extraction confidence</a:t>
            </a:r>
            <a:endParaRPr lang="en-US" sz="1150" dirty="0"/>
          </a:p>
        </p:txBody>
      </p:sp>
      <p:sp>
        <p:nvSpPr>
          <p:cNvPr id="66" name="Text 64"/>
          <p:cNvSpPr txBox="1"/>
          <p:nvPr/>
        </p:nvSpPr>
        <p:spPr>
          <a:xfrm>
            <a:off x="5112868" y="4937760"/>
            <a:ext cx="1965960" cy="402336"/>
          </a:xfrm>
          <a:prstGeom prst="rect">
            <a:avLst/>
          </a:prstGeom>
          <a:noFill/>
          <a:ln/>
        </p:spPr>
        <p:txBody>
          <a:bodyPr wrap="square" lIns="0" tIns="0" rIns="0" bIns="0" rtlCol="0" anchor="t"/>
          <a:lstStyle/>
          <a:p>
            <a:pPr indent="0" marL="0">
              <a:buNone/>
            </a:pPr>
            <a:r>
              <a:rPr lang="en-US" sz="1150" b="1" dirty="0">
                <a:solidFill>
                  <a:schemeClr val="tx2"/>
                </a:solidFill>
              </a:rPr>
              <a:t>→ the durable record</a:t>
            </a:r>
            <a:endParaRPr lang="en-US" sz="1150" dirty="0"/>
          </a:p>
        </p:txBody>
      </p:sp>
      <p:sp>
        <p:nvSpPr>
          <p:cNvPr id="67" name="Text 65"/>
          <p:cNvSpPr txBox="1"/>
          <p:nvPr/>
        </p:nvSpPr>
        <p:spPr>
          <a:xfrm>
            <a:off x="7394981" y="4937760"/>
            <a:ext cx="1965960" cy="402336"/>
          </a:xfrm>
          <a:prstGeom prst="rect">
            <a:avLst/>
          </a:prstGeom>
          <a:noFill/>
          <a:ln/>
        </p:spPr>
        <p:txBody>
          <a:bodyPr wrap="square" lIns="0" tIns="0" rIns="0" bIns="0" rtlCol="0" anchor="t"/>
          <a:lstStyle/>
          <a:p>
            <a:pPr indent="0" marL="0">
              <a:buNone/>
            </a:pPr>
            <a:r>
              <a:rPr lang="en-US" sz="1150" b="1" dirty="0">
                <a:solidFill>
                  <a:schemeClr val="tx2"/>
                </a:solidFill>
              </a:rPr>
              <a:t>→ business status</a:t>
            </a:r>
            <a:endParaRPr lang="en-US" sz="1150" dirty="0"/>
          </a:p>
        </p:txBody>
      </p:sp>
      <p:sp>
        <p:nvSpPr>
          <p:cNvPr id="68" name="Text 66"/>
          <p:cNvSpPr txBox="1"/>
          <p:nvPr/>
        </p:nvSpPr>
        <p:spPr>
          <a:xfrm>
            <a:off x="9677095" y="4937760"/>
            <a:ext cx="1965960" cy="402336"/>
          </a:xfrm>
          <a:prstGeom prst="rect">
            <a:avLst/>
          </a:prstGeom>
          <a:noFill/>
          <a:ln/>
        </p:spPr>
        <p:txBody>
          <a:bodyPr wrap="square" lIns="0" tIns="0" rIns="0" bIns="0" rtlCol="0" anchor="t"/>
          <a:lstStyle/>
          <a:p>
            <a:pPr indent="0" marL="0">
              <a:buNone/>
            </a:pPr>
            <a:r>
              <a:rPr lang="en-US" sz="1150" b="1" dirty="0">
                <a:solidFill>
                  <a:schemeClr val="tx2"/>
                </a:solidFill>
              </a:rPr>
              <a:t>→ decision + reason</a:t>
            </a:r>
            <a:endParaRPr lang="en-US" sz="1150" dirty="0"/>
          </a:p>
        </p:txBody>
      </p:sp>
      <p:sp>
        <p:nvSpPr>
          <p:cNvPr id="69" name="Shape 67"/>
          <p:cNvSpPr/>
          <p:nvPr/>
        </p:nvSpPr>
        <p:spPr>
          <a:xfrm>
            <a:off x="548640" y="5468112"/>
            <a:ext cx="11094415" cy="676656"/>
          </a:xfrm>
          <a:prstGeom prst="roundRect">
            <a:avLst>
              <a:gd name="adj" fmla="val 10811"/>
            </a:avLst>
          </a:prstGeom>
          <a:solidFill>
            <a:schemeClr val="accent1">
              <a:alpha val="7000"/>
            </a:schemeClr>
          </a:solidFill>
          <a:ln w="12700">
            <a:solidFill>
              <a:schemeClr val="accent1"/>
            </a:solidFill>
            <a:prstDash val="solid"/>
          </a:ln>
        </p:spPr>
      </p:sp>
      <p:sp>
        <p:nvSpPr>
          <p:cNvPr id="70" name="Text 68"/>
          <p:cNvSpPr txBox="1"/>
          <p:nvPr/>
        </p:nvSpPr>
        <p:spPr>
          <a:xfrm>
            <a:off x="777240" y="5468112"/>
            <a:ext cx="3931920" cy="676656"/>
          </a:xfrm>
          <a:prstGeom prst="rect">
            <a:avLst/>
          </a:prstGeom>
          <a:noFill/>
          <a:ln/>
        </p:spPr>
        <p:txBody>
          <a:bodyPr wrap="square" lIns="0" tIns="0" rIns="0" bIns="0" rtlCol="0" anchor="ctr"/>
          <a:lstStyle/>
          <a:p>
            <a:pPr indent="0" marL="0">
              <a:buNone/>
            </a:pPr>
            <a:r>
              <a:rPr lang="en-US" sz="1600" b="1" dirty="0">
                <a:solidFill>
                  <a:schemeClr val="accent1"/>
                </a:solidFill>
              </a:rPr>
              <a:t>Extraction confidence ≠ business status</a:t>
            </a:r>
            <a:endParaRPr lang="en-US" sz="1600" dirty="0"/>
          </a:p>
        </p:txBody>
      </p:sp>
      <p:sp>
        <p:nvSpPr>
          <p:cNvPr id="71" name="Text 69"/>
          <p:cNvSpPr txBox="1"/>
          <p:nvPr/>
        </p:nvSpPr>
        <p:spPr>
          <a:xfrm>
            <a:off x="4754880" y="5468112"/>
            <a:ext cx="6659575" cy="676656"/>
          </a:xfrm>
          <a:prstGeom prst="rect">
            <a:avLst/>
          </a:prstGeom>
          <a:noFill/>
          <a:ln/>
        </p:spPr>
        <p:txBody>
          <a:bodyPr wrap="square" lIns="0" tIns="0" rIns="0" bIns="0" rtlCol="0" anchor="ctr"/>
          <a:lstStyle/>
          <a:p>
            <a:pPr indent="0" marL="0">
              <a:buNone/>
            </a:pPr>
            <a:r>
              <a:rPr lang="en-US" sz="1300" dirty="0">
                <a:solidFill>
                  <a:schemeClr val="tx1"/>
                </a:solidFill>
              </a:rPr>
              <a:t>The model can be 99% confident the champion said “procurement takes two weeks”. The claim is still Contradicted: a later procurement email disagrees.</a:t>
            </a:r>
            <a:endParaRPr lang="en-US" sz="13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KEY WORKFLOWS</a:t>
            </a:r>
            <a:endParaRPr lang="en-US" sz="1100" dirty="0"/>
          </a:p>
        </p:txBody>
      </p:sp>
      <p:sp>
        <p:nvSpPr>
          <p:cNvPr id="3" name="Text 0"/>
          <p:cNvSpPr/>
          <p:nvPr>
            <p:ph idx="101" type="title" hasCustomPrompt="1"/>
          </p:nvPr>
        </p:nvSpPr>
        <p:spPr>
          <a:xfrm>
            <a:off x="548640" y="603504"/>
            <a:ext cx="11094415" cy="987552"/>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rPr>
              <a:t>One ledger, three jobs: the rep checks first, the manager reviews, RevOps sets the rules.</a:t>
            </a:r>
            <a:endParaRPr lang="en-US" sz="2800" dirty="0"/>
          </a:p>
        </p:txBody>
      </p:sp>
      <p:sp>
        <p:nvSpPr>
          <p:cNvPr id="4" name="Text 0"/>
          <p:cNvSpPr/>
          <p:nvPr>
            <p:ph idx="102" type="body" hasCustomPrompt="1"/>
          </p:nvPr>
        </p:nvSpPr>
        <p:spPr>
          <a:xfrm>
            <a:off x="548640" y="6327648"/>
            <a:ext cx="10287000" cy="384048"/>
          </a:xfrm>
          <a:prstGeom prst="rect">
            <a:avLst/>
          </a:prstGeom>
          <a:noFill/>
          <a:ln/>
        </p:spPr>
        <p:txBody>
          <a:bodyPr wrap="square" lIns="0" tIns="0" rIns="0" bIns="0" rtlCol="0" anchor="t"/>
          <a:lstStyle/>
          <a:p>
            <a:pPr algn="l" indent="0" marL="0">
              <a:buNone/>
            </a:pPr>
            <a:r>
              <a:rPr lang="en-US" sz="1000" dirty="0">
                <a:solidFill>
                  <a:schemeClr val="accent5"/>
                </a:solidFill>
              </a:rPr>
              <a:t>PRODUCT ASSUMPTION  ·  workflow design  ·  screens come from the prototype, a separate deliverable</a:t>
            </a:r>
            <a:endParaRPr lang="en-US" sz="1000" dirty="0"/>
          </a:p>
        </p:txBody>
      </p:sp>
      <p:sp>
        <p:nvSpPr>
          <p:cNvPr id="5" name="Shape 3"/>
          <p:cNvSpPr/>
          <p:nvPr/>
        </p:nvSpPr>
        <p:spPr>
          <a:xfrm>
            <a:off x="548640" y="1828800"/>
            <a:ext cx="8732520" cy="1298448"/>
          </a:xfrm>
          <a:prstGeom prst="roundRect">
            <a:avLst>
              <a:gd name="adj" fmla="val 7042"/>
            </a:avLst>
          </a:prstGeom>
          <a:solidFill>
            <a:schemeClr val="bg1"/>
          </a:solidFill>
          <a:ln w="9525">
            <a:solidFill>
              <a:schemeClr val="accent6"/>
            </a:solidFill>
            <a:prstDash val="solid"/>
          </a:ln>
        </p:spPr>
      </p:sp>
      <p:sp>
        <p:nvSpPr>
          <p:cNvPr id="6" name="Text 4"/>
          <p:cNvSpPr txBox="1"/>
          <p:nvPr/>
        </p:nvSpPr>
        <p:spPr>
          <a:xfrm>
            <a:off x="777240" y="2011680"/>
            <a:ext cx="1463040" cy="347472"/>
          </a:xfrm>
          <a:prstGeom prst="rect">
            <a:avLst/>
          </a:prstGeom>
          <a:noFill/>
          <a:ln/>
        </p:spPr>
        <p:txBody>
          <a:bodyPr wrap="square" lIns="0" tIns="0" rIns="0" bIns="0" rtlCol="0" anchor="t"/>
          <a:lstStyle/>
          <a:p>
            <a:pPr indent="0" marL="0">
              <a:buNone/>
            </a:pPr>
            <a:r>
              <a:rPr lang="en-US" sz="1800" b="1" dirty="0">
                <a:solidFill>
                  <a:schemeClr val="tx1"/>
                </a:solidFill>
              </a:rPr>
              <a:t>Rep</a:t>
            </a:r>
            <a:endParaRPr lang="en-US" sz="1800" dirty="0"/>
          </a:p>
        </p:txBody>
      </p:sp>
      <p:sp>
        <p:nvSpPr>
          <p:cNvPr id="7" name="Text 5"/>
          <p:cNvSpPr txBox="1"/>
          <p:nvPr/>
        </p:nvSpPr>
        <p:spPr>
          <a:xfrm>
            <a:off x="777240" y="2377440"/>
            <a:ext cx="1463040" cy="548640"/>
          </a:xfrm>
          <a:prstGeom prst="rect">
            <a:avLst/>
          </a:prstGeom>
          <a:noFill/>
          <a:ln/>
        </p:spPr>
        <p:txBody>
          <a:bodyPr wrap="square" lIns="0" tIns="0" rIns="0" bIns="0" rtlCol="0" anchor="t"/>
          <a:lstStyle/>
          <a:p>
            <a:pPr indent="0" marL="0">
              <a:buNone/>
            </a:pPr>
            <a:r>
              <a:rPr lang="en-US" sz="1200" dirty="0">
                <a:solidFill>
                  <a:schemeClr val="accent5"/>
                </a:solidFill>
              </a:rPr>
              <a:t>the day before the review</a:t>
            </a:r>
            <a:endParaRPr lang="en-US" sz="1200" dirty="0"/>
          </a:p>
        </p:txBody>
      </p:sp>
      <p:sp>
        <p:nvSpPr>
          <p:cNvPr id="8" name="Shape 6"/>
          <p:cNvSpPr/>
          <p:nvPr/>
        </p:nvSpPr>
        <p:spPr>
          <a:xfrm>
            <a:off x="2331720" y="2011680"/>
            <a:ext cx="0" cy="932688"/>
          </a:xfrm>
          <a:prstGeom prst="line">
            <a:avLst/>
          </a:prstGeom>
          <a:noFill/>
          <a:ln w="9525">
            <a:solidFill>
              <a:schemeClr val="accent6"/>
            </a:solidFill>
            <a:prstDash val="solid"/>
          </a:ln>
        </p:spPr>
      </p:sp>
      <p:sp>
        <p:nvSpPr>
          <p:cNvPr id="9" name="Text 7"/>
          <p:cNvSpPr txBox="1"/>
          <p:nvPr/>
        </p:nvSpPr>
        <p:spPr>
          <a:xfrm>
            <a:off x="2514600" y="1975104"/>
            <a:ext cx="2377440"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SEES</a:t>
            </a:r>
            <a:endParaRPr lang="en-US" sz="1000" dirty="0"/>
          </a:p>
        </p:txBody>
      </p:sp>
      <p:sp>
        <p:nvSpPr>
          <p:cNvPr id="10" name="Text 8"/>
          <p:cNvSpPr txBox="1"/>
          <p:nvPr/>
        </p:nvSpPr>
        <p:spPr>
          <a:xfrm>
            <a:off x="2514600" y="2212848"/>
            <a:ext cx="2423160" cy="822960"/>
          </a:xfrm>
          <a:prstGeom prst="rect">
            <a:avLst/>
          </a:prstGeom>
          <a:noFill/>
          <a:ln/>
        </p:spPr>
        <p:txBody>
          <a:bodyPr wrap="square" lIns="0" tIns="0" rIns="0" bIns="0" rtlCol="0" anchor="t"/>
          <a:lstStyle/>
          <a:p>
            <a:pPr indent="0" marL="0">
              <a:buNone/>
            </a:pPr>
            <a:r>
              <a:rPr lang="en-US" sz="1300" dirty="0">
                <a:solidFill>
                  <a:schemeClr val="tx1"/>
                </a:solidFill>
              </a:rPr>
              <a:t>Their own flags first, before the manager does.</a:t>
            </a:r>
            <a:endParaRPr lang="en-US" sz="1300" dirty="0"/>
          </a:p>
        </p:txBody>
      </p:sp>
      <p:sp>
        <p:nvSpPr>
          <p:cNvPr id="11" name="Text 9"/>
          <p:cNvSpPr txBox="1"/>
          <p:nvPr/>
        </p:nvSpPr>
        <p:spPr>
          <a:xfrm>
            <a:off x="5120640" y="1975104"/>
            <a:ext cx="3931920"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CAN</a:t>
            </a:r>
            <a:endParaRPr lang="en-US" sz="1000" dirty="0"/>
          </a:p>
        </p:txBody>
      </p:sp>
      <p:sp>
        <p:nvSpPr>
          <p:cNvPr id="12" name="Shape 10"/>
          <p:cNvSpPr/>
          <p:nvPr/>
        </p:nvSpPr>
        <p:spPr>
          <a:xfrm>
            <a:off x="5120640" y="2240280"/>
            <a:ext cx="1295888" cy="274320"/>
          </a:xfrm>
          <a:prstGeom prst="roundRect">
            <a:avLst>
              <a:gd name="adj" fmla="val 50000"/>
            </a:avLst>
          </a:prstGeom>
          <a:solidFill>
            <a:schemeClr val="bg1"/>
          </a:solidFill>
          <a:ln w="9525">
            <a:solidFill>
              <a:schemeClr val="accent6"/>
            </a:solidFill>
            <a:prstDash val="solid"/>
          </a:ln>
        </p:spPr>
      </p:sp>
      <p:sp>
        <p:nvSpPr>
          <p:cNvPr id="13" name="Text 11"/>
          <p:cNvSpPr txBox="1"/>
          <p:nvPr/>
        </p:nvSpPr>
        <p:spPr>
          <a:xfrm>
            <a:off x="5120640" y="2240280"/>
            <a:ext cx="1295888" cy="274320"/>
          </a:xfrm>
          <a:prstGeom prst="rect">
            <a:avLst/>
          </a:prstGeom>
          <a:noFill/>
          <a:ln/>
        </p:spPr>
        <p:txBody>
          <a:bodyPr wrap="square" lIns="0" tIns="0" rIns="0" bIns="0" rtlCol="0" anchor="ctr"/>
          <a:lstStyle/>
          <a:p>
            <a:pPr algn="ctr" indent="0" marL="0">
              <a:buNone/>
            </a:pPr>
            <a:r>
              <a:rPr lang="en-US" sz="1050" dirty="0">
                <a:solidFill>
                  <a:schemeClr val="tx2"/>
                </a:solidFill>
              </a:rPr>
              <a:t>Inspect source</a:t>
            </a:r>
            <a:endParaRPr lang="en-US" sz="1050" dirty="0"/>
          </a:p>
        </p:txBody>
      </p:sp>
      <p:sp>
        <p:nvSpPr>
          <p:cNvPr id="14" name="Shape 12"/>
          <p:cNvSpPr/>
          <p:nvPr/>
        </p:nvSpPr>
        <p:spPr>
          <a:xfrm>
            <a:off x="6489680" y="2240280"/>
            <a:ext cx="1368857" cy="274320"/>
          </a:xfrm>
          <a:prstGeom prst="roundRect">
            <a:avLst>
              <a:gd name="adj" fmla="val 50000"/>
            </a:avLst>
          </a:prstGeom>
          <a:solidFill>
            <a:schemeClr val="bg1"/>
          </a:solidFill>
          <a:ln w="9525">
            <a:solidFill>
              <a:schemeClr val="accent6"/>
            </a:solidFill>
            <a:prstDash val="solid"/>
          </a:ln>
        </p:spPr>
      </p:sp>
      <p:sp>
        <p:nvSpPr>
          <p:cNvPr id="15" name="Text 13"/>
          <p:cNvSpPr txBox="1"/>
          <p:nvPr/>
        </p:nvSpPr>
        <p:spPr>
          <a:xfrm>
            <a:off x="6489680" y="2240280"/>
            <a:ext cx="1368857" cy="274320"/>
          </a:xfrm>
          <a:prstGeom prst="rect">
            <a:avLst/>
          </a:prstGeom>
          <a:noFill/>
          <a:ln/>
        </p:spPr>
        <p:txBody>
          <a:bodyPr wrap="square" lIns="0" tIns="0" rIns="0" bIns="0" rtlCol="0" anchor="ctr"/>
          <a:lstStyle/>
          <a:p>
            <a:pPr algn="ctr" indent="0" marL="0">
              <a:buNone/>
            </a:pPr>
            <a:r>
              <a:rPr lang="en-US" sz="1050" dirty="0">
                <a:solidFill>
                  <a:schemeClr val="tx2"/>
                </a:solidFill>
              </a:rPr>
              <a:t>Dispute reading</a:t>
            </a:r>
            <a:endParaRPr lang="en-US" sz="1050" dirty="0"/>
          </a:p>
        </p:txBody>
      </p:sp>
      <p:sp>
        <p:nvSpPr>
          <p:cNvPr id="16" name="Shape 14"/>
          <p:cNvSpPr/>
          <p:nvPr/>
        </p:nvSpPr>
        <p:spPr>
          <a:xfrm>
            <a:off x="7931688" y="2240280"/>
            <a:ext cx="1149949" cy="274320"/>
          </a:xfrm>
          <a:prstGeom prst="roundRect">
            <a:avLst>
              <a:gd name="adj" fmla="val 50000"/>
            </a:avLst>
          </a:prstGeom>
          <a:solidFill>
            <a:schemeClr val="bg1"/>
          </a:solidFill>
          <a:ln w="9525">
            <a:solidFill>
              <a:schemeClr val="accent6"/>
            </a:solidFill>
            <a:prstDash val="solid"/>
          </a:ln>
        </p:spPr>
      </p:sp>
      <p:sp>
        <p:nvSpPr>
          <p:cNvPr id="17" name="Text 15"/>
          <p:cNvSpPr txBox="1"/>
          <p:nvPr/>
        </p:nvSpPr>
        <p:spPr>
          <a:xfrm>
            <a:off x="7931688" y="2240280"/>
            <a:ext cx="1149949" cy="274320"/>
          </a:xfrm>
          <a:prstGeom prst="rect">
            <a:avLst/>
          </a:prstGeom>
          <a:noFill/>
          <a:ln/>
        </p:spPr>
        <p:txBody>
          <a:bodyPr wrap="square" lIns="0" tIns="0" rIns="0" bIns="0" rtlCol="0" anchor="ctr"/>
          <a:lstStyle/>
          <a:p>
            <a:pPr algn="ctr" indent="0" marL="0">
              <a:buNone/>
            </a:pPr>
            <a:r>
              <a:rPr lang="en-US" sz="1050" dirty="0">
                <a:solidFill>
                  <a:schemeClr val="tx2"/>
                </a:solidFill>
              </a:rPr>
              <a:t>Add evidence</a:t>
            </a:r>
            <a:endParaRPr lang="en-US" sz="1050" dirty="0"/>
          </a:p>
        </p:txBody>
      </p:sp>
      <p:sp>
        <p:nvSpPr>
          <p:cNvPr id="18" name="Shape 16"/>
          <p:cNvSpPr/>
          <p:nvPr/>
        </p:nvSpPr>
        <p:spPr>
          <a:xfrm>
            <a:off x="5120640" y="2606040"/>
            <a:ext cx="1441826" cy="274320"/>
          </a:xfrm>
          <a:prstGeom prst="roundRect">
            <a:avLst>
              <a:gd name="adj" fmla="val 50000"/>
            </a:avLst>
          </a:prstGeom>
          <a:solidFill>
            <a:schemeClr val="bg1"/>
          </a:solidFill>
          <a:ln w="9525">
            <a:solidFill>
              <a:schemeClr val="accent6"/>
            </a:solidFill>
            <a:prstDash val="solid"/>
          </a:ln>
        </p:spPr>
      </p:sp>
      <p:sp>
        <p:nvSpPr>
          <p:cNvPr id="19" name="Text 17"/>
          <p:cNvSpPr txBox="1"/>
          <p:nvPr/>
        </p:nvSpPr>
        <p:spPr>
          <a:xfrm>
            <a:off x="5120640" y="2606040"/>
            <a:ext cx="1441826" cy="274320"/>
          </a:xfrm>
          <a:prstGeom prst="rect">
            <a:avLst/>
          </a:prstGeom>
          <a:noFill/>
          <a:ln/>
        </p:spPr>
        <p:txBody>
          <a:bodyPr wrap="square" lIns="0" tIns="0" rIns="0" bIns="0" rtlCol="0" anchor="ctr"/>
          <a:lstStyle/>
          <a:p>
            <a:pPr algn="ctr" indent="0" marL="0">
              <a:buNone/>
            </a:pPr>
            <a:r>
              <a:rPr lang="en-US" sz="1050" dirty="0">
                <a:solidFill>
                  <a:schemeClr val="tx2"/>
                </a:solidFill>
              </a:rPr>
              <a:t>Fix CRM manually</a:t>
            </a:r>
            <a:endParaRPr lang="en-US" sz="1050" dirty="0"/>
          </a:p>
        </p:txBody>
      </p:sp>
      <p:sp>
        <p:nvSpPr>
          <p:cNvPr id="20" name="Shape 18"/>
          <p:cNvSpPr/>
          <p:nvPr/>
        </p:nvSpPr>
        <p:spPr>
          <a:xfrm>
            <a:off x="6635618" y="2606040"/>
            <a:ext cx="1441826" cy="274320"/>
          </a:xfrm>
          <a:prstGeom prst="roundRect">
            <a:avLst>
              <a:gd name="adj" fmla="val 50000"/>
            </a:avLst>
          </a:prstGeom>
          <a:solidFill>
            <a:schemeClr val="bg1"/>
          </a:solidFill>
          <a:ln w="9525">
            <a:solidFill>
              <a:schemeClr val="accent6"/>
            </a:solidFill>
            <a:prstDash val="solid"/>
          </a:ln>
        </p:spPr>
      </p:sp>
      <p:sp>
        <p:nvSpPr>
          <p:cNvPr id="21" name="Text 19"/>
          <p:cNvSpPr txBox="1"/>
          <p:nvPr/>
        </p:nvSpPr>
        <p:spPr>
          <a:xfrm>
            <a:off x="6635618" y="2606040"/>
            <a:ext cx="1441826" cy="274320"/>
          </a:xfrm>
          <a:prstGeom prst="rect">
            <a:avLst/>
          </a:prstGeom>
          <a:noFill/>
          <a:ln/>
        </p:spPr>
        <p:txBody>
          <a:bodyPr wrap="square" lIns="0" tIns="0" rIns="0" bIns="0" rtlCol="0" anchor="ctr"/>
          <a:lstStyle/>
          <a:p>
            <a:pPr algn="ctr" indent="0" marL="0">
              <a:buNone/>
            </a:pPr>
            <a:r>
              <a:rPr lang="en-US" sz="1050" dirty="0">
                <a:solidFill>
                  <a:schemeClr val="tx2"/>
                </a:solidFill>
              </a:rPr>
              <a:t>Ask the customer</a:t>
            </a:r>
            <a:endParaRPr lang="en-US" sz="1050" dirty="0"/>
          </a:p>
        </p:txBody>
      </p:sp>
      <p:sp>
        <p:nvSpPr>
          <p:cNvPr id="22" name="Shape 20"/>
          <p:cNvSpPr/>
          <p:nvPr/>
        </p:nvSpPr>
        <p:spPr>
          <a:xfrm>
            <a:off x="548640" y="3255264"/>
            <a:ext cx="8732520" cy="1298448"/>
          </a:xfrm>
          <a:prstGeom prst="roundRect">
            <a:avLst>
              <a:gd name="adj" fmla="val 7042"/>
            </a:avLst>
          </a:prstGeom>
          <a:solidFill>
            <a:schemeClr val="bg1"/>
          </a:solidFill>
          <a:ln w="15875">
            <a:solidFill>
              <a:schemeClr val="tx1"/>
            </a:solidFill>
            <a:prstDash val="solid"/>
          </a:ln>
        </p:spPr>
      </p:sp>
      <p:sp>
        <p:nvSpPr>
          <p:cNvPr id="23" name="Text 21"/>
          <p:cNvSpPr txBox="1"/>
          <p:nvPr/>
        </p:nvSpPr>
        <p:spPr>
          <a:xfrm>
            <a:off x="777240" y="3438144"/>
            <a:ext cx="1463040" cy="347472"/>
          </a:xfrm>
          <a:prstGeom prst="rect">
            <a:avLst/>
          </a:prstGeom>
          <a:noFill/>
          <a:ln/>
        </p:spPr>
        <p:txBody>
          <a:bodyPr wrap="square" lIns="0" tIns="0" rIns="0" bIns="0" rtlCol="0" anchor="t"/>
          <a:lstStyle/>
          <a:p>
            <a:pPr indent="0" marL="0">
              <a:buNone/>
            </a:pPr>
            <a:r>
              <a:rPr lang="en-US" sz="1800" b="1" dirty="0">
                <a:solidFill>
                  <a:schemeClr val="tx1"/>
                </a:solidFill>
              </a:rPr>
              <a:t>Manager</a:t>
            </a:r>
            <a:endParaRPr lang="en-US" sz="1800" dirty="0"/>
          </a:p>
        </p:txBody>
      </p:sp>
      <p:sp>
        <p:nvSpPr>
          <p:cNvPr id="24" name="Text 22"/>
          <p:cNvSpPr txBox="1"/>
          <p:nvPr/>
        </p:nvSpPr>
        <p:spPr>
          <a:xfrm>
            <a:off x="777240" y="3803904"/>
            <a:ext cx="1463040" cy="548640"/>
          </a:xfrm>
          <a:prstGeom prst="rect">
            <a:avLst/>
          </a:prstGeom>
          <a:noFill/>
          <a:ln/>
        </p:spPr>
        <p:txBody>
          <a:bodyPr wrap="square" lIns="0" tIns="0" rIns="0" bIns="0" rtlCol="0" anchor="t"/>
          <a:lstStyle/>
          <a:p>
            <a:pPr indent="0" marL="0">
              <a:buNone/>
            </a:pPr>
            <a:r>
              <a:rPr lang="en-US" sz="1200" dirty="0">
                <a:solidFill>
                  <a:schemeClr val="accent5"/>
                </a:solidFill>
              </a:rPr>
              <a:t>at the forecast review</a:t>
            </a:r>
            <a:endParaRPr lang="en-US" sz="1200" dirty="0"/>
          </a:p>
        </p:txBody>
      </p:sp>
      <p:sp>
        <p:nvSpPr>
          <p:cNvPr id="25" name="Shape 23"/>
          <p:cNvSpPr/>
          <p:nvPr/>
        </p:nvSpPr>
        <p:spPr>
          <a:xfrm>
            <a:off x="2331720" y="3438144"/>
            <a:ext cx="0" cy="932688"/>
          </a:xfrm>
          <a:prstGeom prst="line">
            <a:avLst/>
          </a:prstGeom>
          <a:noFill/>
          <a:ln w="9525">
            <a:solidFill>
              <a:schemeClr val="accent6"/>
            </a:solidFill>
            <a:prstDash val="solid"/>
          </a:ln>
        </p:spPr>
      </p:sp>
      <p:sp>
        <p:nvSpPr>
          <p:cNvPr id="26" name="Text 24"/>
          <p:cNvSpPr txBox="1"/>
          <p:nvPr/>
        </p:nvSpPr>
        <p:spPr>
          <a:xfrm>
            <a:off x="2514600" y="3401568"/>
            <a:ext cx="2377440"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SEES</a:t>
            </a:r>
            <a:endParaRPr lang="en-US" sz="1000" dirty="0"/>
          </a:p>
        </p:txBody>
      </p:sp>
      <p:sp>
        <p:nvSpPr>
          <p:cNvPr id="27" name="Text 25"/>
          <p:cNvSpPr txBox="1"/>
          <p:nvPr/>
        </p:nvSpPr>
        <p:spPr>
          <a:xfrm>
            <a:off x="2514600" y="3639312"/>
            <a:ext cx="2423160" cy="822960"/>
          </a:xfrm>
          <a:prstGeom prst="rect">
            <a:avLst/>
          </a:prstGeom>
          <a:noFill/>
          <a:ln/>
        </p:spPr>
        <p:txBody>
          <a:bodyPr wrap="square" lIns="0" tIns="0" rIns="0" bIns="0" rtlCol="0" anchor="t"/>
          <a:lstStyle/>
          <a:p>
            <a:pPr indent="0" marL="0">
              <a:buNone/>
            </a:pPr>
            <a:r>
              <a:rPr lang="en-US" sz="1300" dirty="0">
                <a:solidFill>
                  <a:schemeClr val="tx1"/>
                </a:solidFill>
              </a:rPr>
              <a:t>Only priority deals: Commit or Best Case with an unsupported or contradicted claim.</a:t>
            </a:r>
            <a:endParaRPr lang="en-US" sz="1300" dirty="0"/>
          </a:p>
        </p:txBody>
      </p:sp>
      <p:sp>
        <p:nvSpPr>
          <p:cNvPr id="28" name="Text 26"/>
          <p:cNvSpPr txBox="1"/>
          <p:nvPr/>
        </p:nvSpPr>
        <p:spPr>
          <a:xfrm>
            <a:off x="5120640" y="3401568"/>
            <a:ext cx="3931920"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CAN</a:t>
            </a:r>
            <a:endParaRPr lang="en-US" sz="1000" dirty="0"/>
          </a:p>
        </p:txBody>
      </p:sp>
      <p:sp>
        <p:nvSpPr>
          <p:cNvPr id="29" name="Shape 27"/>
          <p:cNvSpPr/>
          <p:nvPr/>
        </p:nvSpPr>
        <p:spPr>
          <a:xfrm>
            <a:off x="5120640" y="3666744"/>
            <a:ext cx="1295888" cy="274320"/>
          </a:xfrm>
          <a:prstGeom prst="roundRect">
            <a:avLst>
              <a:gd name="adj" fmla="val 50000"/>
            </a:avLst>
          </a:prstGeom>
          <a:solidFill>
            <a:schemeClr val="bg1"/>
          </a:solidFill>
          <a:ln w="9525">
            <a:solidFill>
              <a:schemeClr val="accent6"/>
            </a:solidFill>
            <a:prstDash val="solid"/>
          </a:ln>
        </p:spPr>
      </p:sp>
      <p:sp>
        <p:nvSpPr>
          <p:cNvPr id="30" name="Text 28"/>
          <p:cNvSpPr txBox="1"/>
          <p:nvPr/>
        </p:nvSpPr>
        <p:spPr>
          <a:xfrm>
            <a:off x="5120640" y="3666744"/>
            <a:ext cx="1295888" cy="274320"/>
          </a:xfrm>
          <a:prstGeom prst="rect">
            <a:avLst/>
          </a:prstGeom>
          <a:noFill/>
          <a:ln/>
        </p:spPr>
        <p:txBody>
          <a:bodyPr wrap="square" lIns="0" tIns="0" rIns="0" bIns="0" rtlCol="0" anchor="ctr"/>
          <a:lstStyle/>
          <a:p>
            <a:pPr algn="ctr" indent="0" marL="0">
              <a:buNone/>
            </a:pPr>
            <a:r>
              <a:rPr lang="en-US" sz="1050" dirty="0">
                <a:solidFill>
                  <a:schemeClr val="tx2"/>
                </a:solidFill>
              </a:rPr>
              <a:t>Open Castellan</a:t>
            </a:r>
            <a:endParaRPr lang="en-US" sz="1050" dirty="0"/>
          </a:p>
        </p:txBody>
      </p:sp>
      <p:sp>
        <p:nvSpPr>
          <p:cNvPr id="31" name="Shape 29"/>
          <p:cNvSpPr/>
          <p:nvPr/>
        </p:nvSpPr>
        <p:spPr>
          <a:xfrm>
            <a:off x="6489680" y="3666744"/>
            <a:ext cx="1733702" cy="274320"/>
          </a:xfrm>
          <a:prstGeom prst="roundRect">
            <a:avLst>
              <a:gd name="adj" fmla="val 50000"/>
            </a:avLst>
          </a:prstGeom>
          <a:solidFill>
            <a:schemeClr val="bg1"/>
          </a:solidFill>
          <a:ln w="9525">
            <a:solidFill>
              <a:schemeClr val="accent6"/>
            </a:solidFill>
            <a:prstDash val="solid"/>
          </a:ln>
        </p:spPr>
      </p:sp>
      <p:sp>
        <p:nvSpPr>
          <p:cNvPr id="32" name="Text 30"/>
          <p:cNvSpPr txBox="1"/>
          <p:nvPr/>
        </p:nvSpPr>
        <p:spPr>
          <a:xfrm>
            <a:off x="6489680" y="3666744"/>
            <a:ext cx="1733702" cy="274320"/>
          </a:xfrm>
          <a:prstGeom prst="rect">
            <a:avLst/>
          </a:prstGeom>
          <a:noFill/>
          <a:ln/>
        </p:spPr>
        <p:txBody>
          <a:bodyPr wrap="square" lIns="0" tIns="0" rIns="0" bIns="0" rtlCol="0" anchor="ctr"/>
          <a:lstStyle/>
          <a:p>
            <a:pPr algn="ctr" indent="0" marL="0">
              <a:buNone/>
            </a:pPr>
            <a:r>
              <a:rPr lang="en-US" sz="1050" dirty="0">
                <a:solidFill>
                  <a:schemeClr val="tx2"/>
                </a:solidFill>
              </a:rPr>
              <a:t>Inspect exact source</a:t>
            </a:r>
            <a:endParaRPr lang="en-US" sz="1050" dirty="0"/>
          </a:p>
        </p:txBody>
      </p:sp>
      <p:sp>
        <p:nvSpPr>
          <p:cNvPr id="33" name="Shape 31"/>
          <p:cNvSpPr/>
          <p:nvPr/>
        </p:nvSpPr>
        <p:spPr>
          <a:xfrm>
            <a:off x="5120640" y="4032504"/>
            <a:ext cx="1879641" cy="274320"/>
          </a:xfrm>
          <a:prstGeom prst="roundRect">
            <a:avLst>
              <a:gd name="adj" fmla="val 50000"/>
            </a:avLst>
          </a:prstGeom>
          <a:solidFill>
            <a:schemeClr val="bg1"/>
          </a:solidFill>
          <a:ln w="9525">
            <a:solidFill>
              <a:schemeClr val="accent6"/>
            </a:solidFill>
            <a:prstDash val="solid"/>
          </a:ln>
        </p:spPr>
      </p:sp>
      <p:sp>
        <p:nvSpPr>
          <p:cNvPr id="34" name="Text 32"/>
          <p:cNvSpPr txBox="1"/>
          <p:nvPr/>
        </p:nvSpPr>
        <p:spPr>
          <a:xfrm>
            <a:off x="5120640" y="4032504"/>
            <a:ext cx="1879641" cy="274320"/>
          </a:xfrm>
          <a:prstGeom prst="rect">
            <a:avLst/>
          </a:prstGeom>
          <a:noFill/>
          <a:ln/>
        </p:spPr>
        <p:txBody>
          <a:bodyPr wrap="square" lIns="0" tIns="0" rIns="0" bIns="0" rtlCol="0" anchor="ctr"/>
          <a:lstStyle/>
          <a:p>
            <a:pPr algn="ctr" indent="0" marL="0">
              <a:buNone/>
            </a:pPr>
            <a:r>
              <a:rPr lang="en-US" sz="1050" dirty="0">
                <a:solidFill>
                  <a:schemeClr val="tx2"/>
                </a:solidFill>
              </a:rPr>
              <a:t>Ask the right question</a:t>
            </a:r>
            <a:endParaRPr lang="en-US" sz="1050" dirty="0"/>
          </a:p>
        </p:txBody>
      </p:sp>
      <p:sp>
        <p:nvSpPr>
          <p:cNvPr id="35" name="Shape 33"/>
          <p:cNvSpPr/>
          <p:nvPr/>
        </p:nvSpPr>
        <p:spPr>
          <a:xfrm>
            <a:off x="7073433" y="4032504"/>
            <a:ext cx="1879641" cy="274320"/>
          </a:xfrm>
          <a:prstGeom prst="roundRect">
            <a:avLst>
              <a:gd name="adj" fmla="val 50000"/>
            </a:avLst>
          </a:prstGeom>
          <a:solidFill>
            <a:schemeClr val="bg1"/>
          </a:solidFill>
          <a:ln w="9525">
            <a:solidFill>
              <a:schemeClr val="accent6"/>
            </a:solidFill>
            <a:prstDash val="solid"/>
          </a:ln>
        </p:spPr>
      </p:sp>
      <p:sp>
        <p:nvSpPr>
          <p:cNvPr id="36" name="Text 34"/>
          <p:cNvSpPr txBox="1"/>
          <p:nvPr/>
        </p:nvSpPr>
        <p:spPr>
          <a:xfrm>
            <a:off x="7073433" y="4032504"/>
            <a:ext cx="1879641" cy="274320"/>
          </a:xfrm>
          <a:prstGeom prst="rect">
            <a:avLst/>
          </a:prstGeom>
          <a:noFill/>
          <a:ln/>
        </p:spPr>
        <p:txBody>
          <a:bodyPr wrap="square" lIns="0" tIns="0" rIns="0" bIns="0" rtlCol="0" anchor="ctr"/>
          <a:lstStyle/>
          <a:p>
            <a:pPr algn="ctr" indent="0" marL="0">
              <a:buNone/>
            </a:pPr>
            <a:r>
              <a:rPr lang="en-US" sz="1050" dirty="0">
                <a:solidFill>
                  <a:schemeClr val="tx2"/>
                </a:solidFill>
              </a:rPr>
              <a:t>Make the forecast call</a:t>
            </a:r>
            <a:endParaRPr lang="en-US" sz="1050" dirty="0"/>
          </a:p>
        </p:txBody>
      </p:sp>
      <p:sp>
        <p:nvSpPr>
          <p:cNvPr id="37" name="Shape 35"/>
          <p:cNvSpPr/>
          <p:nvPr/>
        </p:nvSpPr>
        <p:spPr>
          <a:xfrm>
            <a:off x="548640" y="4681728"/>
            <a:ext cx="8732520" cy="1298448"/>
          </a:xfrm>
          <a:prstGeom prst="roundRect">
            <a:avLst>
              <a:gd name="adj" fmla="val 7042"/>
            </a:avLst>
          </a:prstGeom>
          <a:solidFill>
            <a:schemeClr val="bg1"/>
          </a:solidFill>
          <a:ln w="9525">
            <a:solidFill>
              <a:schemeClr val="accent6"/>
            </a:solidFill>
            <a:prstDash val="solid"/>
          </a:ln>
        </p:spPr>
      </p:sp>
      <p:sp>
        <p:nvSpPr>
          <p:cNvPr id="38" name="Text 36"/>
          <p:cNvSpPr txBox="1"/>
          <p:nvPr/>
        </p:nvSpPr>
        <p:spPr>
          <a:xfrm>
            <a:off x="777240" y="4864608"/>
            <a:ext cx="1463040" cy="347472"/>
          </a:xfrm>
          <a:prstGeom prst="rect">
            <a:avLst/>
          </a:prstGeom>
          <a:noFill/>
          <a:ln/>
        </p:spPr>
        <p:txBody>
          <a:bodyPr wrap="square" lIns="0" tIns="0" rIns="0" bIns="0" rtlCol="0" anchor="t"/>
          <a:lstStyle/>
          <a:p>
            <a:pPr indent="0" marL="0">
              <a:buNone/>
            </a:pPr>
            <a:r>
              <a:rPr lang="en-US" sz="1800" b="1" dirty="0">
                <a:solidFill>
                  <a:schemeClr val="tx1"/>
                </a:solidFill>
              </a:rPr>
              <a:t>RevOps</a:t>
            </a:r>
            <a:endParaRPr lang="en-US" sz="1800" dirty="0"/>
          </a:p>
        </p:txBody>
      </p:sp>
      <p:sp>
        <p:nvSpPr>
          <p:cNvPr id="39" name="Text 37"/>
          <p:cNvSpPr txBox="1"/>
          <p:nvPr/>
        </p:nvSpPr>
        <p:spPr>
          <a:xfrm>
            <a:off x="777240" y="5230368"/>
            <a:ext cx="1463040" cy="548640"/>
          </a:xfrm>
          <a:prstGeom prst="rect">
            <a:avLst/>
          </a:prstGeom>
          <a:noFill/>
          <a:ln/>
        </p:spPr>
        <p:txBody>
          <a:bodyPr wrap="square" lIns="0" tIns="0" rIns="0" bIns="0" rtlCol="0" anchor="t"/>
          <a:lstStyle/>
          <a:p>
            <a:pPr indent="0" marL="0">
              <a:buNone/>
            </a:pPr>
            <a:r>
              <a:rPr lang="en-US" sz="1200" dirty="0">
                <a:solidFill>
                  <a:schemeClr val="accent5"/>
                </a:solidFill>
              </a:rPr>
              <a:t>setup, then tuning</a:t>
            </a:r>
            <a:endParaRPr lang="en-US" sz="1200" dirty="0"/>
          </a:p>
        </p:txBody>
      </p:sp>
      <p:sp>
        <p:nvSpPr>
          <p:cNvPr id="40" name="Shape 38"/>
          <p:cNvSpPr/>
          <p:nvPr/>
        </p:nvSpPr>
        <p:spPr>
          <a:xfrm>
            <a:off x="2331720" y="4864608"/>
            <a:ext cx="0" cy="932688"/>
          </a:xfrm>
          <a:prstGeom prst="line">
            <a:avLst/>
          </a:prstGeom>
          <a:noFill/>
          <a:ln w="9525">
            <a:solidFill>
              <a:schemeClr val="accent6"/>
            </a:solidFill>
            <a:prstDash val="solid"/>
          </a:ln>
        </p:spPr>
      </p:sp>
      <p:sp>
        <p:nvSpPr>
          <p:cNvPr id="41" name="Text 39"/>
          <p:cNvSpPr txBox="1"/>
          <p:nvPr/>
        </p:nvSpPr>
        <p:spPr>
          <a:xfrm>
            <a:off x="2514600" y="4828032"/>
            <a:ext cx="2377440"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OWNS</a:t>
            </a:r>
            <a:endParaRPr lang="en-US" sz="1000" dirty="0"/>
          </a:p>
        </p:txBody>
      </p:sp>
      <p:sp>
        <p:nvSpPr>
          <p:cNvPr id="42" name="Text 40"/>
          <p:cNvSpPr txBox="1"/>
          <p:nvPr/>
        </p:nvSpPr>
        <p:spPr>
          <a:xfrm>
            <a:off x="2514600" y="5065776"/>
            <a:ext cx="2423160" cy="822960"/>
          </a:xfrm>
          <a:prstGeom prst="rect">
            <a:avLst/>
          </a:prstGeom>
          <a:noFill/>
          <a:ln/>
        </p:spPr>
        <p:txBody>
          <a:bodyPr wrap="square" lIns="0" tIns="0" rIns="0" bIns="0" rtlCol="0" anchor="t"/>
          <a:lstStyle/>
          <a:p>
            <a:pPr indent="0" marL="0">
              <a:buNone/>
            </a:pPr>
            <a:r>
              <a:rPr lang="en-US" sz="1300" dirty="0">
                <a:solidFill>
                  <a:schemeClr val="tx1"/>
                </a:solidFill>
              </a:rPr>
              <a:t>A simple policy, not arbitrary logic.</a:t>
            </a:r>
            <a:endParaRPr lang="en-US" sz="1300" dirty="0"/>
          </a:p>
        </p:txBody>
      </p:sp>
      <p:sp>
        <p:nvSpPr>
          <p:cNvPr id="43" name="Text 41"/>
          <p:cNvSpPr txBox="1"/>
          <p:nvPr/>
        </p:nvSpPr>
        <p:spPr>
          <a:xfrm>
            <a:off x="5120640" y="4828032"/>
            <a:ext cx="3931920"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DEFINES</a:t>
            </a:r>
            <a:endParaRPr lang="en-US" sz="1000" dirty="0"/>
          </a:p>
        </p:txBody>
      </p:sp>
      <p:sp>
        <p:nvSpPr>
          <p:cNvPr id="44" name="Shape 42"/>
          <p:cNvSpPr/>
          <p:nvPr/>
        </p:nvSpPr>
        <p:spPr>
          <a:xfrm>
            <a:off x="5120640" y="5093208"/>
            <a:ext cx="1004011" cy="274320"/>
          </a:xfrm>
          <a:prstGeom prst="roundRect">
            <a:avLst>
              <a:gd name="adj" fmla="val 50000"/>
            </a:avLst>
          </a:prstGeom>
          <a:solidFill>
            <a:schemeClr val="bg1"/>
          </a:solidFill>
          <a:ln w="9525">
            <a:solidFill>
              <a:schemeClr val="accent6"/>
            </a:solidFill>
            <a:prstDash val="solid"/>
          </a:ln>
        </p:spPr>
      </p:sp>
      <p:sp>
        <p:nvSpPr>
          <p:cNvPr id="45" name="Text 43"/>
          <p:cNvSpPr txBox="1"/>
          <p:nvPr/>
        </p:nvSpPr>
        <p:spPr>
          <a:xfrm>
            <a:off x="5120640" y="5093208"/>
            <a:ext cx="1004011" cy="274320"/>
          </a:xfrm>
          <a:prstGeom prst="rect">
            <a:avLst/>
          </a:prstGeom>
          <a:noFill/>
          <a:ln/>
        </p:spPr>
        <p:txBody>
          <a:bodyPr wrap="square" lIns="0" tIns="0" rIns="0" bIns="0" rtlCol="0" anchor="ctr"/>
          <a:lstStyle/>
          <a:p>
            <a:pPr algn="ctr" indent="0" marL="0">
              <a:buNone/>
            </a:pPr>
            <a:r>
              <a:rPr lang="en-US" sz="1050" dirty="0">
                <a:solidFill>
                  <a:schemeClr val="tx2"/>
                </a:solidFill>
              </a:rPr>
              <a:t>5–8 claims</a:t>
            </a:r>
            <a:endParaRPr lang="en-US" sz="1050" dirty="0"/>
          </a:p>
        </p:txBody>
      </p:sp>
      <p:sp>
        <p:nvSpPr>
          <p:cNvPr id="46" name="Shape 44"/>
          <p:cNvSpPr/>
          <p:nvPr/>
        </p:nvSpPr>
        <p:spPr>
          <a:xfrm>
            <a:off x="6197803" y="5093208"/>
            <a:ext cx="1441826" cy="274320"/>
          </a:xfrm>
          <a:prstGeom prst="roundRect">
            <a:avLst>
              <a:gd name="adj" fmla="val 50000"/>
            </a:avLst>
          </a:prstGeom>
          <a:solidFill>
            <a:schemeClr val="bg1"/>
          </a:solidFill>
          <a:ln w="9525">
            <a:solidFill>
              <a:schemeClr val="accent6"/>
            </a:solidFill>
            <a:prstDash val="solid"/>
          </a:ln>
        </p:spPr>
      </p:sp>
      <p:sp>
        <p:nvSpPr>
          <p:cNvPr id="47" name="Text 45"/>
          <p:cNvSpPr txBox="1"/>
          <p:nvPr/>
        </p:nvSpPr>
        <p:spPr>
          <a:xfrm>
            <a:off x="6197803" y="5093208"/>
            <a:ext cx="1441826" cy="274320"/>
          </a:xfrm>
          <a:prstGeom prst="rect">
            <a:avLst/>
          </a:prstGeom>
          <a:noFill/>
          <a:ln/>
        </p:spPr>
        <p:txBody>
          <a:bodyPr wrap="square" lIns="0" tIns="0" rIns="0" bIns="0" rtlCol="0" anchor="ctr"/>
          <a:lstStyle/>
          <a:p>
            <a:pPr algn="ctr" indent="0" marL="0">
              <a:buNone/>
            </a:pPr>
            <a:r>
              <a:rPr lang="en-US" sz="1050" dirty="0">
                <a:solidFill>
                  <a:schemeClr val="tx2"/>
                </a:solidFill>
              </a:rPr>
              <a:t>Accepted sources</a:t>
            </a:r>
            <a:endParaRPr lang="en-US" sz="1050" dirty="0"/>
          </a:p>
        </p:txBody>
      </p:sp>
      <p:sp>
        <p:nvSpPr>
          <p:cNvPr id="48" name="Shape 46"/>
          <p:cNvSpPr/>
          <p:nvPr/>
        </p:nvSpPr>
        <p:spPr>
          <a:xfrm>
            <a:off x="5120640" y="5458968"/>
            <a:ext cx="1514795" cy="274320"/>
          </a:xfrm>
          <a:prstGeom prst="roundRect">
            <a:avLst>
              <a:gd name="adj" fmla="val 50000"/>
            </a:avLst>
          </a:prstGeom>
          <a:solidFill>
            <a:schemeClr val="bg1"/>
          </a:solidFill>
          <a:ln w="9525">
            <a:solidFill>
              <a:schemeClr val="accent6"/>
            </a:solidFill>
            <a:prstDash val="solid"/>
          </a:ln>
        </p:spPr>
      </p:sp>
      <p:sp>
        <p:nvSpPr>
          <p:cNvPr id="49" name="Text 47"/>
          <p:cNvSpPr txBox="1"/>
          <p:nvPr/>
        </p:nvSpPr>
        <p:spPr>
          <a:xfrm>
            <a:off x="5120640" y="5458968"/>
            <a:ext cx="1514795" cy="274320"/>
          </a:xfrm>
          <a:prstGeom prst="rect">
            <a:avLst/>
          </a:prstGeom>
          <a:noFill/>
          <a:ln/>
        </p:spPr>
        <p:txBody>
          <a:bodyPr wrap="square" lIns="0" tIns="0" rIns="0" bIns="0" rtlCol="0" anchor="ctr"/>
          <a:lstStyle/>
          <a:p>
            <a:pPr algn="ctr" indent="0" marL="0">
              <a:buNone/>
            </a:pPr>
            <a:r>
              <a:rPr lang="en-US" sz="1050" dirty="0">
                <a:solidFill>
                  <a:schemeClr val="tx2"/>
                </a:solidFill>
              </a:rPr>
              <a:t>Freshness windows</a:t>
            </a:r>
            <a:endParaRPr lang="en-US" sz="1050" dirty="0"/>
          </a:p>
        </p:txBody>
      </p:sp>
      <p:sp>
        <p:nvSpPr>
          <p:cNvPr id="50" name="Prototype screenshot placeholder"/>
          <p:cNvSpPr/>
          <p:nvPr/>
        </p:nvSpPr>
        <p:spPr>
          <a:xfrm>
            <a:off x="9537192" y="1828800"/>
            <a:ext cx="2105863" cy="3419856"/>
          </a:xfrm>
          <a:prstGeom prst="roundRect">
            <a:avLst>
              <a:gd name="adj" fmla="val 4342"/>
            </a:avLst>
          </a:prstGeom>
          <a:solidFill>
            <a:schemeClr val="bg1"/>
          </a:solidFill>
          <a:ln w="9525">
            <a:solidFill>
              <a:schemeClr val="accent5"/>
            </a:solidFill>
            <a:prstDash val="dash"/>
          </a:ln>
        </p:spPr>
      </p:sp>
      <p:sp>
        <p:nvSpPr>
          <p:cNvPr id="51" name="Text 49"/>
          <p:cNvSpPr txBox="1"/>
          <p:nvPr/>
        </p:nvSpPr>
        <p:spPr>
          <a:xfrm>
            <a:off x="9765792" y="1828800"/>
            <a:ext cx="1648663" cy="3419856"/>
          </a:xfrm>
          <a:prstGeom prst="rect">
            <a:avLst/>
          </a:prstGeom>
          <a:noFill/>
          <a:ln/>
        </p:spPr>
        <p:txBody>
          <a:bodyPr wrap="square" lIns="0" tIns="0" rIns="0" bIns="0" rtlCol="0" anchor="ctr"/>
          <a:lstStyle/>
          <a:p>
            <a:pPr algn="ctr" indent="0" marL="0">
              <a:buNone/>
            </a:pPr>
            <a:r>
              <a:rPr lang="en-US" sz="1400" b="1" dirty="0">
                <a:solidFill>
                  <a:schemeClr val="accent5"/>
                </a:solidFill>
              </a:rPr>
              <a:t>Prototype screen</a:t>
            </a:r>
            <a:endParaRPr lang="en-US" sz="1400" dirty="0"/>
          </a:p>
          <a:p>
            <a:pPr algn="ctr" indent="0" marL="0">
              <a:buNone/>
            </a:pPr>
            <a:r>
              <a:rPr lang="en-US" sz="1100" dirty="0">
                <a:solidFill>
                  <a:schemeClr val="accent5"/>
                </a:solidFill>
              </a:rPr>
              <a:t>Manager's view of Castellan, shown live in the demo</a:t>
            </a:r>
            <a:endParaRPr lang="en-US" sz="1400" dirty="0"/>
          </a:p>
        </p:txBody>
      </p:sp>
      <p:sp>
        <p:nvSpPr>
          <p:cNvPr id="52" name="Live prototype button"/>
          <p:cNvSpPr/>
          <p:nvPr/>
        </p:nvSpPr>
        <p:spPr>
          <a:xfrm>
            <a:off x="9537192" y="5413248"/>
            <a:ext cx="2105863" cy="566928"/>
          </a:xfrm>
          <a:prstGeom prst="roundRect">
            <a:avLst>
              <a:gd name="adj" fmla="val 16129"/>
            </a:avLst>
          </a:prstGeom>
          <a:solidFill>
            <a:schemeClr val="accent1"/>
          </a:solidFill>
          <a:ln/>
        </p:spPr>
      </p:sp>
      <p:sp>
        <p:nvSpPr>
          <p:cNvPr id="53" name="Text 51"/>
          <p:cNvSpPr txBox="1"/>
          <p:nvPr/>
        </p:nvSpPr>
        <p:spPr>
          <a:xfrm>
            <a:off x="9537192" y="5413248"/>
            <a:ext cx="2105863" cy="566928"/>
          </a:xfrm>
          <a:prstGeom prst="rect">
            <a:avLst/>
          </a:prstGeom>
          <a:noFill/>
          <a:ln/>
        </p:spPr>
        <p:txBody>
          <a:bodyPr wrap="square" lIns="0" tIns="0" rIns="0" bIns="0" rtlCol="0" anchor="ctr"/>
          <a:lstStyle/>
          <a:p>
            <a:pPr algn="ctr" indent="0" marL="0">
              <a:buNone/>
            </a:pPr>
            <a:r>
              <a:rPr lang="en-US" sz="1600" b="1" dirty="0">
                <a:solidFill>
                  <a:schemeClr val="bg1"/>
                </a:solidFill>
              </a:rPr>
              <a:t>Live prototype  →</a:t>
            </a:r>
            <a:endParaRPr lang="en-US" sz="16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DIFFERENTIATION</a:t>
            </a:r>
            <a:endParaRPr lang="en-US" sz="1100" dirty="0"/>
          </a:p>
        </p:txBody>
      </p:sp>
      <p:sp>
        <p:nvSpPr>
          <p:cNvPr id="3" name="Text 0"/>
          <p:cNvSpPr/>
          <p:nvPr>
            <p:ph idx="101" type="title" hasCustomPrompt="1"/>
          </p:nvPr>
        </p:nvSpPr>
        <p:spPr>
          <a:xfrm>
            <a:off x="548640" y="603504"/>
            <a:ext cx="11094415" cy="987552"/>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rPr>
              <a:t>AI CRMs increasingly use evidence to update fields. Here, the field is derived from evidence.</a:t>
            </a:r>
            <a:endParaRPr lang="en-US" sz="2800" dirty="0"/>
          </a:p>
        </p:txBody>
      </p:sp>
      <p:sp>
        <p:nvSpPr>
          <p:cNvPr id="4" name="Text 0"/>
          <p:cNvSpPr/>
          <p:nvPr>
            <p:ph idx="102" type="body" hasCustomPrompt="1"/>
          </p:nvPr>
        </p:nvSpPr>
        <p:spPr>
          <a:xfrm>
            <a:off x="548640" y="6327648"/>
            <a:ext cx="10287000" cy="384048"/>
          </a:xfrm>
          <a:prstGeom prst="rect">
            <a:avLst/>
          </a:prstGeom>
          <a:noFill/>
          <a:ln/>
        </p:spPr>
        <p:txBody>
          <a:bodyPr wrap="square" lIns="0" tIns="0" rIns="0" bIns="0" rtlCol="0" anchor="t"/>
          <a:lstStyle/>
          <a:p>
            <a:pPr algn="l" indent="0" marL="0">
              <a:buNone/>
            </a:pPr>
            <a:r>
              <a:rPr lang="en-US" sz="1000" dirty="0">
                <a:solidFill>
                  <a:schemeClr val="accent5"/>
                </a:solidFill>
              </a:rPr>
              <a:t>Public product pages and docs, Oct 2026; none tested hands-on  ·  Lightfield's context graph overlaps parts of this premise (B6)  ·  Sources: B8</a:t>
            </a:r>
            <a:endParaRPr lang="en-US" sz="1000" dirty="0"/>
          </a:p>
        </p:txBody>
      </p:sp>
      <p:sp>
        <p:nvSpPr>
          <p:cNvPr id="5" name="Text 3"/>
          <p:cNvSpPr txBox="1"/>
          <p:nvPr/>
        </p:nvSpPr>
        <p:spPr>
          <a:xfrm>
            <a:off x="548640" y="1828800"/>
            <a:ext cx="3063240"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APPROACH</a:t>
            </a:r>
            <a:endParaRPr lang="en-US" sz="1000" dirty="0"/>
          </a:p>
        </p:txBody>
      </p:sp>
      <p:sp>
        <p:nvSpPr>
          <p:cNvPr id="6" name="Text 4"/>
          <p:cNvSpPr txBox="1"/>
          <p:nvPr/>
        </p:nvSpPr>
        <p:spPr>
          <a:xfrm>
            <a:off x="3840480" y="1828800"/>
            <a:ext cx="3246120"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CANONICAL UNIT</a:t>
            </a:r>
            <a:endParaRPr lang="en-US" sz="1000" dirty="0"/>
          </a:p>
        </p:txBody>
      </p:sp>
      <p:sp>
        <p:nvSpPr>
          <p:cNvPr id="7" name="Text 5"/>
          <p:cNvSpPr txBox="1"/>
          <p:nvPr/>
        </p:nvSpPr>
        <p:spPr>
          <a:xfrm>
            <a:off x="7635240" y="1828800"/>
            <a:ext cx="3779215"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WHAT FOLLOWS FROM IT</a:t>
            </a:r>
            <a:endParaRPr lang="en-US" sz="1000" dirty="0"/>
          </a:p>
        </p:txBody>
      </p:sp>
      <p:sp>
        <p:nvSpPr>
          <p:cNvPr id="8" name="Shape 6"/>
          <p:cNvSpPr/>
          <p:nvPr/>
        </p:nvSpPr>
        <p:spPr>
          <a:xfrm>
            <a:off x="548640" y="2121408"/>
            <a:ext cx="11094415" cy="731520"/>
          </a:xfrm>
          <a:prstGeom prst="roundRect">
            <a:avLst>
              <a:gd name="adj" fmla="val 10000"/>
            </a:avLst>
          </a:prstGeom>
          <a:solidFill>
            <a:schemeClr val="bg1"/>
          </a:solidFill>
          <a:ln w="9525">
            <a:solidFill>
              <a:schemeClr val="accent6"/>
            </a:solidFill>
            <a:prstDash val="solid"/>
          </a:ln>
        </p:spPr>
      </p:sp>
      <p:sp>
        <p:nvSpPr>
          <p:cNvPr id="9" name="Text 7"/>
          <p:cNvSpPr txBox="1"/>
          <p:nvPr/>
        </p:nvSpPr>
        <p:spPr>
          <a:xfrm>
            <a:off x="777240" y="2121408"/>
            <a:ext cx="2834640" cy="731520"/>
          </a:xfrm>
          <a:prstGeom prst="rect">
            <a:avLst/>
          </a:prstGeom>
          <a:noFill/>
          <a:ln/>
        </p:spPr>
        <p:txBody>
          <a:bodyPr wrap="square" lIns="0" tIns="0" rIns="0" bIns="0" rtlCol="0" anchor="ctr"/>
          <a:lstStyle/>
          <a:p>
            <a:pPr indent="0" marL="0">
              <a:buNone/>
            </a:pPr>
            <a:r>
              <a:rPr lang="en-US" sz="1500" b="1" dirty="0">
                <a:solidFill>
                  <a:schemeClr val="tx1"/>
                </a:solidFill>
              </a:rPr>
              <a:t>AI CRM</a:t>
            </a:r>
            <a:endParaRPr lang="en-US" sz="1400" dirty="0"/>
          </a:p>
          <a:p>
            <a:pPr indent="0" marL="0">
              <a:buNone/>
            </a:pPr>
            <a:r>
              <a:rPr lang="en-US" sz="1150" dirty="0">
                <a:solidFill>
                  <a:schemeClr val="accent5"/>
                </a:solidFill>
              </a:rPr>
              <a:t>Salesforce, HubSpot</a:t>
            </a:r>
            <a:endParaRPr lang="en-US" sz="1400" dirty="0"/>
          </a:p>
        </p:txBody>
      </p:sp>
      <p:sp>
        <p:nvSpPr>
          <p:cNvPr id="10" name="Shape 8"/>
          <p:cNvSpPr/>
          <p:nvPr/>
        </p:nvSpPr>
        <p:spPr>
          <a:xfrm>
            <a:off x="3840480" y="2322576"/>
            <a:ext cx="3246120" cy="329184"/>
          </a:xfrm>
          <a:prstGeom prst="roundRect">
            <a:avLst>
              <a:gd name="adj" fmla="val 50000"/>
            </a:avLst>
          </a:prstGeom>
          <a:solidFill>
            <a:schemeClr val="bg2"/>
          </a:solidFill>
          <a:ln w="9525">
            <a:solidFill>
              <a:schemeClr val="accent6"/>
            </a:solidFill>
            <a:prstDash val="solid"/>
          </a:ln>
        </p:spPr>
      </p:sp>
      <p:sp>
        <p:nvSpPr>
          <p:cNvPr id="11" name="Text 9"/>
          <p:cNvSpPr txBox="1"/>
          <p:nvPr/>
        </p:nvSpPr>
        <p:spPr>
          <a:xfrm>
            <a:off x="3840480" y="2322576"/>
            <a:ext cx="3246120" cy="329184"/>
          </a:xfrm>
          <a:prstGeom prst="rect">
            <a:avLst/>
          </a:prstGeom>
          <a:noFill/>
          <a:ln/>
        </p:spPr>
        <p:txBody>
          <a:bodyPr wrap="square" lIns="0" tIns="0" rIns="0" bIns="0" rtlCol="0" anchor="ctr"/>
          <a:lstStyle/>
          <a:p>
            <a:pPr algn="ctr" indent="0" marL="0">
              <a:buNone/>
            </a:pPr>
            <a:r>
              <a:rPr lang="en-US" sz="1250" b="1" dirty="0">
                <a:solidFill>
                  <a:schemeClr val="tx1"/>
                </a:solidFill>
              </a:rPr>
              <a:t>Field</a:t>
            </a:r>
            <a:endParaRPr lang="en-US" sz="1250" dirty="0"/>
          </a:p>
        </p:txBody>
      </p:sp>
      <p:sp>
        <p:nvSpPr>
          <p:cNvPr id="12" name="Shape 10"/>
          <p:cNvSpPr/>
          <p:nvPr/>
        </p:nvSpPr>
        <p:spPr>
          <a:xfrm>
            <a:off x="7159752" y="2487168"/>
            <a:ext cx="384048" cy="0"/>
          </a:xfrm>
          <a:prstGeom prst="line">
            <a:avLst/>
          </a:prstGeom>
          <a:noFill/>
          <a:ln w="15875">
            <a:solidFill>
              <a:schemeClr val="accent5"/>
            </a:solidFill>
            <a:prstDash val="solid"/>
            <a:tailEnd type="triangle"/>
          </a:ln>
        </p:spPr>
      </p:sp>
      <p:sp>
        <p:nvSpPr>
          <p:cNvPr id="13" name="Text 11"/>
          <p:cNvSpPr txBox="1"/>
          <p:nvPr/>
        </p:nvSpPr>
        <p:spPr>
          <a:xfrm>
            <a:off x="7635240" y="2121408"/>
            <a:ext cx="3779215" cy="731520"/>
          </a:xfrm>
          <a:prstGeom prst="rect">
            <a:avLst/>
          </a:prstGeom>
          <a:noFill/>
          <a:ln/>
        </p:spPr>
        <p:txBody>
          <a:bodyPr wrap="square" lIns="0" tIns="0" rIns="0" bIns="0" rtlCol="0" anchor="ctr"/>
          <a:lstStyle/>
          <a:p>
            <a:pPr indent="0" marL="0">
              <a:buNone/>
            </a:pPr>
            <a:r>
              <a:rPr lang="en-US" sz="1300" dirty="0">
                <a:solidFill>
                  <a:schemeClr val="tx2"/>
                </a:solidFill>
              </a:rPr>
              <a:t>AI helps capture activity and populate or update the field</a:t>
            </a:r>
            <a:endParaRPr lang="en-US" sz="1300" dirty="0"/>
          </a:p>
        </p:txBody>
      </p:sp>
      <p:sp>
        <p:nvSpPr>
          <p:cNvPr id="14" name="Shape 12"/>
          <p:cNvSpPr/>
          <p:nvPr/>
        </p:nvSpPr>
        <p:spPr>
          <a:xfrm>
            <a:off x="548640" y="2962656"/>
            <a:ext cx="11094415" cy="731520"/>
          </a:xfrm>
          <a:prstGeom prst="roundRect">
            <a:avLst>
              <a:gd name="adj" fmla="val 10000"/>
            </a:avLst>
          </a:prstGeom>
          <a:solidFill>
            <a:schemeClr val="bg1"/>
          </a:solidFill>
          <a:ln w="9525">
            <a:solidFill>
              <a:schemeClr val="accent6"/>
            </a:solidFill>
            <a:prstDash val="solid"/>
          </a:ln>
        </p:spPr>
      </p:sp>
      <p:sp>
        <p:nvSpPr>
          <p:cNvPr id="15" name="Text 13"/>
          <p:cNvSpPr txBox="1"/>
          <p:nvPr/>
        </p:nvSpPr>
        <p:spPr>
          <a:xfrm>
            <a:off x="777240" y="2962656"/>
            <a:ext cx="2834640" cy="731520"/>
          </a:xfrm>
          <a:prstGeom prst="rect">
            <a:avLst/>
          </a:prstGeom>
          <a:noFill/>
          <a:ln/>
        </p:spPr>
        <p:txBody>
          <a:bodyPr wrap="square" lIns="0" tIns="0" rIns="0" bIns="0" rtlCol="0" anchor="ctr"/>
          <a:lstStyle/>
          <a:p>
            <a:pPr indent="0" marL="0">
              <a:buNone/>
            </a:pPr>
            <a:r>
              <a:rPr lang="en-US" sz="1500" b="1" dirty="0">
                <a:solidFill>
                  <a:schemeClr val="tx1"/>
                </a:solidFill>
              </a:rPr>
              <a:t>Revenue intelligence</a:t>
            </a:r>
            <a:endParaRPr lang="en-US" sz="1400" dirty="0"/>
          </a:p>
          <a:p>
            <a:pPr indent="0" marL="0">
              <a:buNone/>
            </a:pPr>
            <a:r>
              <a:rPr lang="en-US" sz="1150" dirty="0">
                <a:solidFill>
                  <a:schemeClr val="accent5"/>
                </a:solidFill>
              </a:rPr>
              <a:t>Gong, Clari</a:t>
            </a:r>
            <a:endParaRPr lang="en-US" sz="1400" dirty="0"/>
          </a:p>
        </p:txBody>
      </p:sp>
      <p:sp>
        <p:nvSpPr>
          <p:cNvPr id="16" name="Shape 14"/>
          <p:cNvSpPr/>
          <p:nvPr/>
        </p:nvSpPr>
        <p:spPr>
          <a:xfrm>
            <a:off x="3840480" y="3163824"/>
            <a:ext cx="3246120" cy="329184"/>
          </a:xfrm>
          <a:prstGeom prst="roundRect">
            <a:avLst>
              <a:gd name="adj" fmla="val 50000"/>
            </a:avLst>
          </a:prstGeom>
          <a:solidFill>
            <a:schemeClr val="bg2"/>
          </a:solidFill>
          <a:ln w="9525">
            <a:solidFill>
              <a:schemeClr val="accent6"/>
            </a:solidFill>
            <a:prstDash val="solid"/>
          </a:ln>
        </p:spPr>
      </p:sp>
      <p:sp>
        <p:nvSpPr>
          <p:cNvPr id="17" name="Text 15"/>
          <p:cNvSpPr txBox="1"/>
          <p:nvPr/>
        </p:nvSpPr>
        <p:spPr>
          <a:xfrm>
            <a:off x="3840480" y="3163824"/>
            <a:ext cx="3246120" cy="329184"/>
          </a:xfrm>
          <a:prstGeom prst="rect">
            <a:avLst/>
          </a:prstGeom>
          <a:noFill/>
          <a:ln/>
        </p:spPr>
        <p:txBody>
          <a:bodyPr wrap="square" lIns="0" tIns="0" rIns="0" bIns="0" rtlCol="0" anchor="ctr"/>
          <a:lstStyle/>
          <a:p>
            <a:pPr algn="ctr" indent="0" marL="0">
              <a:buNone/>
            </a:pPr>
            <a:r>
              <a:rPr lang="en-US" sz="1250" b="1" dirty="0">
                <a:solidFill>
                  <a:schemeClr val="tx1"/>
                </a:solidFill>
              </a:rPr>
              <a:t>Signals + conversation analysis</a:t>
            </a:r>
            <a:endParaRPr lang="en-US" sz="1250" dirty="0"/>
          </a:p>
        </p:txBody>
      </p:sp>
      <p:sp>
        <p:nvSpPr>
          <p:cNvPr id="18" name="Shape 16"/>
          <p:cNvSpPr/>
          <p:nvPr/>
        </p:nvSpPr>
        <p:spPr>
          <a:xfrm>
            <a:off x="7159752" y="3328416"/>
            <a:ext cx="384048" cy="0"/>
          </a:xfrm>
          <a:prstGeom prst="line">
            <a:avLst/>
          </a:prstGeom>
          <a:noFill/>
          <a:ln w="15875">
            <a:solidFill>
              <a:schemeClr val="accent5"/>
            </a:solidFill>
            <a:prstDash val="solid"/>
            <a:tailEnd type="triangle"/>
          </a:ln>
        </p:spPr>
      </p:sp>
      <p:sp>
        <p:nvSpPr>
          <p:cNvPr id="19" name="Text 17"/>
          <p:cNvSpPr txBox="1"/>
          <p:nvPr/>
        </p:nvSpPr>
        <p:spPr>
          <a:xfrm>
            <a:off x="7635240" y="2962656"/>
            <a:ext cx="3779215" cy="731520"/>
          </a:xfrm>
          <a:prstGeom prst="rect">
            <a:avLst/>
          </a:prstGeom>
          <a:noFill/>
          <a:ln/>
        </p:spPr>
        <p:txBody>
          <a:bodyPr wrap="square" lIns="0" tIns="0" rIns="0" bIns="0" rtlCol="0" anchor="ctr"/>
          <a:lstStyle/>
          <a:p>
            <a:pPr indent="0" marL="0">
              <a:buNone/>
            </a:pPr>
            <a:r>
              <a:rPr lang="en-US" sz="1300" dirty="0">
                <a:solidFill>
                  <a:schemeClr val="tx2"/>
                </a:solidFill>
              </a:rPr>
              <a:t>Risk flags, forecasts, and answers written back to CRM fields</a:t>
            </a:r>
            <a:endParaRPr lang="en-US" sz="1300" dirty="0"/>
          </a:p>
        </p:txBody>
      </p:sp>
      <p:sp>
        <p:nvSpPr>
          <p:cNvPr id="20" name="Shape 18"/>
          <p:cNvSpPr/>
          <p:nvPr/>
        </p:nvSpPr>
        <p:spPr>
          <a:xfrm>
            <a:off x="548640" y="3803904"/>
            <a:ext cx="11094415" cy="731520"/>
          </a:xfrm>
          <a:prstGeom prst="roundRect">
            <a:avLst>
              <a:gd name="adj" fmla="val 10000"/>
            </a:avLst>
          </a:prstGeom>
          <a:solidFill>
            <a:schemeClr val="bg1"/>
          </a:solidFill>
          <a:ln w="9525">
            <a:solidFill>
              <a:schemeClr val="accent6"/>
            </a:solidFill>
            <a:prstDash val="solid"/>
          </a:ln>
        </p:spPr>
      </p:sp>
      <p:sp>
        <p:nvSpPr>
          <p:cNvPr id="21" name="Text 19"/>
          <p:cNvSpPr txBox="1"/>
          <p:nvPr/>
        </p:nvSpPr>
        <p:spPr>
          <a:xfrm>
            <a:off x="777240" y="3803904"/>
            <a:ext cx="2834640" cy="731520"/>
          </a:xfrm>
          <a:prstGeom prst="rect">
            <a:avLst/>
          </a:prstGeom>
          <a:noFill/>
          <a:ln/>
        </p:spPr>
        <p:txBody>
          <a:bodyPr wrap="square" lIns="0" tIns="0" rIns="0" bIns="0" rtlCol="0" anchor="ctr"/>
          <a:lstStyle/>
          <a:p>
            <a:pPr indent="0" marL="0">
              <a:buNone/>
            </a:pPr>
            <a:r>
              <a:rPr lang="en-US" sz="1500" b="1" dirty="0">
                <a:solidFill>
                  <a:schemeClr val="tx1"/>
                </a:solidFill>
              </a:rPr>
              <a:t>Self-building CRM</a:t>
            </a:r>
            <a:endParaRPr lang="en-US" sz="1400" dirty="0"/>
          </a:p>
          <a:p>
            <a:pPr indent="0" marL="0">
              <a:buNone/>
            </a:pPr>
            <a:r>
              <a:rPr lang="en-US" sz="1150" dirty="0">
                <a:solidFill>
                  <a:schemeClr val="accent5"/>
                </a:solidFill>
              </a:rPr>
              <a:t>Lightfield, Day AI, Attio</a:t>
            </a:r>
            <a:endParaRPr lang="en-US" sz="1400" dirty="0"/>
          </a:p>
        </p:txBody>
      </p:sp>
      <p:sp>
        <p:nvSpPr>
          <p:cNvPr id="22" name="Shape 20"/>
          <p:cNvSpPr/>
          <p:nvPr/>
        </p:nvSpPr>
        <p:spPr>
          <a:xfrm>
            <a:off x="3840480" y="4005072"/>
            <a:ext cx="3246120" cy="329184"/>
          </a:xfrm>
          <a:prstGeom prst="roundRect">
            <a:avLst>
              <a:gd name="adj" fmla="val 50000"/>
            </a:avLst>
          </a:prstGeom>
          <a:solidFill>
            <a:schemeClr val="bg2"/>
          </a:solidFill>
          <a:ln w="9525">
            <a:solidFill>
              <a:schemeClr val="accent6"/>
            </a:solidFill>
            <a:prstDash val="solid"/>
          </a:ln>
        </p:spPr>
      </p:sp>
      <p:sp>
        <p:nvSpPr>
          <p:cNvPr id="23" name="Text 21"/>
          <p:cNvSpPr txBox="1"/>
          <p:nvPr/>
        </p:nvSpPr>
        <p:spPr>
          <a:xfrm>
            <a:off x="3840480" y="4005072"/>
            <a:ext cx="3246120" cy="329184"/>
          </a:xfrm>
          <a:prstGeom prst="rect">
            <a:avLst/>
          </a:prstGeom>
          <a:noFill/>
          <a:ln/>
        </p:spPr>
        <p:txBody>
          <a:bodyPr wrap="square" lIns="0" tIns="0" rIns="0" bIns="0" rtlCol="0" anchor="ctr"/>
          <a:lstStyle/>
          <a:p>
            <a:pPr algn="ctr" indent="0" marL="0">
              <a:buNone/>
            </a:pPr>
            <a:r>
              <a:rPr lang="en-US" sz="1250" b="1" dirty="0">
                <a:solidFill>
                  <a:schemeClr val="tx1"/>
                </a:solidFill>
              </a:rPr>
              <a:t>Conversations</a:t>
            </a:r>
            <a:endParaRPr lang="en-US" sz="1250" dirty="0"/>
          </a:p>
        </p:txBody>
      </p:sp>
      <p:sp>
        <p:nvSpPr>
          <p:cNvPr id="24" name="Shape 22"/>
          <p:cNvSpPr/>
          <p:nvPr/>
        </p:nvSpPr>
        <p:spPr>
          <a:xfrm>
            <a:off x="7159752" y="4169664"/>
            <a:ext cx="384048" cy="0"/>
          </a:xfrm>
          <a:prstGeom prst="line">
            <a:avLst/>
          </a:prstGeom>
          <a:noFill/>
          <a:ln w="15875">
            <a:solidFill>
              <a:schemeClr val="accent5"/>
            </a:solidFill>
            <a:prstDash val="solid"/>
            <a:tailEnd type="triangle"/>
          </a:ln>
        </p:spPr>
      </p:sp>
      <p:sp>
        <p:nvSpPr>
          <p:cNvPr id="25" name="Text 23"/>
          <p:cNvSpPr txBox="1"/>
          <p:nvPr/>
        </p:nvSpPr>
        <p:spPr>
          <a:xfrm>
            <a:off x="7635240" y="3803904"/>
            <a:ext cx="3779215" cy="731520"/>
          </a:xfrm>
          <a:prstGeom prst="rect">
            <a:avLst/>
          </a:prstGeom>
          <a:noFill/>
          <a:ln/>
        </p:spPr>
        <p:txBody>
          <a:bodyPr wrap="square" lIns="0" tIns="0" rIns="0" bIns="0" rtlCol="0" anchor="ctr"/>
          <a:lstStyle/>
          <a:p>
            <a:pPr indent="0" marL="0">
              <a:buNone/>
            </a:pPr>
            <a:r>
              <a:rPr lang="en-US" sz="1300" dirty="0">
                <a:solidFill>
                  <a:schemeClr val="tx2"/>
                </a:solidFill>
              </a:rPr>
              <a:t>A record constructed automatically from them</a:t>
            </a:r>
            <a:endParaRPr lang="en-US" sz="1300" dirty="0"/>
          </a:p>
        </p:txBody>
      </p:sp>
      <p:sp>
        <p:nvSpPr>
          <p:cNvPr id="26" name="Shape 24"/>
          <p:cNvSpPr/>
          <p:nvPr/>
        </p:nvSpPr>
        <p:spPr>
          <a:xfrm>
            <a:off x="548640" y="4645152"/>
            <a:ext cx="11094415" cy="731520"/>
          </a:xfrm>
          <a:prstGeom prst="roundRect">
            <a:avLst>
              <a:gd name="adj" fmla="val 10000"/>
            </a:avLst>
          </a:prstGeom>
          <a:solidFill>
            <a:schemeClr val="accent1">
              <a:alpha val="7000"/>
            </a:schemeClr>
          </a:solidFill>
          <a:ln w="15875">
            <a:solidFill>
              <a:schemeClr val="accent1"/>
            </a:solidFill>
            <a:prstDash val="solid"/>
          </a:ln>
        </p:spPr>
      </p:sp>
      <p:sp>
        <p:nvSpPr>
          <p:cNvPr id="27" name="Text 25"/>
          <p:cNvSpPr txBox="1"/>
          <p:nvPr/>
        </p:nvSpPr>
        <p:spPr>
          <a:xfrm>
            <a:off x="777240" y="4645152"/>
            <a:ext cx="2834640" cy="731520"/>
          </a:xfrm>
          <a:prstGeom prst="rect">
            <a:avLst/>
          </a:prstGeom>
          <a:noFill/>
          <a:ln/>
        </p:spPr>
        <p:txBody>
          <a:bodyPr wrap="square" lIns="0" tIns="0" rIns="0" bIns="0" rtlCol="0" anchor="ctr"/>
          <a:lstStyle/>
          <a:p>
            <a:pPr indent="0" marL="0">
              <a:buNone/>
            </a:pPr>
            <a:r>
              <a:rPr lang="en-US" sz="1500" b="1" dirty="0">
                <a:solidFill>
                  <a:schemeClr val="accent1"/>
                </a:solidFill>
              </a:rPr>
              <a:t>Evidence-native</a:t>
            </a:r>
            <a:endParaRPr lang="en-US" sz="1400" dirty="0"/>
          </a:p>
          <a:p>
            <a:pPr indent="0" marL="0">
              <a:buNone/>
            </a:pPr>
            <a:r>
              <a:rPr lang="en-US" sz="1150" dirty="0">
                <a:solidFill>
                  <a:schemeClr val="accent5"/>
                </a:solidFill>
              </a:rPr>
              <a:t>proposed, not built</a:t>
            </a:r>
            <a:endParaRPr lang="en-US" sz="1400" dirty="0"/>
          </a:p>
        </p:txBody>
      </p:sp>
      <p:sp>
        <p:nvSpPr>
          <p:cNvPr id="28" name="Shape 26"/>
          <p:cNvSpPr/>
          <p:nvPr/>
        </p:nvSpPr>
        <p:spPr>
          <a:xfrm>
            <a:off x="3840480" y="4846320"/>
            <a:ext cx="3246120" cy="329184"/>
          </a:xfrm>
          <a:prstGeom prst="roundRect">
            <a:avLst>
              <a:gd name="adj" fmla="val 50000"/>
            </a:avLst>
          </a:prstGeom>
          <a:solidFill>
            <a:schemeClr val="bg1"/>
          </a:solidFill>
          <a:ln w="9525">
            <a:solidFill>
              <a:schemeClr val="accent1"/>
            </a:solidFill>
            <a:prstDash val="solid"/>
          </a:ln>
        </p:spPr>
      </p:sp>
      <p:sp>
        <p:nvSpPr>
          <p:cNvPr id="29" name="Text 27"/>
          <p:cNvSpPr txBox="1"/>
          <p:nvPr/>
        </p:nvSpPr>
        <p:spPr>
          <a:xfrm>
            <a:off x="3840480" y="4846320"/>
            <a:ext cx="3246120" cy="329184"/>
          </a:xfrm>
          <a:prstGeom prst="rect">
            <a:avLst/>
          </a:prstGeom>
          <a:noFill/>
          <a:ln/>
        </p:spPr>
        <p:txBody>
          <a:bodyPr wrap="square" lIns="0" tIns="0" rIns="0" bIns="0" rtlCol="0" anchor="ctr"/>
          <a:lstStyle/>
          <a:p>
            <a:pPr algn="ctr" indent="0" marL="0">
              <a:buNone/>
            </a:pPr>
            <a:r>
              <a:rPr lang="en-US" sz="1250" b="1" dirty="0">
                <a:solidFill>
                  <a:schemeClr val="accent1"/>
                </a:solidFill>
              </a:rPr>
              <a:t>Claim + evidence + source + history</a:t>
            </a:r>
            <a:endParaRPr lang="en-US" sz="1250" dirty="0"/>
          </a:p>
        </p:txBody>
      </p:sp>
      <p:sp>
        <p:nvSpPr>
          <p:cNvPr id="30" name="Shape 28"/>
          <p:cNvSpPr/>
          <p:nvPr/>
        </p:nvSpPr>
        <p:spPr>
          <a:xfrm>
            <a:off x="7159752" y="5010912"/>
            <a:ext cx="384048" cy="0"/>
          </a:xfrm>
          <a:prstGeom prst="line">
            <a:avLst/>
          </a:prstGeom>
          <a:noFill/>
          <a:ln w="15875">
            <a:solidFill>
              <a:schemeClr val="accent5"/>
            </a:solidFill>
            <a:prstDash val="solid"/>
            <a:tailEnd type="triangle"/>
          </a:ln>
        </p:spPr>
      </p:sp>
      <p:sp>
        <p:nvSpPr>
          <p:cNvPr id="31" name="Text 29"/>
          <p:cNvSpPr txBox="1"/>
          <p:nvPr/>
        </p:nvSpPr>
        <p:spPr>
          <a:xfrm>
            <a:off x="7635240" y="4645152"/>
            <a:ext cx="3779215" cy="731520"/>
          </a:xfrm>
          <a:prstGeom prst="rect">
            <a:avLst/>
          </a:prstGeom>
          <a:noFill/>
          <a:ln/>
        </p:spPr>
        <p:txBody>
          <a:bodyPr wrap="square" lIns="0" tIns="0" rIns="0" bIns="0" rtlCol="0" anchor="ctr"/>
          <a:lstStyle/>
          <a:p>
            <a:pPr indent="0" marL="0">
              <a:buNone/>
            </a:pPr>
            <a:r>
              <a:rPr lang="en-US" sz="1300" b="1" dirty="0">
                <a:solidFill>
                  <a:schemeClr val="tx1"/>
                </a:solidFill>
              </a:rPr>
              <a:t>Policy derives a status; the field becomes a view of it</a:t>
            </a:r>
            <a:endParaRPr lang="en-US" sz="1300" dirty="0"/>
          </a:p>
        </p:txBody>
      </p:sp>
      <p:sp>
        <p:nvSpPr>
          <p:cNvPr id="32" name="Text 30"/>
          <p:cNvSpPr txBox="1"/>
          <p:nvPr/>
        </p:nvSpPr>
        <p:spPr>
          <a:xfrm>
            <a:off x="548640" y="5559552"/>
            <a:ext cx="11094415" cy="566928"/>
          </a:xfrm>
          <a:prstGeom prst="rect">
            <a:avLst/>
          </a:prstGeom>
          <a:noFill/>
          <a:ln/>
        </p:spPr>
        <p:txBody>
          <a:bodyPr wrap="square" lIns="0" tIns="0" rIns="0" bIns="0" rtlCol="0" anchor="ctr"/>
          <a:lstStyle/>
          <a:p>
            <a:pPr indent="0" marL="0">
              <a:buNone/>
            </a:pPr>
            <a:r>
              <a:rPr lang="en-US" sz="1700" b="1" dirty="0">
                <a:solidFill>
                  <a:schemeClr val="accent5"/>
                </a:solidFill>
              </a:rPr>
              <a:t>The bet is not that others cannot read evidence. </a:t>
            </a:r>
            <a:pPr indent="0" marL="0">
              <a:buNone/>
            </a:pPr>
            <a:r>
              <a:rPr lang="en-US" sz="1700" b="1" dirty="0">
                <a:solidFill>
                  <a:schemeClr val="tx1"/>
                </a:solidFill>
              </a:rPr>
              <a:t>The bet is that evidence should be durable state, not merely input to a field.</a:t>
            </a:r>
            <a:endParaRPr lang="en-US" sz="17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PRODUCT VISION  ·  FIRST VERSION</a:t>
            </a:r>
            <a:endParaRPr lang="en-US" sz="1100" dirty="0"/>
          </a:p>
        </p:txBody>
      </p:sp>
      <p:sp>
        <p:nvSpPr>
          <p:cNvPr id="3" name="Text 0"/>
          <p:cNvSpPr/>
          <p:nvPr>
            <p:ph idx="101" type="title" hasCustomPrompt="1"/>
          </p:nvPr>
        </p:nvSpPr>
        <p:spPr>
          <a:xfrm>
            <a:off x="548640" y="603504"/>
            <a:ext cx="11094415" cy="987552"/>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rPr>
              <a:t>The first version does one thing: audit a few deal claims before the forecast call.</a:t>
            </a:r>
            <a:endParaRPr lang="en-US" sz="2800" dirty="0"/>
          </a:p>
        </p:txBody>
      </p:sp>
      <p:sp>
        <p:nvSpPr>
          <p:cNvPr id="4" name="Text 0"/>
          <p:cNvSpPr/>
          <p:nvPr>
            <p:ph idx="102" type="body" hasCustomPrompt="1"/>
          </p:nvPr>
        </p:nvSpPr>
        <p:spPr>
          <a:xfrm>
            <a:off x="548640" y="6327648"/>
            <a:ext cx="10287000" cy="384048"/>
          </a:xfrm>
          <a:prstGeom prst="rect">
            <a:avLst/>
          </a:prstGeom>
          <a:noFill/>
          <a:ln/>
        </p:spPr>
        <p:txBody>
          <a:bodyPr wrap="square" lIns="0" tIns="0" rIns="0" bIns="0" rtlCol="0" anchor="t"/>
          <a:lstStyle/>
          <a:p>
            <a:pPr algn="l" indent="0" marL="0">
              <a:buNone/>
            </a:pPr>
            <a:r>
              <a:rPr lang="en-US" sz="1000" dirty="0">
                <a:solidFill>
                  <a:schemeClr val="accent5"/>
                </a:solidFill>
              </a:rPr>
              <a:t>PRODUCT ASSUMPTION  ·  thresholds are proposals to agree with a design partner</a:t>
            </a:r>
            <a:endParaRPr lang="en-US" sz="1000" dirty="0"/>
          </a:p>
        </p:txBody>
      </p:sp>
      <p:sp>
        <p:nvSpPr>
          <p:cNvPr id="5" name="Shape 3"/>
          <p:cNvSpPr/>
          <p:nvPr/>
        </p:nvSpPr>
        <p:spPr>
          <a:xfrm>
            <a:off x="548640" y="1828800"/>
            <a:ext cx="3977640" cy="4279392"/>
          </a:xfrm>
          <a:prstGeom prst="roundRect">
            <a:avLst>
              <a:gd name="adj" fmla="val 2299"/>
            </a:avLst>
          </a:prstGeom>
          <a:solidFill>
            <a:schemeClr val="bg1"/>
          </a:solidFill>
          <a:ln w="9525">
            <a:solidFill>
              <a:schemeClr val="accent6"/>
            </a:solidFill>
            <a:prstDash val="solid"/>
          </a:ln>
        </p:spPr>
      </p:sp>
      <p:sp>
        <p:nvSpPr>
          <p:cNvPr id="6" name="Text 4"/>
          <p:cNvSpPr txBox="1"/>
          <p:nvPr/>
        </p:nvSpPr>
        <p:spPr>
          <a:xfrm>
            <a:off x="804672" y="2011680"/>
            <a:ext cx="1371600" cy="365760"/>
          </a:xfrm>
          <a:prstGeom prst="rect">
            <a:avLst/>
          </a:prstGeom>
          <a:noFill/>
          <a:ln/>
        </p:spPr>
        <p:txBody>
          <a:bodyPr wrap="square" lIns="0" tIns="0" rIns="0" bIns="0" rtlCol="0" anchor="t"/>
          <a:lstStyle/>
          <a:p>
            <a:pPr indent="0" marL="0">
              <a:buNone/>
            </a:pPr>
            <a:r>
              <a:rPr lang="en-US" sz="1800" b="1" dirty="0">
                <a:solidFill>
                  <a:schemeClr val="tx1"/>
                </a:solidFill>
              </a:rPr>
              <a:t>In</a:t>
            </a:r>
            <a:endParaRPr lang="en-US" sz="1800" dirty="0"/>
          </a:p>
        </p:txBody>
      </p:sp>
      <p:sp>
        <p:nvSpPr>
          <p:cNvPr id="7" name="Text 5"/>
          <p:cNvSpPr txBox="1"/>
          <p:nvPr/>
        </p:nvSpPr>
        <p:spPr>
          <a:xfrm>
            <a:off x="804672" y="2377440"/>
            <a:ext cx="3465576" cy="274320"/>
          </a:xfrm>
          <a:prstGeom prst="rect">
            <a:avLst/>
          </a:prstGeom>
          <a:noFill/>
          <a:ln/>
        </p:spPr>
        <p:txBody>
          <a:bodyPr wrap="square" lIns="0" tIns="0" rIns="0" bIns="0" rtlCol="0" anchor="t"/>
          <a:lstStyle/>
          <a:p>
            <a:pPr indent="0" marL="0">
              <a:buNone/>
            </a:pPr>
            <a:r>
              <a:rPr lang="en-US" sz="1100" i="1" dirty="0">
                <a:solidFill>
                  <a:schemeClr val="accent5"/>
                </a:solidFill>
              </a:rPr>
              <a:t>Read-only: no CRM write-back, no customer contact</a:t>
            </a:r>
            <a:endParaRPr lang="en-US" sz="1100" dirty="0"/>
          </a:p>
        </p:txBody>
      </p:sp>
      <p:sp>
        <p:nvSpPr>
          <p:cNvPr id="8" name="Text 6"/>
          <p:cNvSpPr txBox="1"/>
          <p:nvPr/>
        </p:nvSpPr>
        <p:spPr>
          <a:xfrm>
            <a:off x="804672" y="2761488"/>
            <a:ext cx="3465576"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READS</a:t>
            </a:r>
            <a:endParaRPr lang="en-US" sz="1000" dirty="0"/>
          </a:p>
        </p:txBody>
      </p:sp>
      <p:sp>
        <p:nvSpPr>
          <p:cNvPr id="9" name="Text 7"/>
          <p:cNvSpPr txBox="1"/>
          <p:nvPr/>
        </p:nvSpPr>
        <p:spPr>
          <a:xfrm>
            <a:off x="804672" y="2990088"/>
            <a:ext cx="3465576" cy="457200"/>
          </a:xfrm>
          <a:prstGeom prst="rect">
            <a:avLst/>
          </a:prstGeom>
          <a:noFill/>
          <a:ln/>
        </p:spPr>
        <p:txBody>
          <a:bodyPr wrap="square" lIns="0" tIns="0" rIns="0" bIns="0" rtlCol="0" anchor="t"/>
          <a:lstStyle/>
          <a:p>
            <a:pPr indent="0" marL="0">
              <a:buNone/>
            </a:pPr>
            <a:r>
              <a:rPr lang="en-US" sz="1300" dirty="0">
                <a:solidFill>
                  <a:schemeClr val="tx1"/>
                </a:solidFill>
              </a:rPr>
              <a:t>Salesforce or HubSpot</a:t>
            </a:r>
            <a:endParaRPr lang="en-US" sz="1300" dirty="0"/>
          </a:p>
          <a:p>
            <a:pPr indent="0" marL="0">
              <a:buNone/>
            </a:pPr>
            <a:r>
              <a:rPr lang="en-US" sz="1300" dirty="0">
                <a:solidFill>
                  <a:schemeClr val="tx1"/>
                </a:solidFill>
              </a:rPr>
              <a:t>Email and calendar · one call recorder</a:t>
            </a:r>
            <a:endParaRPr lang="en-US" sz="1300" dirty="0"/>
          </a:p>
        </p:txBody>
      </p:sp>
      <p:sp>
        <p:nvSpPr>
          <p:cNvPr id="10" name="Text 8"/>
          <p:cNvSpPr txBox="1"/>
          <p:nvPr/>
        </p:nvSpPr>
        <p:spPr>
          <a:xfrm>
            <a:off x="804672" y="3493008"/>
            <a:ext cx="3465576"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COVERS</a:t>
            </a:r>
            <a:endParaRPr lang="en-US" sz="1000" dirty="0"/>
          </a:p>
        </p:txBody>
      </p:sp>
      <p:sp>
        <p:nvSpPr>
          <p:cNvPr id="11" name="Text 9"/>
          <p:cNvSpPr txBox="1"/>
          <p:nvPr/>
        </p:nvSpPr>
        <p:spPr>
          <a:xfrm>
            <a:off x="804672" y="3721608"/>
            <a:ext cx="3465576" cy="457200"/>
          </a:xfrm>
          <a:prstGeom prst="rect">
            <a:avLst/>
          </a:prstGeom>
          <a:noFill/>
          <a:ln/>
        </p:spPr>
        <p:txBody>
          <a:bodyPr wrap="square" lIns="0" tIns="0" rIns="0" bIns="0" rtlCol="0" anchor="t"/>
          <a:lstStyle/>
          <a:p>
            <a:pPr indent="0" marL="0">
              <a:buNone/>
            </a:pPr>
            <a:r>
              <a:rPr lang="en-US" sz="1300" dirty="0">
                <a:solidFill>
                  <a:schemeClr val="tx1"/>
                </a:solidFill>
              </a:rPr>
              <a:t>Commit and Best Case deals</a:t>
            </a:r>
            <a:endParaRPr lang="en-US" sz="1300" dirty="0"/>
          </a:p>
          <a:p>
            <a:pPr indent="0" marL="0">
              <a:buNone/>
            </a:pPr>
            <a:r>
              <a:rPr lang="en-US" sz="1300" dirty="0">
                <a:solidFill>
                  <a:schemeClr val="tx1"/>
                </a:solidFill>
              </a:rPr>
              <a:t>5–8 predefined claims</a:t>
            </a:r>
            <a:endParaRPr lang="en-US" sz="1300" dirty="0"/>
          </a:p>
        </p:txBody>
      </p:sp>
      <p:sp>
        <p:nvSpPr>
          <p:cNvPr id="12" name="Text 10"/>
          <p:cNvSpPr txBox="1"/>
          <p:nvPr/>
        </p:nvSpPr>
        <p:spPr>
          <a:xfrm>
            <a:off x="804672" y="4224528"/>
            <a:ext cx="3465576"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SHOWS</a:t>
            </a:r>
            <a:endParaRPr lang="en-US" sz="1000" dirty="0"/>
          </a:p>
        </p:txBody>
      </p:sp>
      <p:sp>
        <p:nvSpPr>
          <p:cNvPr id="13" name="Text 11"/>
          <p:cNvSpPr txBox="1"/>
          <p:nvPr/>
        </p:nvSpPr>
        <p:spPr>
          <a:xfrm>
            <a:off x="804672" y="4453128"/>
            <a:ext cx="3465576" cy="274320"/>
          </a:xfrm>
          <a:prstGeom prst="rect">
            <a:avLst/>
          </a:prstGeom>
          <a:noFill/>
          <a:ln/>
        </p:spPr>
        <p:txBody>
          <a:bodyPr wrap="square" lIns="0" tIns="0" rIns="0" bIns="0" rtlCol="0" anchor="t"/>
          <a:lstStyle/>
          <a:p>
            <a:pPr indent="0" marL="0">
              <a:buNone/>
            </a:pPr>
            <a:r>
              <a:rPr lang="en-US" sz="1300" dirty="0">
                <a:solidFill>
                  <a:schemeClr val="tx1"/>
                </a:solidFill>
              </a:rPr>
              <a:t>Exact quote and source link, with a status</a:t>
            </a:r>
            <a:endParaRPr lang="en-US" sz="1300" dirty="0"/>
          </a:p>
        </p:txBody>
      </p:sp>
      <p:sp>
        <p:nvSpPr>
          <p:cNvPr id="14" name="Shape 12"/>
          <p:cNvSpPr/>
          <p:nvPr/>
        </p:nvSpPr>
        <p:spPr>
          <a:xfrm>
            <a:off x="804672" y="4773168"/>
            <a:ext cx="1080821" cy="256032"/>
          </a:xfrm>
          <a:prstGeom prst="roundRect">
            <a:avLst>
              <a:gd name="adj" fmla="val 50000"/>
            </a:avLst>
          </a:prstGeom>
          <a:solidFill>
            <a:schemeClr val="accent2">
              <a:alpha val="12000"/>
            </a:schemeClr>
          </a:solidFill>
          <a:ln w="9525">
            <a:solidFill>
              <a:schemeClr val="accent2"/>
            </a:solidFill>
            <a:prstDash val="solid"/>
          </a:ln>
        </p:spPr>
      </p:sp>
      <p:sp>
        <p:nvSpPr>
          <p:cNvPr id="15" name="Text 13"/>
          <p:cNvSpPr txBox="1"/>
          <p:nvPr/>
        </p:nvSpPr>
        <p:spPr>
          <a:xfrm>
            <a:off x="804672" y="4773168"/>
            <a:ext cx="1080821" cy="256032"/>
          </a:xfrm>
          <a:prstGeom prst="rect">
            <a:avLst/>
          </a:prstGeom>
          <a:noFill/>
          <a:ln/>
        </p:spPr>
        <p:txBody>
          <a:bodyPr wrap="square" lIns="0" tIns="0" rIns="0" bIns="0" rtlCol="0" anchor="ctr"/>
          <a:lstStyle/>
          <a:p>
            <a:pPr algn="ctr" indent="0" marL="0">
              <a:buNone/>
            </a:pPr>
            <a:r>
              <a:rPr lang="en-US" sz="1000" b="1" spc="50" kern="0" dirty="0">
                <a:solidFill>
                  <a:schemeClr val="accent2"/>
                </a:solidFill>
              </a:rPr>
              <a:t>SUPPORTED</a:t>
            </a:r>
            <a:endParaRPr lang="en-US" sz="1000" dirty="0"/>
          </a:p>
        </p:txBody>
      </p:sp>
      <p:sp>
        <p:nvSpPr>
          <p:cNvPr id="16" name="Shape 14"/>
          <p:cNvSpPr/>
          <p:nvPr/>
        </p:nvSpPr>
        <p:spPr>
          <a:xfrm>
            <a:off x="1958645" y="4773168"/>
            <a:ext cx="1260043" cy="256032"/>
          </a:xfrm>
          <a:prstGeom prst="roundRect">
            <a:avLst>
              <a:gd name="adj" fmla="val 50000"/>
            </a:avLst>
          </a:prstGeom>
          <a:solidFill>
            <a:schemeClr val="accent3">
              <a:alpha val="12000"/>
            </a:schemeClr>
          </a:solidFill>
          <a:ln w="9525">
            <a:solidFill>
              <a:schemeClr val="accent3"/>
            </a:solidFill>
            <a:prstDash val="solid"/>
          </a:ln>
        </p:spPr>
      </p:sp>
      <p:sp>
        <p:nvSpPr>
          <p:cNvPr id="17" name="Text 15"/>
          <p:cNvSpPr txBox="1"/>
          <p:nvPr/>
        </p:nvSpPr>
        <p:spPr>
          <a:xfrm>
            <a:off x="1958645" y="4773168"/>
            <a:ext cx="1260043" cy="256032"/>
          </a:xfrm>
          <a:prstGeom prst="rect">
            <a:avLst/>
          </a:prstGeom>
          <a:noFill/>
          <a:ln/>
        </p:spPr>
        <p:txBody>
          <a:bodyPr wrap="square" lIns="0" tIns="0" rIns="0" bIns="0" rtlCol="0" anchor="ctr"/>
          <a:lstStyle/>
          <a:p>
            <a:pPr algn="ctr" indent="0" marL="0">
              <a:buNone/>
            </a:pPr>
            <a:r>
              <a:rPr lang="en-US" sz="1000" b="1" spc="50" kern="0" dirty="0">
                <a:solidFill>
                  <a:schemeClr val="accent3"/>
                </a:solidFill>
              </a:rPr>
              <a:t>UNSUPPORTED</a:t>
            </a:r>
            <a:endParaRPr lang="en-US" sz="1000" dirty="0"/>
          </a:p>
        </p:txBody>
      </p:sp>
      <p:sp>
        <p:nvSpPr>
          <p:cNvPr id="18" name="Shape 16"/>
          <p:cNvSpPr/>
          <p:nvPr/>
        </p:nvSpPr>
        <p:spPr>
          <a:xfrm>
            <a:off x="804672" y="5102352"/>
            <a:ext cx="1349654" cy="256032"/>
          </a:xfrm>
          <a:prstGeom prst="roundRect">
            <a:avLst>
              <a:gd name="adj" fmla="val 50000"/>
            </a:avLst>
          </a:prstGeom>
          <a:solidFill>
            <a:schemeClr val="accent4">
              <a:alpha val="12000"/>
            </a:schemeClr>
          </a:solidFill>
          <a:ln w="9525">
            <a:solidFill>
              <a:schemeClr val="accent4"/>
            </a:solidFill>
            <a:prstDash val="solid"/>
          </a:ln>
        </p:spPr>
      </p:sp>
      <p:sp>
        <p:nvSpPr>
          <p:cNvPr id="19" name="Text 17"/>
          <p:cNvSpPr txBox="1"/>
          <p:nvPr/>
        </p:nvSpPr>
        <p:spPr>
          <a:xfrm>
            <a:off x="804672" y="5102352"/>
            <a:ext cx="1349654" cy="256032"/>
          </a:xfrm>
          <a:prstGeom prst="rect">
            <a:avLst/>
          </a:prstGeom>
          <a:noFill/>
          <a:ln/>
        </p:spPr>
        <p:txBody>
          <a:bodyPr wrap="square" lIns="0" tIns="0" rIns="0" bIns="0" rtlCol="0" anchor="ctr"/>
          <a:lstStyle/>
          <a:p>
            <a:pPr algn="ctr" indent="0" marL="0">
              <a:buNone/>
            </a:pPr>
            <a:r>
              <a:rPr lang="en-US" sz="1000" b="1" spc="50" kern="0" dirty="0">
                <a:solidFill>
                  <a:schemeClr val="accent4"/>
                </a:solidFill>
              </a:rPr>
              <a:t>CONTRADICTED</a:t>
            </a:r>
            <a:endParaRPr lang="en-US" sz="1000" dirty="0"/>
          </a:p>
        </p:txBody>
      </p:sp>
      <p:sp>
        <p:nvSpPr>
          <p:cNvPr id="20" name="Shape 18"/>
          <p:cNvSpPr/>
          <p:nvPr/>
        </p:nvSpPr>
        <p:spPr>
          <a:xfrm>
            <a:off x="2227478" y="5102352"/>
            <a:ext cx="722376" cy="256032"/>
          </a:xfrm>
          <a:prstGeom prst="roundRect">
            <a:avLst>
              <a:gd name="adj" fmla="val 50000"/>
            </a:avLst>
          </a:prstGeom>
          <a:solidFill>
            <a:srgbClr val="8C6A4F">
              <a:alpha val="12000"/>
            </a:srgbClr>
          </a:solidFill>
          <a:ln w="9525">
            <a:solidFill>
              <a:srgbClr val="8C6A4F"/>
            </a:solidFill>
            <a:prstDash val="solid"/>
          </a:ln>
        </p:spPr>
      </p:sp>
      <p:sp>
        <p:nvSpPr>
          <p:cNvPr id="21" name="Text 19"/>
          <p:cNvSpPr txBox="1"/>
          <p:nvPr/>
        </p:nvSpPr>
        <p:spPr>
          <a:xfrm>
            <a:off x="2227478" y="5102352"/>
            <a:ext cx="722376" cy="256032"/>
          </a:xfrm>
          <a:prstGeom prst="rect">
            <a:avLst/>
          </a:prstGeom>
          <a:noFill/>
          <a:ln/>
        </p:spPr>
        <p:txBody>
          <a:bodyPr wrap="square" lIns="0" tIns="0" rIns="0" bIns="0" rtlCol="0" anchor="ctr"/>
          <a:lstStyle/>
          <a:p>
            <a:pPr algn="ctr" indent="0" marL="0">
              <a:buNone/>
            </a:pPr>
            <a:r>
              <a:rPr lang="en-US" sz="1000" b="1" spc="50" kern="0" dirty="0">
                <a:solidFill>
                  <a:srgbClr val="8C6A4F"/>
                </a:solidFill>
              </a:rPr>
              <a:t>STALE</a:t>
            </a:r>
            <a:endParaRPr lang="en-US" sz="1000" dirty="0"/>
          </a:p>
        </p:txBody>
      </p:sp>
      <p:sp>
        <p:nvSpPr>
          <p:cNvPr id="22" name="Shape 20"/>
          <p:cNvSpPr/>
          <p:nvPr/>
        </p:nvSpPr>
        <p:spPr>
          <a:xfrm>
            <a:off x="3023006" y="5102352"/>
            <a:ext cx="901598" cy="256032"/>
          </a:xfrm>
          <a:prstGeom prst="roundRect">
            <a:avLst>
              <a:gd name="adj" fmla="val 50000"/>
            </a:avLst>
          </a:prstGeom>
          <a:solidFill>
            <a:schemeClr val="accent5">
              <a:alpha val="12000"/>
            </a:schemeClr>
          </a:solidFill>
          <a:ln w="9525">
            <a:solidFill>
              <a:schemeClr val="accent5"/>
            </a:solidFill>
            <a:prstDash val="solid"/>
          </a:ln>
        </p:spPr>
      </p:sp>
      <p:sp>
        <p:nvSpPr>
          <p:cNvPr id="23" name="Text 21"/>
          <p:cNvSpPr txBox="1"/>
          <p:nvPr/>
        </p:nvSpPr>
        <p:spPr>
          <a:xfrm>
            <a:off x="3023006" y="5102352"/>
            <a:ext cx="901598" cy="256032"/>
          </a:xfrm>
          <a:prstGeom prst="rect">
            <a:avLst/>
          </a:prstGeom>
          <a:noFill/>
          <a:ln/>
        </p:spPr>
        <p:txBody>
          <a:bodyPr wrap="square" lIns="0" tIns="0" rIns="0" bIns="0" rtlCol="0" anchor="ctr"/>
          <a:lstStyle/>
          <a:p>
            <a:pPr algn="ctr" indent="0" marL="0">
              <a:buNone/>
            </a:pPr>
            <a:r>
              <a:rPr lang="en-US" sz="1000" b="1" spc="50" kern="0" dirty="0">
                <a:solidFill>
                  <a:schemeClr val="accent5"/>
                </a:solidFill>
              </a:rPr>
              <a:t>UNKNOWN</a:t>
            </a:r>
            <a:endParaRPr lang="en-US" sz="1000" dirty="0"/>
          </a:p>
        </p:txBody>
      </p:sp>
      <p:sp>
        <p:nvSpPr>
          <p:cNvPr id="24" name="Text 22"/>
          <p:cNvSpPr txBox="1"/>
          <p:nvPr/>
        </p:nvSpPr>
        <p:spPr>
          <a:xfrm>
            <a:off x="804672" y="5468112"/>
            <a:ext cx="3465576"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ORDER</a:t>
            </a:r>
            <a:endParaRPr lang="en-US" sz="1000" dirty="0"/>
          </a:p>
        </p:txBody>
      </p:sp>
      <p:sp>
        <p:nvSpPr>
          <p:cNvPr id="25" name="Text 23"/>
          <p:cNvSpPr txBox="1"/>
          <p:nvPr/>
        </p:nvSpPr>
        <p:spPr>
          <a:xfrm>
            <a:off x="804672" y="5696712"/>
            <a:ext cx="3465576" cy="274320"/>
          </a:xfrm>
          <a:prstGeom prst="rect">
            <a:avLst/>
          </a:prstGeom>
          <a:noFill/>
          <a:ln/>
        </p:spPr>
        <p:txBody>
          <a:bodyPr wrap="square" lIns="0" tIns="0" rIns="0" bIns="0" rtlCol="0" anchor="t"/>
          <a:lstStyle/>
          <a:p>
            <a:pPr indent="0" marL="0">
              <a:buNone/>
            </a:pPr>
            <a:r>
              <a:rPr lang="en-US" sz="1300" dirty="0">
                <a:solidFill>
                  <a:schemeClr val="tx1"/>
                </a:solidFill>
              </a:rPr>
              <a:t>Rep sees flags before the manager</a:t>
            </a:r>
            <a:endParaRPr lang="en-US" sz="1300" dirty="0"/>
          </a:p>
        </p:txBody>
      </p:sp>
      <p:sp>
        <p:nvSpPr>
          <p:cNvPr id="26" name="Shape 24"/>
          <p:cNvSpPr/>
          <p:nvPr/>
        </p:nvSpPr>
        <p:spPr>
          <a:xfrm>
            <a:off x="4800600" y="1828800"/>
            <a:ext cx="2971800" cy="4279392"/>
          </a:xfrm>
          <a:prstGeom prst="roundRect">
            <a:avLst>
              <a:gd name="adj" fmla="val 3077"/>
            </a:avLst>
          </a:prstGeom>
          <a:solidFill>
            <a:schemeClr val="accent6">
              <a:alpha val="45000"/>
            </a:schemeClr>
          </a:solidFill>
          <a:ln/>
        </p:spPr>
      </p:sp>
      <p:sp>
        <p:nvSpPr>
          <p:cNvPr id="27" name="Text 25"/>
          <p:cNvSpPr txBox="1"/>
          <p:nvPr/>
        </p:nvSpPr>
        <p:spPr>
          <a:xfrm>
            <a:off x="5056632" y="2011680"/>
            <a:ext cx="1828800" cy="365760"/>
          </a:xfrm>
          <a:prstGeom prst="rect">
            <a:avLst/>
          </a:prstGeom>
          <a:noFill/>
          <a:ln/>
        </p:spPr>
        <p:txBody>
          <a:bodyPr wrap="square" lIns="0" tIns="0" rIns="0" bIns="0" rtlCol="0" anchor="t"/>
          <a:lstStyle/>
          <a:p>
            <a:pPr indent="0" marL="0">
              <a:buNone/>
            </a:pPr>
            <a:r>
              <a:rPr lang="en-US" sz="1800" b="1" dirty="0">
                <a:solidFill>
                  <a:schemeClr val="accent5"/>
                </a:solidFill>
              </a:rPr>
              <a:t>Not yet</a:t>
            </a:r>
            <a:endParaRPr lang="en-US" sz="1800" dirty="0"/>
          </a:p>
        </p:txBody>
      </p:sp>
      <p:sp>
        <p:nvSpPr>
          <p:cNvPr id="28" name="Text 26"/>
          <p:cNvSpPr txBox="1"/>
          <p:nvPr/>
        </p:nvSpPr>
        <p:spPr>
          <a:xfrm>
            <a:off x="5056632" y="2487168"/>
            <a:ext cx="2514600" cy="329184"/>
          </a:xfrm>
          <a:prstGeom prst="rect">
            <a:avLst/>
          </a:prstGeom>
          <a:noFill/>
          <a:ln/>
        </p:spPr>
        <p:txBody>
          <a:bodyPr wrap="square" lIns="0" tIns="0" rIns="0" bIns="0" rtlCol="0" anchor="ctr"/>
          <a:lstStyle/>
          <a:p>
            <a:pPr indent="0" marL="0">
              <a:buNone/>
            </a:pPr>
            <a:r>
              <a:rPr lang="en-US" sz="1350" dirty="0">
                <a:solidFill>
                  <a:schemeClr val="accent5"/>
                </a:solidFill>
              </a:rPr>
              <a:t>CRM replacement</a:t>
            </a:r>
            <a:endParaRPr lang="en-US" sz="1350" dirty="0"/>
          </a:p>
        </p:txBody>
      </p:sp>
      <p:sp>
        <p:nvSpPr>
          <p:cNvPr id="29" name="Text 27"/>
          <p:cNvSpPr txBox="1"/>
          <p:nvPr/>
        </p:nvSpPr>
        <p:spPr>
          <a:xfrm>
            <a:off x="5056632" y="2871216"/>
            <a:ext cx="2514600" cy="329184"/>
          </a:xfrm>
          <a:prstGeom prst="rect">
            <a:avLst/>
          </a:prstGeom>
          <a:noFill/>
          <a:ln/>
        </p:spPr>
        <p:txBody>
          <a:bodyPr wrap="square" lIns="0" tIns="0" rIns="0" bIns="0" rtlCol="0" anchor="ctr"/>
          <a:lstStyle/>
          <a:p>
            <a:pPr indent="0" marL="0">
              <a:buNone/>
            </a:pPr>
            <a:r>
              <a:rPr lang="en-US" sz="1350" dirty="0">
                <a:solidFill>
                  <a:schemeClr val="accent5"/>
                </a:solidFill>
              </a:rPr>
              <a:t>Autonomous emails</a:t>
            </a:r>
            <a:endParaRPr lang="en-US" sz="1350" dirty="0"/>
          </a:p>
        </p:txBody>
      </p:sp>
      <p:sp>
        <p:nvSpPr>
          <p:cNvPr id="30" name="Text 28"/>
          <p:cNvSpPr txBox="1"/>
          <p:nvPr/>
        </p:nvSpPr>
        <p:spPr>
          <a:xfrm>
            <a:off x="5056632" y="3255264"/>
            <a:ext cx="2514600" cy="329184"/>
          </a:xfrm>
          <a:prstGeom prst="rect">
            <a:avLst/>
          </a:prstGeom>
          <a:noFill/>
          <a:ln/>
        </p:spPr>
        <p:txBody>
          <a:bodyPr wrap="square" lIns="0" tIns="0" rIns="0" bIns="0" rtlCol="0" anchor="ctr"/>
          <a:lstStyle/>
          <a:p>
            <a:pPr indent="0" marL="0">
              <a:buNone/>
            </a:pPr>
            <a:r>
              <a:rPr lang="en-US" sz="1350" dirty="0">
                <a:solidFill>
                  <a:schemeClr val="accent5"/>
                </a:solidFill>
              </a:rPr>
              <a:t>Win / loss prediction</a:t>
            </a:r>
            <a:endParaRPr lang="en-US" sz="1350" dirty="0"/>
          </a:p>
        </p:txBody>
      </p:sp>
      <p:sp>
        <p:nvSpPr>
          <p:cNvPr id="31" name="Text 29"/>
          <p:cNvSpPr txBox="1"/>
          <p:nvPr/>
        </p:nvSpPr>
        <p:spPr>
          <a:xfrm>
            <a:off x="5056632" y="3639312"/>
            <a:ext cx="2514600" cy="329184"/>
          </a:xfrm>
          <a:prstGeom prst="rect">
            <a:avLst/>
          </a:prstGeom>
          <a:noFill/>
          <a:ln/>
        </p:spPr>
        <p:txBody>
          <a:bodyPr wrap="square" lIns="0" tIns="0" rIns="0" bIns="0" rtlCol="0" anchor="ctr"/>
          <a:lstStyle/>
          <a:p>
            <a:pPr indent="0" marL="0">
              <a:buNone/>
            </a:pPr>
            <a:r>
              <a:rPr lang="en-US" sz="1350" dirty="0">
                <a:solidFill>
                  <a:schemeClr val="accent5"/>
                </a:solidFill>
              </a:rPr>
              <a:t>Generic agent</a:t>
            </a:r>
            <a:endParaRPr lang="en-US" sz="1350" dirty="0"/>
          </a:p>
        </p:txBody>
      </p:sp>
      <p:sp>
        <p:nvSpPr>
          <p:cNvPr id="32" name="Text 30"/>
          <p:cNvSpPr txBox="1"/>
          <p:nvPr/>
        </p:nvSpPr>
        <p:spPr>
          <a:xfrm>
            <a:off x="5056632" y="4023360"/>
            <a:ext cx="2514600" cy="329184"/>
          </a:xfrm>
          <a:prstGeom prst="rect">
            <a:avLst/>
          </a:prstGeom>
          <a:noFill/>
          <a:ln/>
        </p:spPr>
        <p:txBody>
          <a:bodyPr wrap="square" lIns="0" tIns="0" rIns="0" bIns="0" rtlCol="0" anchor="ctr"/>
          <a:lstStyle/>
          <a:p>
            <a:pPr indent="0" marL="0">
              <a:buNone/>
            </a:pPr>
            <a:r>
              <a:rPr lang="en-US" sz="1350" dirty="0">
                <a:solidFill>
                  <a:schemeClr val="accent5"/>
                </a:solidFill>
              </a:rPr>
              <a:t>WhatsApp / chat</a:t>
            </a:r>
            <a:endParaRPr lang="en-US" sz="1350" dirty="0"/>
          </a:p>
        </p:txBody>
      </p:sp>
      <p:sp>
        <p:nvSpPr>
          <p:cNvPr id="33" name="Text 31"/>
          <p:cNvSpPr txBox="1"/>
          <p:nvPr/>
        </p:nvSpPr>
        <p:spPr>
          <a:xfrm>
            <a:off x="5056632" y="4407408"/>
            <a:ext cx="2514600" cy="329184"/>
          </a:xfrm>
          <a:prstGeom prst="rect">
            <a:avLst/>
          </a:prstGeom>
          <a:noFill/>
          <a:ln/>
        </p:spPr>
        <p:txBody>
          <a:bodyPr wrap="square" lIns="0" tIns="0" rIns="0" bIns="0" rtlCol="0" anchor="ctr"/>
          <a:lstStyle/>
          <a:p>
            <a:pPr indent="0" marL="0">
              <a:buNone/>
            </a:pPr>
            <a:r>
              <a:rPr lang="en-US" sz="1350" dirty="0">
                <a:solidFill>
                  <a:schemeClr val="accent5"/>
                </a:solidFill>
              </a:rPr>
              <a:t>Buyer portal</a:t>
            </a:r>
            <a:endParaRPr lang="en-US" sz="1350" dirty="0"/>
          </a:p>
        </p:txBody>
      </p:sp>
      <p:sp>
        <p:nvSpPr>
          <p:cNvPr id="34" name="Text 32"/>
          <p:cNvSpPr txBox="1"/>
          <p:nvPr/>
        </p:nvSpPr>
        <p:spPr>
          <a:xfrm>
            <a:off x="5056632" y="4791456"/>
            <a:ext cx="2514600" cy="329184"/>
          </a:xfrm>
          <a:prstGeom prst="rect">
            <a:avLst/>
          </a:prstGeom>
          <a:noFill/>
          <a:ln/>
        </p:spPr>
        <p:txBody>
          <a:bodyPr wrap="square" lIns="0" tIns="0" rIns="0" bIns="0" rtlCol="0" anchor="ctr"/>
          <a:lstStyle/>
          <a:p>
            <a:pPr indent="0" marL="0">
              <a:buNone/>
            </a:pPr>
            <a:r>
              <a:rPr lang="en-US" sz="1350" dirty="0">
                <a:solidFill>
                  <a:schemeClr val="accent5"/>
                </a:solidFill>
              </a:rPr>
              <a:t>Custom rules engine</a:t>
            </a:r>
            <a:endParaRPr lang="en-US" sz="1350" dirty="0"/>
          </a:p>
        </p:txBody>
      </p:sp>
      <p:sp>
        <p:nvSpPr>
          <p:cNvPr id="35" name="Text 33"/>
          <p:cNvSpPr txBox="1"/>
          <p:nvPr/>
        </p:nvSpPr>
        <p:spPr>
          <a:xfrm>
            <a:off x="5056632" y="5175504"/>
            <a:ext cx="2514600" cy="329184"/>
          </a:xfrm>
          <a:prstGeom prst="rect">
            <a:avLst/>
          </a:prstGeom>
          <a:noFill/>
          <a:ln/>
        </p:spPr>
        <p:txBody>
          <a:bodyPr wrap="square" lIns="0" tIns="0" rIns="0" bIns="0" rtlCol="0" anchor="ctr"/>
          <a:lstStyle/>
          <a:p>
            <a:pPr indent="0" marL="0">
              <a:buNone/>
            </a:pPr>
            <a:r>
              <a:rPr lang="en-US" sz="1350" dirty="0">
                <a:solidFill>
                  <a:schemeClr val="accent5"/>
                </a:solidFill>
              </a:rPr>
              <a:t>Relationship graph</a:t>
            </a:r>
            <a:endParaRPr lang="en-US" sz="1350" dirty="0"/>
          </a:p>
        </p:txBody>
      </p:sp>
      <p:sp>
        <p:nvSpPr>
          <p:cNvPr id="36" name="Text 34"/>
          <p:cNvSpPr txBox="1"/>
          <p:nvPr/>
        </p:nvSpPr>
        <p:spPr>
          <a:xfrm>
            <a:off x="5056632" y="5559552"/>
            <a:ext cx="2514600" cy="329184"/>
          </a:xfrm>
          <a:prstGeom prst="rect">
            <a:avLst/>
          </a:prstGeom>
          <a:noFill/>
          <a:ln/>
        </p:spPr>
        <p:txBody>
          <a:bodyPr wrap="square" lIns="0" tIns="0" rIns="0" bIns="0" rtlCol="0" anchor="ctr"/>
          <a:lstStyle/>
          <a:p>
            <a:pPr indent="0" marL="0">
              <a:buNone/>
            </a:pPr>
            <a:r>
              <a:rPr lang="en-US" sz="1350" dirty="0">
                <a:solidFill>
                  <a:schemeClr val="accent5"/>
                </a:solidFill>
              </a:rPr>
              <a:t>Renewal product</a:t>
            </a:r>
            <a:endParaRPr lang="en-US" sz="1350" dirty="0"/>
          </a:p>
        </p:txBody>
      </p:sp>
      <p:sp>
        <p:nvSpPr>
          <p:cNvPr id="37" name="Shape 35"/>
          <p:cNvSpPr/>
          <p:nvPr/>
        </p:nvSpPr>
        <p:spPr>
          <a:xfrm>
            <a:off x="8046720" y="1828800"/>
            <a:ext cx="3596335" cy="4279392"/>
          </a:xfrm>
          <a:prstGeom prst="roundRect">
            <a:avLst>
              <a:gd name="adj" fmla="val 2543"/>
            </a:avLst>
          </a:prstGeom>
          <a:solidFill>
            <a:schemeClr val="bg1"/>
          </a:solidFill>
          <a:ln w="15875">
            <a:solidFill>
              <a:schemeClr val="tx1"/>
            </a:solidFill>
            <a:prstDash val="solid"/>
          </a:ln>
        </p:spPr>
      </p:sp>
      <p:sp>
        <p:nvSpPr>
          <p:cNvPr id="38" name="Text 36"/>
          <p:cNvSpPr txBox="1"/>
          <p:nvPr/>
        </p:nvSpPr>
        <p:spPr>
          <a:xfrm>
            <a:off x="8302752" y="2011680"/>
            <a:ext cx="2743200" cy="365760"/>
          </a:xfrm>
          <a:prstGeom prst="rect">
            <a:avLst/>
          </a:prstGeom>
          <a:noFill/>
          <a:ln/>
        </p:spPr>
        <p:txBody>
          <a:bodyPr wrap="square" lIns="0" tIns="0" rIns="0" bIns="0" rtlCol="0" anchor="t"/>
          <a:lstStyle/>
          <a:p>
            <a:pPr indent="0" marL="0">
              <a:buNone/>
            </a:pPr>
            <a:r>
              <a:rPr lang="en-US" sz="1800" b="1" dirty="0">
                <a:solidFill>
                  <a:schemeClr val="tx1"/>
                </a:solidFill>
              </a:rPr>
              <a:t>Must prove</a:t>
            </a:r>
            <a:endParaRPr lang="en-US" sz="1800" dirty="0"/>
          </a:p>
        </p:txBody>
      </p:sp>
      <p:sp>
        <p:nvSpPr>
          <p:cNvPr id="39" name="Text 37"/>
          <p:cNvSpPr txBox="1"/>
          <p:nvPr/>
        </p:nvSpPr>
        <p:spPr>
          <a:xfrm>
            <a:off x="8302752" y="2514600"/>
            <a:ext cx="1417320" cy="457200"/>
          </a:xfrm>
          <a:prstGeom prst="rect">
            <a:avLst/>
          </a:prstGeom>
          <a:noFill/>
          <a:ln/>
        </p:spPr>
        <p:txBody>
          <a:bodyPr wrap="square" lIns="0" tIns="0" rIns="0" bIns="0" rtlCol="0" anchor="ctr"/>
          <a:lstStyle/>
          <a:p>
            <a:pPr indent="0" marL="0">
              <a:buNone/>
            </a:pPr>
            <a:r>
              <a:rPr lang="en-US" sz="2600" b="1" dirty="0">
                <a:solidFill>
                  <a:schemeClr val="accent1"/>
                </a:solidFill>
              </a:rPr>
              <a:t>≥90%</a:t>
            </a:r>
            <a:endParaRPr lang="en-US" sz="2600" dirty="0"/>
          </a:p>
        </p:txBody>
      </p:sp>
      <p:sp>
        <p:nvSpPr>
          <p:cNvPr id="40" name="Text 38"/>
          <p:cNvSpPr txBox="1"/>
          <p:nvPr/>
        </p:nvSpPr>
        <p:spPr>
          <a:xfrm>
            <a:off x="9646920" y="2459736"/>
            <a:ext cx="1813255" cy="585216"/>
          </a:xfrm>
          <a:prstGeom prst="rect">
            <a:avLst/>
          </a:prstGeom>
          <a:noFill/>
          <a:ln/>
        </p:spPr>
        <p:txBody>
          <a:bodyPr wrap="square" lIns="0" tIns="0" rIns="0" bIns="0" rtlCol="0" anchor="ctr"/>
          <a:lstStyle/>
          <a:p>
            <a:pPr indent="0" marL="0">
              <a:buNone/>
            </a:pPr>
            <a:r>
              <a:rPr lang="en-US" sz="1250" dirty="0">
                <a:solidFill>
                  <a:schemeClr val="tx1"/>
                </a:solidFill>
              </a:rPr>
              <a:t>of evidence citations are correct and relevant</a:t>
            </a:r>
            <a:endParaRPr lang="en-US" sz="1250" dirty="0"/>
          </a:p>
        </p:txBody>
      </p:sp>
      <p:sp>
        <p:nvSpPr>
          <p:cNvPr id="41" name="Shape 39"/>
          <p:cNvSpPr/>
          <p:nvPr/>
        </p:nvSpPr>
        <p:spPr>
          <a:xfrm>
            <a:off x="8302752" y="3264408"/>
            <a:ext cx="3084271" cy="0"/>
          </a:xfrm>
          <a:prstGeom prst="line">
            <a:avLst/>
          </a:prstGeom>
          <a:noFill/>
          <a:ln w="9525">
            <a:solidFill>
              <a:schemeClr val="accent6"/>
            </a:solidFill>
            <a:prstDash val="solid"/>
          </a:ln>
        </p:spPr>
      </p:sp>
      <p:sp>
        <p:nvSpPr>
          <p:cNvPr id="42" name="Text 40"/>
          <p:cNvSpPr txBox="1"/>
          <p:nvPr/>
        </p:nvSpPr>
        <p:spPr>
          <a:xfrm>
            <a:off x="8302752" y="3502152"/>
            <a:ext cx="1417320" cy="457200"/>
          </a:xfrm>
          <a:prstGeom prst="rect">
            <a:avLst/>
          </a:prstGeom>
          <a:noFill/>
          <a:ln/>
        </p:spPr>
        <p:txBody>
          <a:bodyPr wrap="square" lIns="0" tIns="0" rIns="0" bIns="0" rtlCol="0" anchor="ctr"/>
          <a:lstStyle/>
          <a:p>
            <a:pPr indent="0" marL="0">
              <a:buNone/>
            </a:pPr>
            <a:r>
              <a:rPr lang="en-US" sz="2600" b="1" dirty="0">
                <a:solidFill>
                  <a:schemeClr val="accent1"/>
                </a:solidFill>
              </a:rPr>
              <a:t>&gt;50%</a:t>
            </a:r>
            <a:endParaRPr lang="en-US" sz="2600" dirty="0"/>
          </a:p>
        </p:txBody>
      </p:sp>
      <p:sp>
        <p:nvSpPr>
          <p:cNvPr id="43" name="Text 41"/>
          <p:cNvSpPr txBox="1"/>
          <p:nvPr/>
        </p:nvSpPr>
        <p:spPr>
          <a:xfrm>
            <a:off x="9646920" y="3447288"/>
            <a:ext cx="1813255" cy="585216"/>
          </a:xfrm>
          <a:prstGeom prst="rect">
            <a:avLst/>
          </a:prstGeom>
          <a:noFill/>
          <a:ln/>
        </p:spPr>
        <p:txBody>
          <a:bodyPr wrap="square" lIns="0" tIns="0" rIns="0" bIns="0" rtlCol="0" anchor="ctr"/>
          <a:lstStyle/>
          <a:p>
            <a:pPr indent="0" marL="0">
              <a:buNone/>
            </a:pPr>
            <a:r>
              <a:rPr lang="en-US" sz="1250" dirty="0">
                <a:solidFill>
                  <a:schemeClr val="tx1"/>
                </a:solidFill>
              </a:rPr>
              <a:t>of surfaced flags are judged worth raising by managers</a:t>
            </a:r>
            <a:endParaRPr lang="en-US" sz="1250" dirty="0"/>
          </a:p>
        </p:txBody>
      </p:sp>
      <p:sp>
        <p:nvSpPr>
          <p:cNvPr id="44" name="Shape 42"/>
          <p:cNvSpPr/>
          <p:nvPr/>
        </p:nvSpPr>
        <p:spPr>
          <a:xfrm>
            <a:off x="8302752" y="4251960"/>
            <a:ext cx="3084271" cy="0"/>
          </a:xfrm>
          <a:prstGeom prst="line">
            <a:avLst/>
          </a:prstGeom>
          <a:noFill/>
          <a:ln w="9525">
            <a:solidFill>
              <a:schemeClr val="accent6"/>
            </a:solidFill>
            <a:prstDash val="solid"/>
          </a:ln>
        </p:spPr>
      </p:sp>
      <p:sp>
        <p:nvSpPr>
          <p:cNvPr id="45" name="Text 43"/>
          <p:cNvSpPr txBox="1"/>
          <p:nvPr/>
        </p:nvSpPr>
        <p:spPr>
          <a:xfrm>
            <a:off x="8302752" y="4489704"/>
            <a:ext cx="1417320" cy="457200"/>
          </a:xfrm>
          <a:prstGeom prst="rect">
            <a:avLst/>
          </a:prstGeom>
          <a:noFill/>
          <a:ln/>
        </p:spPr>
        <p:txBody>
          <a:bodyPr wrap="square" lIns="0" tIns="0" rIns="0" bIns="0" rtlCol="0" anchor="ctr"/>
          <a:lstStyle/>
          <a:p>
            <a:pPr indent="0" marL="0">
              <a:buNone/>
            </a:pPr>
            <a:r>
              <a:rPr lang="en-US" sz="1700" b="1" dirty="0">
                <a:solidFill>
                  <a:schemeClr val="accent1"/>
                </a:solidFill>
              </a:rPr>
              <a:t>Guardrail</a:t>
            </a:r>
            <a:endParaRPr lang="en-US" sz="1700" dirty="0"/>
          </a:p>
        </p:txBody>
      </p:sp>
      <p:sp>
        <p:nvSpPr>
          <p:cNvPr id="46" name="Text 44"/>
          <p:cNvSpPr txBox="1"/>
          <p:nvPr/>
        </p:nvSpPr>
        <p:spPr>
          <a:xfrm>
            <a:off x="9646920" y="4434840"/>
            <a:ext cx="1813255" cy="585216"/>
          </a:xfrm>
          <a:prstGeom prst="rect">
            <a:avLst/>
          </a:prstGeom>
          <a:noFill/>
          <a:ln/>
        </p:spPr>
        <p:txBody>
          <a:bodyPr wrap="square" lIns="0" tIns="0" rIns="0" bIns="0" rtlCol="0" anchor="ctr"/>
          <a:lstStyle/>
          <a:p>
            <a:pPr indent="0" marL="0">
              <a:buNone/>
            </a:pPr>
            <a:r>
              <a:rPr lang="en-US" sz="1250" dirty="0">
                <a:solidFill>
                  <a:schemeClr val="tx1"/>
                </a:solidFill>
              </a:rPr>
              <a:t>Reps don't reject it or record less: disputes and avoidance stay low</a:t>
            </a:r>
            <a:endParaRPr lang="en-US" sz="1250" dirty="0"/>
          </a:p>
        </p:txBody>
      </p:sp>
      <p:sp>
        <p:nvSpPr>
          <p:cNvPr id="47" name="Text 45"/>
          <p:cNvSpPr txBox="1"/>
          <p:nvPr/>
        </p:nvSpPr>
        <p:spPr>
          <a:xfrm>
            <a:off x="8302752" y="5605272"/>
            <a:ext cx="3084271" cy="320040"/>
          </a:xfrm>
          <a:prstGeom prst="rect">
            <a:avLst/>
          </a:prstGeom>
          <a:noFill/>
          <a:ln/>
        </p:spPr>
        <p:txBody>
          <a:bodyPr wrap="square" lIns="0" tIns="0" rIns="0" bIns="0" rtlCol="0" anchor="ctr"/>
          <a:lstStyle/>
          <a:p>
            <a:pPr indent="0" marL="0">
              <a:buNone/>
            </a:pPr>
            <a:r>
              <a:rPr lang="en-US" sz="1100" i="1" dirty="0">
                <a:solidFill>
                  <a:schemeClr val="accent5"/>
                </a:solidFill>
              </a:rPr>
              <a:t>Proposed validation thresholds, not industry benchmarks</a:t>
            </a:r>
            <a:endParaRPr lang="en-US" sz="11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BUSINESS MODEL</a:t>
            </a:r>
            <a:endParaRPr lang="en-US" sz="1100" dirty="0"/>
          </a:p>
        </p:txBody>
      </p:sp>
      <p:sp>
        <p:nvSpPr>
          <p:cNvPr id="3" name="Text 0"/>
          <p:cNvSpPr/>
          <p:nvPr>
            <p:ph idx="101" type="title" hasCustomPrompt="1"/>
          </p:nvPr>
        </p:nvSpPr>
        <p:spPr>
          <a:xfrm>
            <a:off x="548640" y="603504"/>
            <a:ext cx="11094415" cy="987552"/>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rPr>
              <a:t>The CRO buys a read-only audit first; recurring evidence review becomes the subscription.</a:t>
            </a:r>
            <a:endParaRPr lang="en-US" sz="2800" dirty="0"/>
          </a:p>
        </p:txBody>
      </p:sp>
      <p:sp>
        <p:nvSpPr>
          <p:cNvPr id="4" name="Text 0"/>
          <p:cNvSpPr/>
          <p:nvPr>
            <p:ph idx="102" type="body" hasCustomPrompt="1"/>
          </p:nvPr>
        </p:nvSpPr>
        <p:spPr>
          <a:xfrm>
            <a:off x="548640" y="6327648"/>
            <a:ext cx="10287000" cy="384048"/>
          </a:xfrm>
          <a:prstGeom prst="rect">
            <a:avLst/>
          </a:prstGeom>
          <a:noFill/>
          <a:ln/>
        </p:spPr>
        <p:txBody>
          <a:bodyPr wrap="square" lIns="0" tIns="0" rIns="0" bIns="0" rtlCol="0" anchor="t"/>
          <a:lstStyle/>
          <a:p>
            <a:pPr algn="l" indent="0" marL="0">
              <a:buNone/>
            </a:pPr>
            <a:r>
              <a:rPr lang="en-US" sz="1000" dirty="0">
                <a:solidFill>
                  <a:schemeClr val="accent5"/>
                </a:solidFill>
              </a:rPr>
              <a:t>FACT  ·  Gong ARR &gt;$500M (vendor, May 2026); Clari + Salesloft ≈$450M ARR (Forrester, 2025)     HYPOTHESIS  ·  pricing and adoption path</a:t>
            </a:r>
            <a:endParaRPr lang="en-US" sz="1000" dirty="0"/>
          </a:p>
        </p:txBody>
      </p:sp>
      <p:sp>
        <p:nvSpPr>
          <p:cNvPr id="5" name="Shape 3"/>
          <p:cNvSpPr/>
          <p:nvPr/>
        </p:nvSpPr>
        <p:spPr>
          <a:xfrm>
            <a:off x="548640" y="1828800"/>
            <a:ext cx="2834640" cy="4297680"/>
          </a:xfrm>
          <a:prstGeom prst="roundRect">
            <a:avLst>
              <a:gd name="adj" fmla="val 3226"/>
            </a:avLst>
          </a:prstGeom>
          <a:solidFill>
            <a:schemeClr val="bg1"/>
          </a:solidFill>
          <a:ln w="9525">
            <a:solidFill>
              <a:schemeClr val="accent6"/>
            </a:solidFill>
            <a:prstDash val="solid"/>
          </a:ln>
        </p:spPr>
      </p:sp>
      <p:sp>
        <p:nvSpPr>
          <p:cNvPr id="6" name="Text 4"/>
          <p:cNvSpPr txBox="1"/>
          <p:nvPr/>
        </p:nvSpPr>
        <p:spPr>
          <a:xfrm>
            <a:off x="804672" y="2029968"/>
            <a:ext cx="2322576"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WHO</a:t>
            </a:r>
            <a:endParaRPr lang="en-US" sz="1000" dirty="0"/>
          </a:p>
        </p:txBody>
      </p:sp>
      <p:sp>
        <p:nvSpPr>
          <p:cNvPr id="7" name="Text 5"/>
          <p:cNvSpPr txBox="1"/>
          <p:nvPr/>
        </p:nvSpPr>
        <p:spPr>
          <a:xfrm>
            <a:off x="804672" y="2331720"/>
            <a:ext cx="2322576"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CUSTOMERS</a:t>
            </a:r>
            <a:endParaRPr lang="en-US" sz="1000" dirty="0"/>
          </a:p>
        </p:txBody>
      </p:sp>
      <p:sp>
        <p:nvSpPr>
          <p:cNvPr id="8" name="Text 6"/>
          <p:cNvSpPr txBox="1"/>
          <p:nvPr/>
        </p:nvSpPr>
        <p:spPr>
          <a:xfrm>
            <a:off x="804672" y="2560320"/>
            <a:ext cx="2322576" cy="868680"/>
          </a:xfrm>
          <a:prstGeom prst="rect">
            <a:avLst/>
          </a:prstGeom>
          <a:noFill/>
          <a:ln/>
        </p:spPr>
        <p:txBody>
          <a:bodyPr wrap="square" lIns="0" tIns="0" rIns="0" bIns="0" rtlCol="0" anchor="t"/>
          <a:lstStyle/>
          <a:p>
            <a:pPr indent="0" marL="0">
              <a:buNone/>
            </a:pPr>
            <a:r>
              <a:rPr lang="en-US" sz="1300" dirty="0">
                <a:solidFill>
                  <a:schemeClr val="tx1"/>
                </a:solidFill>
              </a:rPr>
              <a:t>B2B teams with complex, multi-stakeholder deals, Salesforce or HubSpot, and recorded conversations</a:t>
            </a:r>
            <a:endParaRPr lang="en-US" sz="1300" dirty="0"/>
          </a:p>
        </p:txBody>
      </p:sp>
      <p:sp>
        <p:nvSpPr>
          <p:cNvPr id="9" name="Text 7"/>
          <p:cNvSpPr txBox="1"/>
          <p:nvPr/>
        </p:nvSpPr>
        <p:spPr>
          <a:xfrm>
            <a:off x="804672" y="3538728"/>
            <a:ext cx="2322576"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BUYER</a:t>
            </a:r>
            <a:endParaRPr lang="en-US" sz="1000" dirty="0"/>
          </a:p>
        </p:txBody>
      </p:sp>
      <p:sp>
        <p:nvSpPr>
          <p:cNvPr id="10" name="Text 8"/>
          <p:cNvSpPr txBox="1"/>
          <p:nvPr/>
        </p:nvSpPr>
        <p:spPr>
          <a:xfrm>
            <a:off x="804672" y="3767328"/>
            <a:ext cx="2322576" cy="274320"/>
          </a:xfrm>
          <a:prstGeom prst="rect">
            <a:avLst/>
          </a:prstGeom>
          <a:noFill/>
          <a:ln/>
        </p:spPr>
        <p:txBody>
          <a:bodyPr wrap="square" lIns="0" tIns="0" rIns="0" bIns="0" rtlCol="0" anchor="t"/>
          <a:lstStyle/>
          <a:p>
            <a:pPr indent="0" marL="0">
              <a:buNone/>
            </a:pPr>
            <a:r>
              <a:rPr lang="en-US" sz="1300" dirty="0">
                <a:solidFill>
                  <a:schemeClr val="tx1"/>
                </a:solidFill>
              </a:rPr>
              <a:t>CRO / VP Sales</a:t>
            </a:r>
            <a:endParaRPr lang="en-US" sz="1300" dirty="0"/>
          </a:p>
        </p:txBody>
      </p:sp>
      <p:sp>
        <p:nvSpPr>
          <p:cNvPr id="11" name="Text 9"/>
          <p:cNvSpPr txBox="1"/>
          <p:nvPr/>
        </p:nvSpPr>
        <p:spPr>
          <a:xfrm>
            <a:off x="804672" y="4151376"/>
            <a:ext cx="2322576"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CHAMPION</a:t>
            </a:r>
            <a:endParaRPr lang="en-US" sz="1000" dirty="0"/>
          </a:p>
        </p:txBody>
      </p:sp>
      <p:sp>
        <p:nvSpPr>
          <p:cNvPr id="12" name="Text 10"/>
          <p:cNvSpPr txBox="1"/>
          <p:nvPr/>
        </p:nvSpPr>
        <p:spPr>
          <a:xfrm>
            <a:off x="804672" y="4379976"/>
            <a:ext cx="2322576" cy="274320"/>
          </a:xfrm>
          <a:prstGeom prst="rect">
            <a:avLst/>
          </a:prstGeom>
          <a:noFill/>
          <a:ln/>
        </p:spPr>
        <p:txBody>
          <a:bodyPr wrap="square" lIns="0" tIns="0" rIns="0" bIns="0" rtlCol="0" anchor="t"/>
          <a:lstStyle/>
          <a:p>
            <a:pPr indent="0" marL="0">
              <a:buNone/>
            </a:pPr>
            <a:r>
              <a:rPr lang="en-US" sz="1300" dirty="0">
                <a:solidFill>
                  <a:schemeClr val="tx1"/>
                </a:solidFill>
              </a:rPr>
              <a:t>RevOps</a:t>
            </a:r>
            <a:endParaRPr lang="en-US" sz="1300" dirty="0"/>
          </a:p>
        </p:txBody>
      </p:sp>
      <p:sp>
        <p:nvSpPr>
          <p:cNvPr id="13" name="Text 11"/>
          <p:cNvSpPr txBox="1"/>
          <p:nvPr/>
        </p:nvSpPr>
        <p:spPr>
          <a:xfrm>
            <a:off x="804672" y="4764024"/>
            <a:ext cx="2322576"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USER</a:t>
            </a:r>
            <a:endParaRPr lang="en-US" sz="1000" dirty="0"/>
          </a:p>
        </p:txBody>
      </p:sp>
      <p:sp>
        <p:nvSpPr>
          <p:cNvPr id="14" name="Text 12"/>
          <p:cNvSpPr txBox="1"/>
          <p:nvPr/>
        </p:nvSpPr>
        <p:spPr>
          <a:xfrm>
            <a:off x="804672" y="4992624"/>
            <a:ext cx="2322576" cy="274320"/>
          </a:xfrm>
          <a:prstGeom prst="rect">
            <a:avLst/>
          </a:prstGeom>
          <a:noFill/>
          <a:ln/>
        </p:spPr>
        <p:txBody>
          <a:bodyPr wrap="square" lIns="0" tIns="0" rIns="0" bIns="0" rtlCol="0" anchor="t"/>
          <a:lstStyle/>
          <a:p>
            <a:pPr indent="0" marL="0">
              <a:buNone/>
            </a:pPr>
            <a:r>
              <a:rPr lang="en-US" sz="1300" dirty="0">
                <a:solidFill>
                  <a:schemeClr val="tx1"/>
                </a:solidFill>
              </a:rPr>
              <a:t>Front-line sales manager</a:t>
            </a:r>
            <a:endParaRPr lang="en-US" sz="1300" dirty="0"/>
          </a:p>
        </p:txBody>
      </p:sp>
      <p:sp>
        <p:nvSpPr>
          <p:cNvPr id="15" name="Shape 13"/>
          <p:cNvSpPr/>
          <p:nvPr/>
        </p:nvSpPr>
        <p:spPr>
          <a:xfrm>
            <a:off x="804672" y="5394960"/>
            <a:ext cx="2322576" cy="0"/>
          </a:xfrm>
          <a:prstGeom prst="line">
            <a:avLst/>
          </a:prstGeom>
          <a:noFill/>
          <a:ln w="9525">
            <a:solidFill>
              <a:schemeClr val="accent6"/>
            </a:solidFill>
            <a:prstDash val="solid"/>
          </a:ln>
        </p:spPr>
      </p:sp>
      <p:sp>
        <p:nvSpPr>
          <p:cNvPr id="16" name="Text 14"/>
          <p:cNvSpPr txBox="1"/>
          <p:nvPr/>
        </p:nvSpPr>
        <p:spPr>
          <a:xfrm>
            <a:off x="804672" y="5468112"/>
            <a:ext cx="2322576" cy="502920"/>
          </a:xfrm>
          <a:prstGeom prst="rect">
            <a:avLst/>
          </a:prstGeom>
          <a:noFill/>
          <a:ln/>
        </p:spPr>
        <p:txBody>
          <a:bodyPr wrap="square" lIns="0" tIns="0" rIns="0" bIns="0" rtlCol="0" anchor="t"/>
          <a:lstStyle/>
          <a:p>
            <a:pPr indent="0" marL="0">
              <a:buNone/>
            </a:pPr>
            <a:r>
              <a:rPr lang="en-US" sz="1100" i="1" dirty="0">
                <a:solidFill>
                  <a:schemeClr val="accent5"/>
                </a:solidFill>
              </a:rPr>
              <a:t>Precedent: buyers already fund tools beside the CRM, such as Gong and Clari.</a:t>
            </a:r>
            <a:endParaRPr lang="en-US" sz="1100" dirty="0"/>
          </a:p>
        </p:txBody>
      </p:sp>
      <p:sp>
        <p:nvSpPr>
          <p:cNvPr id="17" name="Shape 15"/>
          <p:cNvSpPr/>
          <p:nvPr/>
        </p:nvSpPr>
        <p:spPr>
          <a:xfrm>
            <a:off x="3657600" y="1828800"/>
            <a:ext cx="3767328" cy="2240280"/>
          </a:xfrm>
          <a:prstGeom prst="roundRect">
            <a:avLst>
              <a:gd name="adj" fmla="val 4082"/>
            </a:avLst>
          </a:prstGeom>
          <a:solidFill>
            <a:schemeClr val="bg1"/>
          </a:solidFill>
          <a:ln w="19050">
            <a:solidFill>
              <a:schemeClr val="accent1"/>
            </a:solidFill>
            <a:prstDash val="solid"/>
          </a:ln>
        </p:spPr>
      </p:sp>
      <p:sp>
        <p:nvSpPr>
          <p:cNvPr id="18" name="Text 16"/>
          <p:cNvSpPr txBox="1"/>
          <p:nvPr/>
        </p:nvSpPr>
        <p:spPr>
          <a:xfrm>
            <a:off x="3913632" y="2011680"/>
            <a:ext cx="3255264" cy="219456"/>
          </a:xfrm>
          <a:prstGeom prst="rect">
            <a:avLst/>
          </a:prstGeom>
          <a:noFill/>
          <a:ln/>
        </p:spPr>
        <p:txBody>
          <a:bodyPr wrap="square" lIns="0" tIns="0" rIns="0" bIns="0" rtlCol="0" anchor="t"/>
          <a:lstStyle/>
          <a:p>
            <a:pPr indent="0" marL="0">
              <a:buNone/>
            </a:pPr>
            <a:r>
              <a:rPr lang="en-US" sz="1000" b="1" spc="100" kern="0" dirty="0">
                <a:solidFill>
                  <a:schemeClr val="accent1"/>
                </a:solidFill>
              </a:rPr>
              <a:t>STEP 1  ·  ENTRY</a:t>
            </a:r>
            <a:endParaRPr lang="en-US" sz="1000" dirty="0"/>
          </a:p>
        </p:txBody>
      </p:sp>
      <p:sp>
        <p:nvSpPr>
          <p:cNvPr id="19" name="Text 17"/>
          <p:cNvSpPr txBox="1"/>
          <p:nvPr/>
        </p:nvSpPr>
        <p:spPr>
          <a:xfrm>
            <a:off x="3913632" y="2249424"/>
            <a:ext cx="3255264" cy="347472"/>
          </a:xfrm>
          <a:prstGeom prst="rect">
            <a:avLst/>
          </a:prstGeom>
          <a:noFill/>
          <a:ln/>
        </p:spPr>
        <p:txBody>
          <a:bodyPr wrap="square" lIns="0" tIns="0" rIns="0" bIns="0" rtlCol="0" anchor="t"/>
          <a:lstStyle/>
          <a:p>
            <a:pPr indent="0" marL="0">
              <a:buNone/>
            </a:pPr>
            <a:r>
              <a:rPr lang="en-US" sz="1600" b="1" dirty="0">
                <a:solidFill>
                  <a:schemeClr val="tx1"/>
                </a:solidFill>
              </a:rPr>
              <a:t>Historical deal evidence audit</a:t>
            </a:r>
            <a:endParaRPr lang="en-US" sz="1600" dirty="0"/>
          </a:p>
        </p:txBody>
      </p:sp>
      <p:sp>
        <p:nvSpPr>
          <p:cNvPr id="20" name="Text 18"/>
          <p:cNvSpPr txBox="1"/>
          <p:nvPr/>
        </p:nvSpPr>
        <p:spPr>
          <a:xfrm>
            <a:off x="3913632" y="2615184"/>
            <a:ext cx="3255264" cy="274320"/>
          </a:xfrm>
          <a:prstGeom prst="rect">
            <a:avLst/>
          </a:prstGeom>
          <a:noFill/>
          <a:ln/>
        </p:spPr>
        <p:txBody>
          <a:bodyPr wrap="square" lIns="0" tIns="0" rIns="0" bIns="0" rtlCol="0" anchor="t"/>
          <a:lstStyle/>
          <a:p>
            <a:pPr indent="0" marL="0">
              <a:buNone/>
            </a:pPr>
            <a:r>
              <a:rPr lang="en-US" sz="1250" dirty="0">
                <a:solidFill>
                  <a:schemeClr val="tx2"/>
                </a:solidFill>
              </a:rPr>
              <a:t>Last quarter's deals, read-only access.</a:t>
            </a:r>
            <a:endParaRPr lang="en-US" sz="1250" dirty="0"/>
          </a:p>
        </p:txBody>
      </p:sp>
      <p:sp>
        <p:nvSpPr>
          <p:cNvPr id="21" name="Text 19"/>
          <p:cNvSpPr txBox="1"/>
          <p:nvPr/>
        </p:nvSpPr>
        <p:spPr>
          <a:xfrm>
            <a:off x="3913632" y="2926080"/>
            <a:ext cx="3255264" cy="640080"/>
          </a:xfrm>
          <a:prstGeom prst="rect">
            <a:avLst/>
          </a:prstGeom>
          <a:noFill/>
          <a:ln/>
        </p:spPr>
        <p:txBody>
          <a:bodyPr wrap="square" lIns="0" tIns="0" rIns="0" bIns="0" rtlCol="0" anchor="t"/>
          <a:lstStyle/>
          <a:p>
            <a:pPr indent="0" marL="0">
              <a:buNone/>
            </a:pPr>
            <a:r>
              <a:rPr lang="en-US" sz="1250" i="1" dirty="0">
                <a:solidFill>
                  <a:schemeClr val="tx1"/>
                </a:solidFill>
              </a:rPr>
              <a:t>“Which slipped or lost deals looked healthy in the CRM but lacked customer evidence behind critical claims?”</a:t>
            </a:r>
            <a:endParaRPr lang="en-US" sz="1250" dirty="0"/>
          </a:p>
        </p:txBody>
      </p:sp>
      <p:sp>
        <p:nvSpPr>
          <p:cNvPr id="22" name="Text 20"/>
          <p:cNvSpPr txBox="1"/>
          <p:nvPr/>
        </p:nvSpPr>
        <p:spPr>
          <a:xfrm>
            <a:off x="3913632" y="3566160"/>
            <a:ext cx="3255264" cy="411480"/>
          </a:xfrm>
          <a:prstGeom prst="rect">
            <a:avLst/>
          </a:prstGeom>
          <a:noFill/>
          <a:ln/>
        </p:spPr>
        <p:txBody>
          <a:bodyPr wrap="square" lIns="0" tIns="0" rIns="0" bIns="0" rtlCol="0" anchor="t"/>
          <a:lstStyle/>
          <a:p>
            <a:pPr indent="0" marL="0">
              <a:buNone/>
            </a:pPr>
            <a:r>
              <a:rPr lang="en-US" sz="1100" dirty="0">
                <a:solidFill>
                  <a:schemeClr val="accent5"/>
                </a:solidFill>
              </a:rPr>
              <a:t>Stop if lost and slipped deals carry no more unsupported or contradicted claims than won ones.</a:t>
            </a:r>
            <a:endParaRPr lang="en-US" sz="1100" dirty="0"/>
          </a:p>
        </p:txBody>
      </p:sp>
      <p:sp>
        <p:nvSpPr>
          <p:cNvPr id="23" name="Shape 21"/>
          <p:cNvSpPr/>
          <p:nvPr/>
        </p:nvSpPr>
        <p:spPr>
          <a:xfrm>
            <a:off x="7498080" y="2948940"/>
            <a:ext cx="304495" cy="0"/>
          </a:xfrm>
          <a:prstGeom prst="line">
            <a:avLst/>
          </a:prstGeom>
          <a:noFill/>
          <a:ln w="19050">
            <a:solidFill>
              <a:schemeClr val="accent5"/>
            </a:solidFill>
            <a:prstDash val="solid"/>
            <a:tailEnd type="triangle"/>
          </a:ln>
        </p:spPr>
      </p:sp>
      <p:sp>
        <p:nvSpPr>
          <p:cNvPr id="24" name="Shape 22"/>
          <p:cNvSpPr/>
          <p:nvPr/>
        </p:nvSpPr>
        <p:spPr>
          <a:xfrm>
            <a:off x="7875727" y="1828800"/>
            <a:ext cx="3767328" cy="2240280"/>
          </a:xfrm>
          <a:prstGeom prst="roundRect">
            <a:avLst>
              <a:gd name="adj" fmla="val 4082"/>
            </a:avLst>
          </a:prstGeom>
          <a:solidFill>
            <a:schemeClr val="bg1"/>
          </a:solidFill>
          <a:ln w="9525">
            <a:solidFill>
              <a:schemeClr val="accent6"/>
            </a:solidFill>
            <a:prstDash val="solid"/>
          </a:ln>
        </p:spPr>
      </p:sp>
      <p:sp>
        <p:nvSpPr>
          <p:cNvPr id="25" name="Text 23"/>
          <p:cNvSpPr txBox="1"/>
          <p:nvPr/>
        </p:nvSpPr>
        <p:spPr>
          <a:xfrm>
            <a:off x="8131759" y="2011680"/>
            <a:ext cx="3255264"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STEP 2  ·  RECURRING</a:t>
            </a:r>
            <a:endParaRPr lang="en-US" sz="1000" dirty="0"/>
          </a:p>
        </p:txBody>
      </p:sp>
      <p:sp>
        <p:nvSpPr>
          <p:cNvPr id="26" name="Text 24"/>
          <p:cNvSpPr txBox="1"/>
          <p:nvPr/>
        </p:nvSpPr>
        <p:spPr>
          <a:xfrm>
            <a:off x="8131759" y="2249424"/>
            <a:ext cx="3255264" cy="347472"/>
          </a:xfrm>
          <a:prstGeom prst="rect">
            <a:avLst/>
          </a:prstGeom>
          <a:noFill/>
          <a:ln/>
        </p:spPr>
        <p:txBody>
          <a:bodyPr wrap="square" lIns="0" tIns="0" rIns="0" bIns="0" rtlCol="0" anchor="t"/>
          <a:lstStyle/>
          <a:p>
            <a:pPr indent="0" marL="0">
              <a:buNone/>
            </a:pPr>
            <a:r>
              <a:rPr lang="en-US" sz="1600" b="1" dirty="0">
                <a:solidFill>
                  <a:schemeClr val="tx1"/>
                </a:solidFill>
              </a:rPr>
              <a:t>Weekly live evidence review</a:t>
            </a:r>
            <a:endParaRPr lang="en-US" sz="1600" dirty="0"/>
          </a:p>
        </p:txBody>
      </p:sp>
      <p:sp>
        <p:nvSpPr>
          <p:cNvPr id="27" name="Text 25"/>
          <p:cNvSpPr txBox="1"/>
          <p:nvPr/>
        </p:nvSpPr>
        <p:spPr>
          <a:xfrm>
            <a:off x="8131759" y="2615184"/>
            <a:ext cx="3255264" cy="731520"/>
          </a:xfrm>
          <a:prstGeom prst="rect">
            <a:avLst/>
          </a:prstGeom>
          <a:noFill/>
          <a:ln/>
        </p:spPr>
        <p:txBody>
          <a:bodyPr wrap="square" lIns="0" tIns="0" rIns="0" bIns="0" rtlCol="0" anchor="t"/>
          <a:lstStyle/>
          <a:p>
            <a:pPr indent="0" marL="0">
              <a:buNone/>
            </a:pPr>
            <a:r>
              <a:rPr lang="en-US" sz="1250" dirty="0">
                <a:solidFill>
                  <a:schemeClr val="tx2"/>
                </a:solidFill>
              </a:rPr>
              <a:t>Before each forecast call, on Commit and Best Case deals. The rep sees flags first; the manager gets a short list.</a:t>
            </a:r>
            <a:endParaRPr lang="en-US" sz="1250" dirty="0"/>
          </a:p>
        </p:txBody>
      </p:sp>
      <p:sp>
        <p:nvSpPr>
          <p:cNvPr id="28" name="Text 26"/>
          <p:cNvSpPr txBox="1"/>
          <p:nvPr/>
        </p:nvSpPr>
        <p:spPr>
          <a:xfrm>
            <a:off x="3657600" y="4251960"/>
            <a:ext cx="3657600" cy="237744"/>
          </a:xfrm>
          <a:prstGeom prst="rect">
            <a:avLst/>
          </a:prstGeom>
          <a:noFill/>
          <a:ln/>
        </p:spPr>
        <p:txBody>
          <a:bodyPr wrap="square" lIns="0" tIns="0" rIns="0" bIns="0" rtlCol="0" anchor="t"/>
          <a:lstStyle/>
          <a:p>
            <a:pPr indent="0" marL="0">
              <a:buNone/>
            </a:pPr>
            <a:r>
              <a:rPr lang="en-US" sz="1000" b="1" spc="100" kern="0" dirty="0">
                <a:solidFill>
                  <a:schemeClr val="accent5"/>
                </a:solidFill>
              </a:rPr>
              <a:t>PRICING</a:t>
            </a:r>
            <a:pPr indent="0" marL="0">
              <a:buNone/>
            </a:pPr>
            <a:r>
              <a:rPr lang="en-US" sz="1000" b="1" spc="100" kern="0" dirty="0">
                <a:solidFill>
                  <a:schemeClr val="tx1"/>
                </a:solidFill>
              </a:rPr>
              <a:t>   ·   HYPOTHESIS</a:t>
            </a:r>
            <a:endParaRPr lang="en-US" sz="1000" dirty="0"/>
          </a:p>
        </p:txBody>
      </p:sp>
      <p:sp>
        <p:nvSpPr>
          <p:cNvPr id="29" name="Shape 27"/>
          <p:cNvSpPr/>
          <p:nvPr/>
        </p:nvSpPr>
        <p:spPr>
          <a:xfrm>
            <a:off x="3657600" y="4526280"/>
            <a:ext cx="3767328" cy="566928"/>
          </a:xfrm>
          <a:prstGeom prst="roundRect">
            <a:avLst>
              <a:gd name="adj" fmla="val 12903"/>
            </a:avLst>
          </a:prstGeom>
          <a:solidFill>
            <a:schemeClr val="bg1"/>
          </a:solidFill>
          <a:ln w="9525">
            <a:solidFill>
              <a:schemeClr val="accent6"/>
            </a:solidFill>
            <a:prstDash val="dash"/>
          </a:ln>
        </p:spPr>
      </p:sp>
      <p:sp>
        <p:nvSpPr>
          <p:cNvPr id="30" name="Text 28"/>
          <p:cNvSpPr txBox="1"/>
          <p:nvPr/>
        </p:nvSpPr>
        <p:spPr>
          <a:xfrm>
            <a:off x="3913632" y="4526280"/>
            <a:ext cx="3255264" cy="566928"/>
          </a:xfrm>
          <a:prstGeom prst="rect">
            <a:avLst/>
          </a:prstGeom>
          <a:noFill/>
          <a:ln/>
        </p:spPr>
        <p:txBody>
          <a:bodyPr wrap="square" lIns="0" tIns="0" rIns="0" bIns="0" rtlCol="0" anchor="ctr"/>
          <a:lstStyle/>
          <a:p>
            <a:pPr indent="0" marL="0">
              <a:buNone/>
            </a:pPr>
            <a:r>
              <a:rPr lang="en-US" sz="1300" b="1" dirty="0">
                <a:solidFill>
                  <a:schemeClr val="tx1"/>
                </a:solidFill>
              </a:rPr>
              <a:t>Fixed fee</a:t>
            </a:r>
            <a:pPr indent="0" marL="0">
              <a:buNone/>
            </a:pPr>
            <a:r>
              <a:rPr lang="en-US" sz="1300" dirty="0">
                <a:solidFill>
                  <a:schemeClr val="tx1"/>
                </a:solidFill>
              </a:rPr>
              <a:t> for the audit</a:t>
            </a:r>
            <a:endParaRPr lang="en-US" sz="1300" dirty="0"/>
          </a:p>
        </p:txBody>
      </p:sp>
      <p:sp>
        <p:nvSpPr>
          <p:cNvPr id="31" name="Shape 29"/>
          <p:cNvSpPr/>
          <p:nvPr/>
        </p:nvSpPr>
        <p:spPr>
          <a:xfrm>
            <a:off x="7875727" y="4526280"/>
            <a:ext cx="3767328" cy="566928"/>
          </a:xfrm>
          <a:prstGeom prst="roundRect">
            <a:avLst>
              <a:gd name="adj" fmla="val 12903"/>
            </a:avLst>
          </a:prstGeom>
          <a:solidFill>
            <a:schemeClr val="bg1"/>
          </a:solidFill>
          <a:ln w="9525">
            <a:solidFill>
              <a:schemeClr val="accent6"/>
            </a:solidFill>
            <a:prstDash val="dash"/>
          </a:ln>
        </p:spPr>
      </p:sp>
      <p:sp>
        <p:nvSpPr>
          <p:cNvPr id="32" name="Text 30"/>
          <p:cNvSpPr txBox="1"/>
          <p:nvPr/>
        </p:nvSpPr>
        <p:spPr>
          <a:xfrm>
            <a:off x="8131759" y="4526280"/>
            <a:ext cx="3255264" cy="566928"/>
          </a:xfrm>
          <a:prstGeom prst="rect">
            <a:avLst/>
          </a:prstGeom>
          <a:noFill/>
          <a:ln/>
        </p:spPr>
        <p:txBody>
          <a:bodyPr wrap="square" lIns="0" tIns="0" rIns="0" bIns="0" rtlCol="0" anchor="ctr"/>
          <a:lstStyle/>
          <a:p>
            <a:pPr indent="0" marL="0">
              <a:buNone/>
            </a:pPr>
            <a:r>
              <a:rPr lang="en-US" sz="1300" b="1" dirty="0">
                <a:solidFill>
                  <a:schemeClr val="tx1"/>
                </a:solidFill>
              </a:rPr>
              <a:t>Subscription</a:t>
            </a:r>
            <a:pPr indent="0" marL="0">
              <a:buNone/>
            </a:pPr>
            <a:r>
              <a:rPr lang="en-US" sz="1300" dirty="0">
                <a:solidFill>
                  <a:schemeClr val="tx1"/>
                </a:solidFill>
              </a:rPr>
              <a:t> by deals or pipeline under review, not seats</a:t>
            </a:r>
            <a:endParaRPr lang="en-US" sz="1300" dirty="0"/>
          </a:p>
        </p:txBody>
      </p:sp>
      <p:sp>
        <p:nvSpPr>
          <p:cNvPr id="33" name="Shape 31"/>
          <p:cNvSpPr/>
          <p:nvPr/>
        </p:nvSpPr>
        <p:spPr>
          <a:xfrm>
            <a:off x="3657600" y="5239512"/>
            <a:ext cx="7985455" cy="621792"/>
          </a:xfrm>
          <a:prstGeom prst="roundRect">
            <a:avLst>
              <a:gd name="adj" fmla="val 11765"/>
            </a:avLst>
          </a:prstGeom>
          <a:ln w="9525">
            <a:solidFill>
              <a:schemeClr val="accent6"/>
            </a:solidFill>
            <a:prstDash val="dash"/>
          </a:ln>
        </p:spPr>
      </p:sp>
      <p:sp>
        <p:nvSpPr>
          <p:cNvPr id="34" name="Text 32"/>
          <p:cNvSpPr txBox="1"/>
          <p:nvPr/>
        </p:nvSpPr>
        <p:spPr>
          <a:xfrm>
            <a:off x="3913632" y="5312664"/>
            <a:ext cx="4572000"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OPTIONAL EXPANSION  ·  ONLY IF VALIDATED</a:t>
            </a:r>
            <a:endParaRPr lang="en-US" sz="1000" dirty="0"/>
          </a:p>
        </p:txBody>
      </p:sp>
      <p:sp>
        <p:nvSpPr>
          <p:cNvPr id="35" name="Text 33"/>
          <p:cNvSpPr txBox="1"/>
          <p:nvPr/>
        </p:nvSpPr>
        <p:spPr>
          <a:xfrm>
            <a:off x="3913632" y="5541264"/>
            <a:ext cx="7473391" cy="274320"/>
          </a:xfrm>
          <a:prstGeom prst="rect">
            <a:avLst/>
          </a:prstGeom>
          <a:noFill/>
          <a:ln/>
        </p:spPr>
        <p:txBody>
          <a:bodyPr wrap="square" lIns="0" tIns="0" rIns="0" bIns="0" rtlCol="0" anchor="ctr"/>
          <a:lstStyle/>
          <a:p>
            <a:pPr indent="0" marL="0">
              <a:buNone/>
            </a:pPr>
            <a:r>
              <a:rPr lang="en-US" sz="1200" dirty="0">
                <a:solidFill>
                  <a:schemeClr val="accent5"/>
                </a:solidFill>
              </a:rPr>
              <a:t>Human-confirmed write-back  →  some CRM fields derived from evidence  →  broader customer memory</a:t>
            </a:r>
            <a:endParaRPr lang="en-US" sz="12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BACKUP B1  ·  WHY THIS AND NOT SOMETHING ELSE?</a:t>
            </a:r>
            <a:endParaRPr lang="en-US" sz="1100" dirty="0"/>
          </a:p>
        </p:txBody>
      </p:sp>
      <p:sp>
        <p:nvSpPr>
          <p:cNvPr id="3" name="Text 0"/>
          <p:cNvSpPr/>
          <p:nvPr>
            <p:ph idx="101" type="title" hasCustomPrompt="1"/>
          </p:nvPr>
        </p:nvSpPr>
        <p:spPr>
          <a:xfrm>
            <a:off x="548640" y="603504"/>
            <a:ext cx="11094415" cy="822960"/>
          </a:xfrm>
          <a:prstGeom prst="rect">
            <a:avLst/>
          </a:prstGeom>
          <a:noFill/>
          <a:ln/>
        </p:spPr>
        <p:txBody>
          <a:bodyPr wrap="square" lIns="0" tIns="0" rIns="0" bIns="0" rtlCol="0" anchor="t"/>
          <a:lstStyle/>
          <a:p>
            <a:pPr algn="l" indent="0" marL="0">
              <a:lnSpc>
                <a:spcPct val="95000"/>
              </a:lnSpc>
              <a:buNone/>
            </a:pPr>
            <a:r>
              <a:rPr lang="en-US" sz="2400" b="1" dirty="0">
                <a:solidFill>
                  <a:schemeClr val="tx1"/>
                </a:solidFill>
              </a:rPr>
              <a:t>The evidence ledger scored highest overall and strongest on the problem, with fit near the top.</a:t>
            </a:r>
            <a:endParaRPr lang="en-US" sz="2400" dirty="0"/>
          </a:p>
        </p:txBody>
      </p:sp>
      <p:sp>
        <p:nvSpPr>
          <p:cNvPr id="4" name="Text 0"/>
          <p:cNvSpPr/>
          <p:nvPr>
            <p:ph idx="102" type="body" hasCustomPrompt="1"/>
          </p:nvPr>
        </p:nvSpPr>
        <p:spPr>
          <a:xfrm>
            <a:off x="548640" y="6327648"/>
            <a:ext cx="10287000" cy="384048"/>
          </a:xfrm>
          <a:prstGeom prst="rect">
            <a:avLst/>
          </a:prstGeom>
          <a:noFill/>
          <a:ln/>
        </p:spPr>
        <p:txBody>
          <a:bodyPr wrap="square" lIns="0" tIns="0" rIns="0" bIns="0" rtlCol="0" anchor="t"/>
          <a:lstStyle/>
          <a:p>
            <a:pPr algn="l" indent="0" marL="0">
              <a:buNone/>
            </a:pPr>
            <a:r>
              <a:rPr lang="en-US" sz="1000" dirty="0">
                <a:solidFill>
                  <a:schemeClr val="accent5"/>
                </a:solidFill>
              </a:rPr>
              <a:t>Author's concept scoring from the desk research  ·  HYPOTHESIS: structured judgement on 13 criteria, each 1–5, not measurements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743200"/>
                <a:gridCol w="1828800"/>
                <a:gridCol w="1737360"/>
                <a:gridCol w="1371600"/>
                <a:gridCol w="3410712"/>
              </a:tblGrid>
              <a:tr h="310896">
                <a:tc>
                  <a:txBody>
                    <a:bodyPr/>
                    <a:lstStyle/>
                    <a:p>
                      <a:pPr indent="0" marL="0">
                        <a:buNone/>
                      </a:pPr>
                      <a:r>
                        <a:rPr lang="en-US" sz="1000" b="1" dirty="0">
                          <a:solidFill>
                            <a:schemeClr val="accent5"/>
                          </a:solidFill>
                        </a:rPr>
                        <a:t>CONCEPT</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PROBLEM STRENGTH (/15)</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START-UP FIT (/25)</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TOTAL (/65)</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VERDICT</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r>
              <a:tr h="310896">
                <a:tc>
                  <a:txBody>
                    <a:bodyPr/>
                    <a:lstStyle/>
                    <a:p>
                      <a:pPr algn="l" indent="0" marL="0">
                        <a:buNone/>
                      </a:pPr>
                      <a:r>
                        <a:rPr lang="en-US" sz="1150" b="1" dirty="0">
                          <a:solidFill>
                            <a:srgbClr val="1D4ED8"/>
                          </a:solidFill>
                        </a:rPr>
                        <a:t>Evidence ledger</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EF3FD"/>
                    </a:solidFill>
                  </a:tcPr>
                </a:tc>
                <a:tc>
                  <a:txBody>
                    <a:bodyPr/>
                    <a:lstStyle/>
                    <a:p>
                      <a:pPr algn="ctr" indent="0" marL="0">
                        <a:buNone/>
                      </a:pPr>
                      <a:r>
                        <a:rPr lang="en-US" sz="1150" b="1" dirty="0">
                          <a:solidFill>
                            <a:srgbClr val="1D4ED8"/>
                          </a:solidFill>
                        </a:rPr>
                        <a:t>14</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EF3FD"/>
                    </a:solidFill>
                  </a:tcPr>
                </a:tc>
                <a:tc>
                  <a:txBody>
                    <a:bodyPr/>
                    <a:lstStyle/>
                    <a:p>
                      <a:pPr algn="ctr" indent="0" marL="0">
                        <a:buNone/>
                      </a:pPr>
                      <a:r>
                        <a:rPr lang="en-US" sz="1150" b="1" dirty="0">
                          <a:solidFill>
                            <a:srgbClr val="1D4ED8"/>
                          </a:solidFill>
                        </a:rPr>
                        <a:t>18</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EF3FD"/>
                    </a:solidFill>
                  </a:tcPr>
                </a:tc>
                <a:tc>
                  <a:txBody>
                    <a:bodyPr/>
                    <a:lstStyle/>
                    <a:p>
                      <a:pPr algn="ctr" indent="0" marL="0">
                        <a:buNone/>
                      </a:pPr>
                      <a:r>
                        <a:rPr lang="en-US" sz="1150" b="1" dirty="0">
                          <a:solidFill>
                            <a:srgbClr val="1D4ED8"/>
                          </a:solidFill>
                        </a:rPr>
                        <a:t>50</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EF3FD"/>
                    </a:solidFill>
                  </a:tcPr>
                </a:tc>
                <a:tc>
                  <a:txBody>
                    <a:bodyPr/>
                    <a:lstStyle/>
                    <a:p>
                      <a:pPr algn="l" indent="0" marL="0">
                        <a:buNone/>
                      </a:pPr>
                      <a:r>
                        <a:rPr lang="en-US" sz="1150" b="1" dirty="0">
                          <a:solidFill>
                            <a:srgbClr val="1D4ED8"/>
                          </a:solidFill>
                        </a:rPr>
                        <a:t>Pursue. Strong on both</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EF3FD"/>
                    </a:solidFill>
                  </a:tcPr>
                </a:tc>
              </a:tr>
              <a:tr h="310896">
                <a:tc>
                  <a:txBody>
                    <a:bodyPr/>
                    <a:lstStyle/>
                    <a:p>
                      <a:pPr algn="l" indent="0" marL="0">
                        <a:buNone/>
                      </a:pPr>
                      <a:r>
                        <a:rPr lang="en-US" sz="1150" dirty="0">
                          <a:solidFill>
                            <a:srgbClr val="14213D"/>
                          </a:solidFill>
                        </a:rPr>
                        <a:t>Relationship graph</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9</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19</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46</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rPr>
                        <a:t>Pursue. Best fit, moderate problem</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4213D"/>
                          </a:solidFill>
                        </a:rPr>
                        <a:t>Promise-to-renewal memory</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11</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17</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45</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rPr>
                        <a:t>Pursue. Existing budget, clear first sale</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4213D"/>
                          </a:solidFill>
                        </a:rPr>
                        <a:t>Self-writing record</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12</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12</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44</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rPr>
                        <a:t>Do not enter. Real problem, no room left</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4213D"/>
                          </a:solidFill>
                        </a:rPr>
                        <a:t>Chat-native CRM</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11</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14</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44</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rPr>
                        <a:t>Only with regional distribution</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4213D"/>
                          </a:solidFill>
                        </a:rPr>
                        <a:t>Buyer-agent interface</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7</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18</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44</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rPr>
                        <a:t>Watch. Most distinctive, early</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4213D"/>
                          </a:solidFill>
                        </a:rPr>
                        <a:t>Outcome-priced work</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11</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11</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42</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rPr>
                        <a:t>Reject as a company; reuse as pricing</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4213D"/>
                          </a:solidFill>
                        </a:rPr>
                        <a:t>Decision memory</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8</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19</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41</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rPr>
                        <a:t>Watch. Best moat, narrow problem</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4213D"/>
                          </a:solidFill>
                        </a:rPr>
                        <a:t>Agent control plane</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11</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12</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39</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rPr>
                        <a:t>Reject for a start-up</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4213D"/>
                          </a:solidFill>
                        </a:rPr>
                        <a:t>Shared commitments</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8</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15</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rPr>
                        <a:t>38</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rPr>
                        <a:t>Narrow form only</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257800"/>
            <a:ext cx="11094415" cy="822960"/>
          </a:xfrm>
          <a:prstGeom prst="rect">
            <a:avLst/>
          </a:prstGeom>
          <a:noFill/>
          <a:ln/>
        </p:spPr>
        <p:txBody>
          <a:bodyPr wrap="square" lIns="0" tIns="0" rIns="0" bIns="0" rtlCol="0" anchor="t"/>
          <a:lstStyle/>
          <a:p>
            <a:pPr indent="0" marL="0">
              <a:buNone/>
            </a:pPr>
            <a:r>
              <a:rPr lang="en-US" sz="1250" b="1" dirty="0">
                <a:solidFill>
                  <a:schemeClr val="tx1"/>
                </a:solidFill>
              </a:rPr>
              <a:t>Why it won: </a:t>
            </a:r>
            <a:pPr indent="0" marL="0">
              <a:buNone/>
            </a:pPr>
            <a:r>
              <a:rPr lang="en-US" sz="1250" dirty="0">
                <a:solidFill>
                  <a:schemeClr val="tx2"/>
                </a:solidFill>
              </a:rPr>
              <a:t>it attacks the deepest contradiction (forecast claims without proof), has a budget line (forecasting) and coexists with Salesforce and HubSpot. Total covers all 13 criteria; the two roll-ups are subsets. Problem strength = severity + frequency + willingness to pay. Start-up fit = differentiation + coexistence + data moat + defensibility + feasibility.</a:t>
            </a:r>
            <a:endParaRPr lang="en-US" sz="125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BACKUP B2  ·  WHAT HAVE YOU ACTUALLY VALIDATED?</a:t>
            </a:r>
            <a:endParaRPr lang="en-US" sz="1100" dirty="0"/>
          </a:p>
        </p:txBody>
      </p:sp>
      <p:sp>
        <p:nvSpPr>
          <p:cNvPr id="3" name="Text 0"/>
          <p:cNvSpPr/>
          <p:nvPr>
            <p:ph idx="101" type="title" hasCustomPrompt="1"/>
          </p:nvPr>
        </p:nvSpPr>
        <p:spPr>
          <a:xfrm>
            <a:off x="548640" y="603504"/>
            <a:ext cx="11094415" cy="822960"/>
          </a:xfrm>
          <a:prstGeom prst="rect">
            <a:avLst/>
          </a:prstGeom>
          <a:noFill/>
          <a:ln/>
        </p:spPr>
        <p:txBody>
          <a:bodyPr wrap="square" lIns="0" tIns="0" rIns="0" bIns="0" rtlCol="0" anchor="t"/>
          <a:lstStyle/>
          <a:p>
            <a:pPr algn="l" indent="0" marL="0">
              <a:lnSpc>
                <a:spcPct val="95000"/>
              </a:lnSpc>
              <a:buNone/>
            </a:pPr>
            <a:r>
              <a:rPr lang="en-US" sz="2400" b="1" dirty="0">
                <a:solidFill>
                  <a:schemeClr val="tx1"/>
                </a:solidFill>
              </a:rPr>
              <a:t>The deck applies its own rule: claims are labelled by the evidence behind them.</a:t>
            </a:r>
            <a:endParaRPr lang="en-US" sz="2400" dirty="0"/>
          </a:p>
        </p:txBody>
      </p:sp>
      <p:sp>
        <p:nvSpPr>
          <p:cNvPr id="4" name="Text 0"/>
          <p:cNvSpPr/>
          <p:nvPr>
            <p:ph idx="102" type="body" hasCustomPrompt="1"/>
          </p:nvPr>
        </p:nvSpPr>
        <p:spPr>
          <a:xfrm>
            <a:off x="548640" y="6327648"/>
            <a:ext cx="10287000" cy="384048"/>
          </a:xfrm>
          <a:prstGeom prst="rect">
            <a:avLst/>
          </a:prstGeom>
          <a:noFill/>
          <a:ln/>
        </p:spPr>
        <p:txBody>
          <a:bodyPr wrap="square" lIns="0" tIns="0" rIns="0" bIns="0" rtlCol="0" anchor="t"/>
          <a:lstStyle/>
          <a:p>
            <a:pPr algn="l" indent="0" marL="0">
              <a:buNone/>
            </a:pPr>
            <a:r>
              <a:rPr lang="en-US" sz="1000" dirty="0">
                <a:solidFill>
                  <a:schemeClr val="accent5"/>
                </a:solidFill>
              </a:rPr>
              <a:t>Sources: see B8. Vendor surveys are marked as such. Reddit could not be opened from the research environment; Reddit signals are second-hand summaries.</a:t>
            </a:r>
            <a:endParaRPr lang="en-US" sz="1000" dirty="0"/>
          </a:p>
        </p:txBody>
      </p:sp>
      <p:sp>
        <p:nvSpPr>
          <p:cNvPr id="5" name="Shape 3"/>
          <p:cNvSpPr/>
          <p:nvPr/>
        </p:nvSpPr>
        <p:spPr>
          <a:xfrm>
            <a:off x="548640" y="1600200"/>
            <a:ext cx="3886200" cy="3931920"/>
          </a:xfrm>
          <a:prstGeom prst="roundRect">
            <a:avLst>
              <a:gd name="adj" fmla="val 2353"/>
            </a:avLst>
          </a:prstGeom>
          <a:solidFill>
            <a:schemeClr val="bg1"/>
          </a:solidFill>
          <a:ln w="9525">
            <a:solidFill>
              <a:schemeClr val="accent6"/>
            </a:solidFill>
            <a:prstDash val="solid"/>
          </a:ln>
        </p:spPr>
      </p:sp>
      <p:sp>
        <p:nvSpPr>
          <p:cNvPr id="6" name="Text 4"/>
          <p:cNvSpPr txBox="1"/>
          <p:nvPr/>
        </p:nvSpPr>
        <p:spPr>
          <a:xfrm>
            <a:off x="731520" y="1737360"/>
            <a:ext cx="3520440" cy="457200"/>
          </a:xfrm>
          <a:prstGeom prst="rect">
            <a:avLst/>
          </a:prstGeom>
          <a:noFill/>
          <a:ln/>
        </p:spPr>
        <p:txBody>
          <a:bodyPr wrap="square" lIns="0" tIns="0" rIns="0" bIns="0" rtlCol="0" anchor="t"/>
          <a:lstStyle/>
          <a:p>
            <a:pPr indent="0" marL="0">
              <a:buNone/>
            </a:pPr>
            <a:r>
              <a:rPr lang="en-US" sz="1100" b="1" spc="50" kern="0" dirty="0">
                <a:solidFill>
                  <a:schemeClr val="tx1"/>
                </a:solidFill>
              </a:rPr>
              <a:t>FACT</a:t>
            </a:r>
            <a:endParaRPr lang="en-US" sz="1400" dirty="0"/>
          </a:p>
          <a:p>
            <a:pPr indent="0" marL="0">
              <a:buNone/>
            </a:pPr>
            <a:r>
              <a:rPr lang="en-US" sz="1050" i="1" dirty="0">
                <a:solidFill>
                  <a:schemeClr val="accent5"/>
                </a:solidFill>
              </a:rPr>
              <a:t>sourced</a:t>
            </a:r>
            <a:endParaRPr lang="en-US" sz="1400" dirty="0"/>
          </a:p>
        </p:txBody>
      </p:sp>
      <p:sp>
        <p:nvSpPr>
          <p:cNvPr id="7" name="Text 5"/>
          <p:cNvSpPr txBox="1"/>
          <p:nvPr/>
        </p:nvSpPr>
        <p:spPr>
          <a:xfrm>
            <a:off x="713232" y="2258568"/>
            <a:ext cx="3584448" cy="315468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chemeClr val="tx2"/>
                </a:solidFill>
              </a:rPr>
              <a:t>Gong's extractor writes admin-defined answers into CRM fields; a newer answer overwrites the older (Gong help docs)</a:t>
            </a:r>
            <a:endParaRPr lang="en-US" sz="1050" dirty="0"/>
          </a:p>
          <a:p>
            <a:pPr marL="127000" indent="-127000">
              <a:spcAft>
                <a:spcPts val="500"/>
              </a:spcAft>
              <a:buSzPct val="100000"/>
              <a:buChar char="•"/>
            </a:pPr>
            <a:r>
              <a:rPr lang="en-US" sz="1050" dirty="0">
                <a:solidFill>
                  <a:schemeClr val="tx2"/>
                </a:solidFill>
              </a:rPr>
              <a:t>Generic agents completed ~58% of single-step CRM tasks (Salesforce AI Research, 2025)</a:t>
            </a:r>
            <a:endParaRPr lang="en-US" sz="1050" dirty="0"/>
          </a:p>
          <a:p>
            <a:pPr marL="127000" indent="-127000">
              <a:spcAft>
                <a:spcPts val="500"/>
              </a:spcAft>
              <a:buSzPct val="100000"/>
              <a:buChar char="•"/>
            </a:pPr>
            <a:r>
              <a:rPr lang="en-US" sz="1050" dirty="0">
                <a:solidFill>
                  <a:schemeClr val="tx2"/>
                </a:solidFill>
              </a:rPr>
              <a:t>Gong &gt;$500M ARR (vendor, 2026); Clari + Salesloft ≈$450M ARR (Forrester, 2025)</a:t>
            </a:r>
            <a:endParaRPr lang="en-US" sz="1050" dirty="0"/>
          </a:p>
          <a:p>
            <a:pPr marL="127000" indent="-127000">
              <a:spcAft>
                <a:spcPts val="500"/>
              </a:spcAft>
              <a:buSzPct val="100000"/>
              <a:buChar char="•"/>
            </a:pPr>
            <a:r>
              <a:rPr lang="en-US" sz="1050" dirty="0">
                <a:solidFill>
                  <a:schemeClr val="tx2"/>
                </a:solidFill>
              </a:rPr>
              <a:t>45% of sales leaders and sellers highly confident in forecast accuracy (Gartner, 2020; dated)</a:t>
            </a:r>
            <a:endParaRPr lang="en-US" sz="1050" dirty="0"/>
          </a:p>
          <a:p>
            <a:pPr marL="127000" indent="-127000">
              <a:spcAft>
                <a:spcPts val="500"/>
              </a:spcAft>
              <a:buSzPct val="100000"/>
              <a:buChar char="•"/>
            </a:pPr>
            <a:r>
              <a:rPr lang="en-US" sz="1050" dirty="0">
                <a:solidFill>
                  <a:schemeClr val="tx2"/>
                </a:solidFill>
              </a:rPr>
              <a:t>52% of leaders regularly miss forecast by &gt;10% (Gong survey, 2022; vendor; n=928)</a:t>
            </a:r>
            <a:endParaRPr lang="en-US" sz="1050" dirty="0"/>
          </a:p>
          <a:p>
            <a:pPr marL="127000" indent="-127000">
              <a:spcAft>
                <a:spcPts val="500"/>
              </a:spcAft>
              <a:buSzPct val="100000"/>
              <a:buChar char="•"/>
            </a:pPr>
            <a:r>
              <a:rPr lang="en-US" sz="1050" dirty="0">
                <a:solidFill>
                  <a:schemeClr val="tx2"/>
                </a:solidFill>
              </a:rPr>
              <a:t>76% say under half their CRM data is accurate and complete; 37% regularly fabricate data to match expectations (Validity, 2025; vendor; n=602)</a:t>
            </a:r>
            <a:endParaRPr lang="en-US" sz="1050" dirty="0"/>
          </a:p>
        </p:txBody>
      </p:sp>
      <p:sp>
        <p:nvSpPr>
          <p:cNvPr id="8" name="Shape 6"/>
          <p:cNvSpPr/>
          <p:nvPr/>
        </p:nvSpPr>
        <p:spPr>
          <a:xfrm>
            <a:off x="4617720" y="1600200"/>
            <a:ext cx="2240280" cy="3931920"/>
          </a:xfrm>
          <a:prstGeom prst="roundRect">
            <a:avLst>
              <a:gd name="adj" fmla="val 4082"/>
            </a:avLst>
          </a:prstGeom>
          <a:solidFill>
            <a:schemeClr val="bg1"/>
          </a:solidFill>
          <a:ln w="9525">
            <a:solidFill>
              <a:schemeClr val="accent6"/>
            </a:solidFill>
            <a:prstDash val="solid"/>
          </a:ln>
        </p:spPr>
      </p:sp>
      <p:sp>
        <p:nvSpPr>
          <p:cNvPr id="9" name="Text 7"/>
          <p:cNvSpPr txBox="1"/>
          <p:nvPr/>
        </p:nvSpPr>
        <p:spPr>
          <a:xfrm>
            <a:off x="4800600" y="1737360"/>
            <a:ext cx="1874520" cy="457200"/>
          </a:xfrm>
          <a:prstGeom prst="rect">
            <a:avLst/>
          </a:prstGeom>
          <a:noFill/>
          <a:ln/>
        </p:spPr>
        <p:txBody>
          <a:bodyPr wrap="square" lIns="0" tIns="0" rIns="0" bIns="0" rtlCol="0" anchor="t"/>
          <a:lstStyle/>
          <a:p>
            <a:pPr indent="0" marL="0">
              <a:buNone/>
            </a:pPr>
            <a:r>
              <a:rPr lang="en-US" sz="1100" b="1" spc="50" kern="0" dirty="0">
                <a:solidFill>
                  <a:schemeClr val="tx1"/>
                </a:solidFill>
              </a:rPr>
              <a:t>USER SIGNAL</a:t>
            </a:r>
            <a:endParaRPr lang="en-US" sz="1400" dirty="0"/>
          </a:p>
          <a:p>
            <a:pPr indent="0" marL="0">
              <a:buNone/>
            </a:pPr>
            <a:r>
              <a:rPr lang="en-US" sz="1050" i="1" dirty="0">
                <a:solidFill>
                  <a:schemeClr val="accent5"/>
                </a:solidFill>
              </a:rPr>
              <a:t>directional</a:t>
            </a:r>
            <a:endParaRPr lang="en-US" sz="1400" dirty="0"/>
          </a:p>
        </p:txBody>
      </p:sp>
      <p:sp>
        <p:nvSpPr>
          <p:cNvPr id="10" name="Text 8"/>
          <p:cNvSpPr txBox="1"/>
          <p:nvPr/>
        </p:nvSpPr>
        <p:spPr>
          <a:xfrm>
            <a:off x="4782312" y="2258568"/>
            <a:ext cx="1938528" cy="315468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chemeClr val="tx2"/>
                </a:solidFill>
              </a:rPr>
              <a:t>Reps avoid or game the CRM and return to spreadsheets (r/sales, via a second-hand summary)</a:t>
            </a:r>
            <a:endParaRPr lang="en-US" sz="1050" dirty="0"/>
          </a:p>
          <a:p>
            <a:pPr marL="127000" indent="-127000">
              <a:spcAft>
                <a:spcPts val="500"/>
              </a:spcAft>
              <a:buSzPct val="100000"/>
              <a:buChar char="•"/>
            </a:pPr>
            <a:r>
              <a:rPr lang="en-US" sz="1050" dirty="0">
                <a:solidFill>
                  <a:schemeClr val="tx2"/>
                </a:solidFill>
              </a:rPr>
              <a:t>Complexity and 'not intuitive' are among the most tagged dislikes on G2</a:t>
            </a:r>
            <a:endParaRPr lang="en-US" sz="1050" dirty="0"/>
          </a:p>
          <a:p>
            <a:pPr marL="127000" indent="-127000">
              <a:spcAft>
                <a:spcPts val="500"/>
              </a:spcAft>
              <a:buSzPct val="100000"/>
              <a:buChar char="•"/>
            </a:pPr>
            <a:r>
              <a:rPr lang="en-US" sz="1050" dirty="0">
                <a:solidFill>
                  <a:schemeClr val="tx2"/>
                </a:solidFill>
              </a:rPr>
              <a:t>Activity tracking felt as micromanagement (r/CRM, second-hand)</a:t>
            </a:r>
            <a:endParaRPr lang="en-US" sz="1050" dirty="0"/>
          </a:p>
        </p:txBody>
      </p:sp>
      <p:sp>
        <p:nvSpPr>
          <p:cNvPr id="11" name="Shape 9"/>
          <p:cNvSpPr/>
          <p:nvPr/>
        </p:nvSpPr>
        <p:spPr>
          <a:xfrm>
            <a:off x="7040880" y="1600200"/>
            <a:ext cx="2240280" cy="3931920"/>
          </a:xfrm>
          <a:prstGeom prst="roundRect">
            <a:avLst>
              <a:gd name="adj" fmla="val 4082"/>
            </a:avLst>
          </a:prstGeom>
          <a:solidFill>
            <a:schemeClr val="bg1"/>
          </a:solidFill>
          <a:ln w="9525">
            <a:solidFill>
              <a:schemeClr val="accent6"/>
            </a:solidFill>
            <a:prstDash val="solid"/>
          </a:ln>
        </p:spPr>
      </p:sp>
      <p:sp>
        <p:nvSpPr>
          <p:cNvPr id="12" name="Text 10"/>
          <p:cNvSpPr txBox="1"/>
          <p:nvPr/>
        </p:nvSpPr>
        <p:spPr>
          <a:xfrm>
            <a:off x="7223760" y="1737360"/>
            <a:ext cx="1874520" cy="457200"/>
          </a:xfrm>
          <a:prstGeom prst="rect">
            <a:avLst/>
          </a:prstGeom>
          <a:noFill/>
          <a:ln/>
        </p:spPr>
        <p:txBody>
          <a:bodyPr wrap="square" lIns="0" tIns="0" rIns="0" bIns="0" rtlCol="0" anchor="t"/>
          <a:lstStyle/>
          <a:p>
            <a:pPr indent="0" marL="0">
              <a:buNone/>
            </a:pPr>
            <a:r>
              <a:rPr lang="en-US" sz="1100" b="1" spc="50" kern="0" dirty="0">
                <a:solidFill>
                  <a:schemeClr val="tx1"/>
                </a:solidFill>
              </a:rPr>
              <a:t>HYPOTHESIS</a:t>
            </a:r>
            <a:endParaRPr lang="en-US" sz="1400" dirty="0"/>
          </a:p>
          <a:p>
            <a:pPr indent="0" marL="0">
              <a:buNone/>
            </a:pPr>
            <a:r>
              <a:rPr lang="en-US" sz="1050" i="1" dirty="0">
                <a:solidFill>
                  <a:schemeClr val="accent5"/>
                </a:solidFill>
              </a:rPr>
              <a:t>my reading</a:t>
            </a:r>
            <a:endParaRPr lang="en-US" sz="1400" dirty="0"/>
          </a:p>
        </p:txBody>
      </p:sp>
      <p:sp>
        <p:nvSpPr>
          <p:cNvPr id="13" name="Text 11"/>
          <p:cNvSpPr txBox="1"/>
          <p:nvPr/>
        </p:nvSpPr>
        <p:spPr>
          <a:xfrm>
            <a:off x="7205472" y="2258568"/>
            <a:ext cx="1938528" cy="315468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chemeClr val="tx2"/>
                </a:solidFill>
              </a:rPr>
              <a:t>The field's data model drops evidence, source, history and uncertainty</a:t>
            </a:r>
            <a:endParaRPr lang="en-US" sz="1050" dirty="0"/>
          </a:p>
          <a:p>
            <a:pPr marL="127000" indent="-127000">
              <a:spcAft>
                <a:spcPts val="500"/>
              </a:spcAft>
              <a:buSzPct val="100000"/>
              <a:buChar char="•"/>
            </a:pPr>
            <a:r>
              <a:rPr lang="en-US" sz="1050" dirty="0">
                <a:solidFill>
                  <a:schemeClr val="tx2"/>
                </a:solidFill>
              </a:rPr>
              <a:t>Evidence-native architecture and the AI / policy / people split</a:t>
            </a:r>
            <a:endParaRPr lang="en-US" sz="1050" dirty="0"/>
          </a:p>
          <a:p>
            <a:pPr marL="127000" indent="-127000">
              <a:spcAft>
                <a:spcPts val="500"/>
              </a:spcAft>
              <a:buSzPct val="100000"/>
              <a:buChar char="•"/>
            </a:pPr>
            <a:r>
              <a:rPr lang="en-US" sz="1050" dirty="0">
                <a:solidFill>
                  <a:schemeClr val="tx2"/>
                </a:solidFill>
              </a:rPr>
              <a:t>Incumbents may not follow because their fields feed every report</a:t>
            </a:r>
            <a:endParaRPr lang="en-US" sz="1050" dirty="0"/>
          </a:p>
          <a:p>
            <a:pPr marL="127000" indent="-127000">
              <a:spcAft>
                <a:spcPts val="500"/>
              </a:spcAft>
              <a:buSzPct val="100000"/>
              <a:buChar char="•"/>
            </a:pPr>
            <a:r>
              <a:rPr lang="en-US" sz="1050" dirty="0">
                <a:solidFill>
                  <a:schemeClr val="tx2"/>
                </a:solidFill>
              </a:rPr>
              <a:t>Pricing by deals or pipeline under review</a:t>
            </a:r>
            <a:endParaRPr lang="en-US" sz="1050" dirty="0"/>
          </a:p>
        </p:txBody>
      </p:sp>
      <p:sp>
        <p:nvSpPr>
          <p:cNvPr id="14" name="Shape 12"/>
          <p:cNvSpPr/>
          <p:nvPr/>
        </p:nvSpPr>
        <p:spPr>
          <a:xfrm>
            <a:off x="9464040" y="1600200"/>
            <a:ext cx="2179015" cy="3931920"/>
          </a:xfrm>
          <a:prstGeom prst="roundRect">
            <a:avLst>
              <a:gd name="adj" fmla="val 4196"/>
            </a:avLst>
          </a:prstGeom>
          <a:solidFill>
            <a:schemeClr val="bg1"/>
          </a:solidFill>
          <a:ln w="9525">
            <a:solidFill>
              <a:schemeClr val="accent6"/>
            </a:solidFill>
            <a:prstDash val="solid"/>
          </a:ln>
        </p:spPr>
      </p:sp>
      <p:sp>
        <p:nvSpPr>
          <p:cNvPr id="15" name="Text 13"/>
          <p:cNvSpPr txBox="1"/>
          <p:nvPr/>
        </p:nvSpPr>
        <p:spPr>
          <a:xfrm>
            <a:off x="9646920" y="1737360"/>
            <a:ext cx="1813255" cy="457200"/>
          </a:xfrm>
          <a:prstGeom prst="rect">
            <a:avLst/>
          </a:prstGeom>
          <a:noFill/>
          <a:ln/>
        </p:spPr>
        <p:txBody>
          <a:bodyPr wrap="square" lIns="0" tIns="0" rIns="0" bIns="0" rtlCol="0" anchor="t"/>
          <a:lstStyle/>
          <a:p>
            <a:pPr indent="0" marL="0">
              <a:buNone/>
            </a:pPr>
            <a:r>
              <a:rPr lang="en-US" sz="1100" b="1" spc="50" kern="0" dirty="0">
                <a:solidFill>
                  <a:schemeClr val="tx1"/>
                </a:solidFill>
              </a:rPr>
              <a:t>PRODUCT ASSUMPTION</a:t>
            </a:r>
            <a:endParaRPr lang="en-US" sz="1400" dirty="0"/>
          </a:p>
          <a:p>
            <a:pPr indent="0" marL="0">
              <a:buNone/>
            </a:pPr>
            <a:r>
              <a:rPr lang="en-US" sz="1050" i="1" dirty="0">
                <a:solidFill>
                  <a:schemeClr val="accent5"/>
                </a:solidFill>
              </a:rPr>
              <a:t>to test</a:t>
            </a:r>
            <a:endParaRPr lang="en-US" sz="1400" dirty="0"/>
          </a:p>
        </p:txBody>
      </p:sp>
      <p:sp>
        <p:nvSpPr>
          <p:cNvPr id="16" name="Text 14"/>
          <p:cNvSpPr txBox="1"/>
          <p:nvPr/>
        </p:nvSpPr>
        <p:spPr>
          <a:xfrm>
            <a:off x="9628632" y="2258568"/>
            <a:ext cx="1877263" cy="315468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chemeClr val="tx2"/>
                </a:solidFill>
              </a:rPr>
              <a:t>The manager's weekly reconstruction loop</a:t>
            </a:r>
            <a:endParaRPr lang="en-US" sz="1050" dirty="0"/>
          </a:p>
          <a:p>
            <a:pPr marL="127000" indent="-127000">
              <a:spcAft>
                <a:spcPts val="500"/>
              </a:spcAft>
              <a:buSzPct val="100000"/>
              <a:buChar char="•"/>
            </a:pPr>
            <a:r>
              <a:rPr lang="en-US" sz="1050" dirty="0">
                <a:solidFill>
                  <a:schemeClr val="tx2"/>
                </a:solidFill>
              </a:rPr>
              <a:t>Reps cooperate when they see flags first (B7)</a:t>
            </a:r>
            <a:endParaRPr lang="en-US" sz="1050" dirty="0"/>
          </a:p>
          <a:p>
            <a:pPr marL="127000" indent="-127000">
              <a:spcAft>
                <a:spcPts val="500"/>
              </a:spcAft>
              <a:buSzPct val="100000"/>
              <a:buChar char="•"/>
            </a:pPr>
            <a:r>
              <a:rPr lang="en-US" sz="1050" dirty="0">
                <a:solidFill>
                  <a:schemeClr val="tx2"/>
                </a:solidFill>
              </a:rPr>
              <a:t>Evidence rules and freshness windows (B4)</a:t>
            </a:r>
            <a:endParaRPr lang="en-US" sz="1050" dirty="0"/>
          </a:p>
          <a:p>
            <a:pPr marL="127000" indent="-127000">
              <a:spcAft>
                <a:spcPts val="500"/>
              </a:spcAft>
              <a:buSzPct val="100000"/>
              <a:buChar char="•"/>
            </a:pPr>
            <a:r>
              <a:rPr lang="en-US" sz="1050" dirty="0">
                <a:solidFill>
                  <a:schemeClr val="tx2"/>
                </a:solidFill>
              </a:rPr>
              <a:t>Pass marks: ≥90% citations, &gt;50% flags worth raising</a:t>
            </a:r>
            <a:endParaRPr lang="en-US" sz="1050" dirty="0"/>
          </a:p>
        </p:txBody>
      </p:sp>
      <p:sp>
        <p:nvSpPr>
          <p:cNvPr id="17" name="Text 15"/>
          <p:cNvSpPr txBox="1"/>
          <p:nvPr/>
        </p:nvSpPr>
        <p:spPr>
          <a:xfrm>
            <a:off x="548640" y="5669280"/>
            <a:ext cx="11094415" cy="457200"/>
          </a:xfrm>
          <a:prstGeom prst="rect">
            <a:avLst/>
          </a:prstGeom>
          <a:noFill/>
          <a:ln/>
        </p:spPr>
        <p:txBody>
          <a:bodyPr wrap="square" lIns="0" tIns="0" rIns="0" bIns="0" rtlCol="0" anchor="ctr"/>
          <a:lstStyle/>
          <a:p>
            <a:pPr indent="0" marL="0">
              <a:buNone/>
            </a:pPr>
            <a:r>
              <a:rPr lang="en-US" sz="1250" b="1" dirty="0">
                <a:solidFill>
                  <a:schemeClr val="tx1"/>
                </a:solidFill>
              </a:rPr>
              <a:t>Limits: </a:t>
            </a:r>
            <a:pPr indent="0" marL="0">
              <a:buNone/>
            </a:pPr>
            <a:r>
              <a:rPr lang="en-US" sz="1250" dirty="0">
                <a:solidFill>
                  <a:schemeClr val="tx2"/>
                </a:solidFill>
              </a:rPr>
              <a:t>no primary customer interviews yet · competitors seen through public documentation, not hands-on · pricing and evidence rules untested · not yet run on real deals · Castellan Freight and every quote are illustrative.</a:t>
            </a:r>
            <a:endParaRPr lang="en-US" sz="125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BACKUP B3  ·  HOW WOULD YOU FIND OUT YOU ARE WRONG?</a:t>
            </a:r>
            <a:endParaRPr lang="en-US" sz="1100" dirty="0"/>
          </a:p>
        </p:txBody>
      </p:sp>
      <p:sp>
        <p:nvSpPr>
          <p:cNvPr id="3" name="Text 0"/>
          <p:cNvSpPr/>
          <p:nvPr>
            <p:ph idx="101" type="title" hasCustomPrompt="1"/>
          </p:nvPr>
        </p:nvSpPr>
        <p:spPr>
          <a:xfrm>
            <a:off x="548640" y="603504"/>
            <a:ext cx="11094415" cy="822960"/>
          </a:xfrm>
          <a:prstGeom prst="rect">
            <a:avLst/>
          </a:prstGeom>
          <a:noFill/>
          <a:ln/>
        </p:spPr>
        <p:txBody>
          <a:bodyPr wrap="square" lIns="0" tIns="0" rIns="0" bIns="0" rtlCol="0" anchor="t"/>
          <a:lstStyle/>
          <a:p>
            <a:pPr algn="l" indent="0" marL="0">
              <a:lnSpc>
                <a:spcPct val="95000"/>
              </a:lnSpc>
              <a:buNone/>
            </a:pPr>
            <a:r>
              <a:rPr lang="en-US" sz="2400" b="1" dirty="0">
                <a:solidFill>
                  <a:schemeClr val="tx1"/>
                </a:solidFill>
              </a:rPr>
              <a:t>Three tests, in order, each with a result that would change or stop the plan.</a:t>
            </a:r>
            <a:endParaRPr lang="en-US" sz="2400" dirty="0"/>
          </a:p>
        </p:txBody>
      </p:sp>
      <p:sp>
        <p:nvSpPr>
          <p:cNvPr id="4" name="Text 0"/>
          <p:cNvSpPr/>
          <p:nvPr>
            <p:ph idx="102" type="body" hasCustomPrompt="1"/>
          </p:nvPr>
        </p:nvSpPr>
        <p:spPr>
          <a:xfrm>
            <a:off x="548640" y="6327648"/>
            <a:ext cx="10287000" cy="384048"/>
          </a:xfrm>
          <a:prstGeom prst="rect">
            <a:avLst/>
          </a:prstGeom>
          <a:noFill/>
          <a:ln/>
        </p:spPr>
        <p:txBody>
          <a:bodyPr wrap="square" lIns="0" tIns="0" rIns="0" bIns="0" rtlCol="0" anchor="t"/>
          <a:lstStyle/>
          <a:p>
            <a:pPr algn="l" indent="0" marL="0">
              <a:buNone/>
            </a:pPr>
            <a:r>
              <a:rPr lang="en-US" sz="1000" dirty="0">
                <a:solidFill>
                  <a:schemeClr val="accent5"/>
                </a:solidFill>
              </a:rPr>
              <a:t>PRODUCT ASSUMPTION  ·  thresholds are proposals, not industry benchmarks</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377440"/>
                <a:gridCol w="4023360"/>
                <a:gridCol w="2514600"/>
                <a:gridCol w="2179015"/>
              </a:tblGrid>
              <a:tr h="329184">
                <a:tc>
                  <a:txBody>
                    <a:bodyPr/>
                    <a:lstStyle/>
                    <a:p>
                      <a:pPr indent="0" marL="0">
                        <a:buNone/>
                      </a:pPr>
                      <a:r>
                        <a:rPr lang="en-US" sz="1000" b="1" dirty="0">
                          <a:solidFill>
                            <a:schemeClr val="accent5"/>
                          </a:solidFill>
                        </a:rPr>
                        <a:t>TEST</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METHOD</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PASS</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IF IT FAILS</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r>
              <a:tr h="960120">
                <a:tc>
                  <a:txBody>
                    <a:bodyPr/>
                    <a:lstStyle/>
                    <a:p>
                      <a:pPr indent="0" marL="0">
                        <a:buNone/>
                      </a:pPr>
                      <a:r>
                        <a:rPr lang="en-US" sz="1200" b="1" dirty="0">
                          <a:solidFill>
                            <a:srgbClr val="14213D"/>
                          </a:solidFill>
                        </a:rPr>
                        <a:t>1  Value  (historical audit, first)</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One design partner's last quarter. Judge each claim as it stood at that week's forecast review, not at close: won deals gather evidence late.</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Lost and slipped deals carry more unsupported or contradicted claims than won ones</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Stop. The signal does not separate outcomes.</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14213D"/>
                          </a:solidFill>
                        </a:rPr>
                        <a:t>2  Accuracy</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50 closed deals, eight claims each, marked by hand and by the model.</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≥90% of cited passages correct and relevant</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Narrow the claim set; tune for precision before recall.</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960120">
                <a:tc>
                  <a:txBody>
                    <a:bodyPr/>
                    <a:lstStyle/>
                    <a:p>
                      <a:pPr indent="0" marL="0">
                        <a:buNone/>
                      </a:pPr>
                      <a:r>
                        <a:rPr lang="en-US" sz="1200" b="1" dirty="0">
                          <a:solidFill>
                            <a:srgbClr val="14213D"/>
                          </a:solidFill>
                        </a:rPr>
                        <a:t>3  Adoption  (live pilot, rep-first)</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Count flags managers judge worth raising, rep disputes and recording rates. Watch flags per Commit deal so the list stays short.</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&gt;50% worth raising; disputes low; recording not falling</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Change what reps see first, or stop.</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074920"/>
            <a:ext cx="11094415" cy="365760"/>
          </a:xfrm>
          <a:prstGeom prst="rect">
            <a:avLst/>
          </a:prstGeom>
          <a:noFill/>
          <a:ln/>
        </p:spPr>
        <p:txBody>
          <a:bodyPr wrap="square" lIns="0" tIns="0" rIns="0" bIns="0" rtlCol="0" anchor="t"/>
          <a:lstStyle/>
          <a:p>
            <a:pPr indent="0" marL="0">
              <a:buNone/>
            </a:pPr>
            <a:r>
              <a:rPr lang="en-US" sz="1300" i="1" dirty="0">
                <a:solidFill>
                  <a:schemeClr val="accent5"/>
                </a:solidFill>
              </a:rPr>
              <a:t>Order matters: the historical audit is also the first sale, so the value test runs before any live build.</a:t>
            </a:r>
            <a:endParaRPr lang="en-US" sz="13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BACKUP B4  ·  WHO DECIDES WHAT COUNTS AS EVIDENCE?</a:t>
            </a:r>
            <a:endParaRPr lang="en-US" sz="1100" dirty="0"/>
          </a:p>
        </p:txBody>
      </p:sp>
      <p:sp>
        <p:nvSpPr>
          <p:cNvPr id="3" name="Text 0"/>
          <p:cNvSpPr/>
          <p:nvPr>
            <p:ph idx="101" type="title" hasCustomPrompt="1"/>
          </p:nvPr>
        </p:nvSpPr>
        <p:spPr>
          <a:xfrm>
            <a:off x="548640" y="603504"/>
            <a:ext cx="11094415" cy="822960"/>
          </a:xfrm>
          <a:prstGeom prst="rect">
            <a:avLst/>
          </a:prstGeom>
          <a:noFill/>
          <a:ln/>
        </p:spPr>
        <p:txBody>
          <a:bodyPr wrap="square" lIns="0" tIns="0" rIns="0" bIns="0" rtlCol="0" anchor="t"/>
          <a:lstStyle/>
          <a:p>
            <a:pPr algn="l" indent="0" marL="0">
              <a:lnSpc>
                <a:spcPct val="95000"/>
              </a:lnSpc>
              <a:buNone/>
            </a:pPr>
            <a:r>
              <a:rPr lang="en-US" sz="2400" b="1" dirty="0">
                <a:solidFill>
                  <a:schemeClr val="tx1"/>
                </a:solidFill>
              </a:rPr>
              <a:t>RevOps sets simple rules: what counts as evidence, who can give it, and for how long.</a:t>
            </a:r>
            <a:endParaRPr lang="en-US" sz="2400" dirty="0"/>
          </a:p>
        </p:txBody>
      </p:sp>
      <p:sp>
        <p:nvSpPr>
          <p:cNvPr id="4" name="Text 0"/>
          <p:cNvSpPr/>
          <p:nvPr>
            <p:ph idx="102" type="body" hasCustomPrompt="1"/>
          </p:nvPr>
        </p:nvSpPr>
        <p:spPr>
          <a:xfrm>
            <a:off x="548640" y="6327648"/>
            <a:ext cx="10287000" cy="384048"/>
          </a:xfrm>
          <a:prstGeom prst="rect">
            <a:avLst/>
          </a:prstGeom>
          <a:noFill/>
          <a:ln/>
        </p:spPr>
        <p:txBody>
          <a:bodyPr wrap="square" lIns="0" tIns="0" rIns="0" bIns="0" rtlCol="0" anchor="t"/>
          <a:lstStyle/>
          <a:p>
            <a:pPr algn="l" indent="0" marL="0">
              <a:buNone/>
            </a:pPr>
            <a:r>
              <a:rPr lang="en-US" sz="1000" dirty="0">
                <a:solidFill>
                  <a:schemeClr val="accent5"/>
                </a:solidFill>
              </a:rPr>
              <a:t>HYPOTHESIS  ·  rules and windows are illustrative examples for the Castellan claims, not recommendations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920240"/>
                <a:gridCol w="2743200"/>
                <a:gridCol w="2514600"/>
                <a:gridCol w="1051560"/>
                <a:gridCol w="2864815"/>
              </a:tblGrid>
              <a:tr h="310896">
                <a:tc>
                  <a:txBody>
                    <a:bodyPr/>
                    <a:lstStyle/>
                    <a:p>
                      <a:pPr indent="0" marL="0">
                        <a:buNone/>
                      </a:pPr>
                      <a:r>
                        <a:rPr lang="en-US" sz="1000" b="1" dirty="0">
                          <a:solidFill>
                            <a:schemeClr val="accent5"/>
                          </a:solidFill>
                        </a:rPr>
                        <a:t>CLAIM</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ADMISSIBLE EVIDENCE</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AUTHORITY NEEDED</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FRESH FOR</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CASTELLAN</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r>
              <a:tr h="530352">
                <a:tc>
                  <a:txBody>
                    <a:bodyPr/>
                    <a:lstStyle/>
                    <a:p>
                      <a:pPr indent="0" marL="0">
                        <a:buNone/>
                      </a:pPr>
                      <a:r>
                        <a:rPr lang="en-US" sz="1150" b="1" dirty="0">
                          <a:solidFill>
                            <a:srgbClr val="14213D"/>
                          </a:solidFill>
                        </a:rPr>
                        <a:t>Budget confirmed</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rPr>
                        <a:t>Customer email, call or document</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rPr>
                        <a:t>Budget holder (CFO, economic buyer)</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rPr>
                        <a:t>60 days</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b="1" dirty="0">
                          <a:solidFill>
                            <a:srgbClr val="2E7D4F"/>
                          </a:solidFill>
                        </a:rPr>
                        <a:t>SUPPORTED · CFO email</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530352">
                <a:tc>
                  <a:txBody>
                    <a:bodyPr/>
                    <a:lstStyle/>
                    <a:p>
                      <a:pPr indent="0" marL="0">
                        <a:buNone/>
                      </a:pPr>
                      <a:r>
                        <a:rPr lang="en-US" sz="1150" b="1" dirty="0">
                          <a:solidFill>
                            <a:srgbClr val="14213D"/>
                          </a:solidFill>
                        </a:rPr>
                        <a:t>Security complete</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rPr>
                        <a:t>Written confirmation or completed review from the customer</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rPr>
                        <a:t>Customer security team</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rPr>
                        <a:t>90 days</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b="1" dirty="0">
                          <a:solidFill>
                            <a:srgbClr val="B26A00"/>
                          </a:solidFill>
                        </a:rPr>
                        <a:t>UNSUPPORTED · rep note is not customer evidence</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530352">
                <a:tc>
                  <a:txBody>
                    <a:bodyPr/>
                    <a:lstStyle/>
                    <a:p>
                      <a:pPr indent="0" marL="0">
                        <a:buNone/>
                      </a:pPr>
                      <a:r>
                        <a:rPr lang="en-US" sz="1150" b="1" dirty="0">
                          <a:solidFill>
                            <a:srgbClr val="14213D"/>
                          </a:solidFill>
                        </a:rPr>
                        <a:t>Procurement takes two weeks</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rPr>
                        <a:t>Statement from procurement or legal</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rPr>
                        <a:t>Procurement outranks the champion on this claim</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rPr>
                        <a:t>30 days</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b="1" dirty="0">
                          <a:solidFill>
                            <a:srgbClr val="B3261E"/>
                          </a:solidFill>
                        </a:rPr>
                        <a:t>CONTRADICTED · later procurement email</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530352">
                <a:tc>
                  <a:txBody>
                    <a:bodyPr/>
                    <a:lstStyle/>
                    <a:p>
                      <a:pPr indent="0" marL="0">
                        <a:buNone/>
                      </a:pPr>
                      <a:r>
                        <a:rPr lang="en-US" sz="1150" b="1" dirty="0">
                          <a:solidFill>
                            <a:srgbClr val="14213D"/>
                          </a:solidFill>
                        </a:rPr>
                        <a:t>Close by 15 Oct</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rPr>
                        <a:t>Customer statement of a target signing date</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rPr>
                        <a:t>Signer or economic buyer</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rPr>
                        <a:t>30 days</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50" b="1" dirty="0">
                          <a:solidFill>
                            <a:srgbClr val="B26A00"/>
                          </a:solidFill>
                        </a:rPr>
                        <a:t>UNSUPPORTED · no customer statement</a:t>
                      </a:r>
                      <a:endParaRPr lang="en-US" sz="115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434840"/>
            <a:ext cx="2109155" cy="274320"/>
          </a:xfrm>
          <a:prstGeom prst="roundRect">
            <a:avLst>
              <a:gd name="adj" fmla="val 50000"/>
            </a:avLst>
          </a:prstGeom>
          <a:solidFill>
            <a:schemeClr val="accent2">
              <a:alpha val="12000"/>
            </a:schemeClr>
          </a:solidFill>
          <a:ln w="9525">
            <a:solidFill>
              <a:schemeClr val="accent2"/>
            </a:solidFill>
            <a:prstDash val="solid"/>
          </a:ln>
        </p:spPr>
      </p:sp>
      <p:sp>
        <p:nvSpPr>
          <p:cNvPr id="7" name="Text 4"/>
          <p:cNvSpPr txBox="1"/>
          <p:nvPr/>
        </p:nvSpPr>
        <p:spPr>
          <a:xfrm>
            <a:off x="548640" y="4434840"/>
            <a:ext cx="2109155" cy="274320"/>
          </a:xfrm>
          <a:prstGeom prst="rect">
            <a:avLst/>
          </a:prstGeom>
          <a:noFill/>
          <a:ln/>
        </p:spPr>
        <p:txBody>
          <a:bodyPr wrap="square" lIns="0" tIns="0" rIns="0" bIns="0" rtlCol="0" anchor="ctr"/>
          <a:lstStyle/>
          <a:p>
            <a:pPr algn="ctr" indent="0" marL="0">
              <a:buNone/>
            </a:pPr>
            <a:r>
              <a:rPr lang="en-US" sz="1000" b="1" spc="50" kern="0" dirty="0">
                <a:solidFill>
                  <a:schemeClr val="accent2"/>
                </a:solidFill>
              </a:rPr>
              <a:t>SUPPORTED</a:t>
            </a:r>
            <a:endParaRPr lang="en-US" sz="1000" dirty="0"/>
          </a:p>
        </p:txBody>
      </p:sp>
      <p:sp>
        <p:nvSpPr>
          <p:cNvPr id="8" name="Text 5"/>
          <p:cNvSpPr txBox="1"/>
          <p:nvPr/>
        </p:nvSpPr>
        <p:spPr>
          <a:xfrm>
            <a:off x="548640" y="4773168"/>
            <a:ext cx="2109155" cy="566928"/>
          </a:xfrm>
          <a:prstGeom prst="rect">
            <a:avLst/>
          </a:prstGeom>
          <a:noFill/>
          <a:ln/>
        </p:spPr>
        <p:txBody>
          <a:bodyPr wrap="square" lIns="0" tIns="0" rIns="0" bIns="0" rtlCol="0" anchor="t"/>
          <a:lstStyle/>
          <a:p>
            <a:pPr indent="0" marL="0">
              <a:buNone/>
            </a:pPr>
            <a:r>
              <a:rPr lang="en-US" sz="1050" dirty="0">
                <a:solidFill>
                  <a:schemeClr val="tx2"/>
                </a:solidFill>
              </a:rPr>
              <a:t>Admissible customer evidence exists; nothing later disagrees</a:t>
            </a:r>
            <a:endParaRPr lang="en-US" sz="1050" dirty="0"/>
          </a:p>
        </p:txBody>
      </p:sp>
      <p:sp>
        <p:nvSpPr>
          <p:cNvPr id="9" name="Shape 6"/>
          <p:cNvSpPr/>
          <p:nvPr/>
        </p:nvSpPr>
        <p:spPr>
          <a:xfrm>
            <a:off x="2794955" y="4434840"/>
            <a:ext cx="2109155" cy="274320"/>
          </a:xfrm>
          <a:prstGeom prst="roundRect">
            <a:avLst>
              <a:gd name="adj" fmla="val 50000"/>
            </a:avLst>
          </a:prstGeom>
          <a:solidFill>
            <a:schemeClr val="accent3">
              <a:alpha val="12000"/>
            </a:schemeClr>
          </a:solidFill>
          <a:ln w="9525">
            <a:solidFill>
              <a:schemeClr val="accent3"/>
            </a:solidFill>
            <a:prstDash val="solid"/>
          </a:ln>
        </p:spPr>
      </p:sp>
      <p:sp>
        <p:nvSpPr>
          <p:cNvPr id="10" name="Text 7"/>
          <p:cNvSpPr txBox="1"/>
          <p:nvPr/>
        </p:nvSpPr>
        <p:spPr>
          <a:xfrm>
            <a:off x="2794955" y="4434840"/>
            <a:ext cx="2109155" cy="274320"/>
          </a:xfrm>
          <a:prstGeom prst="rect">
            <a:avLst/>
          </a:prstGeom>
          <a:noFill/>
          <a:ln/>
        </p:spPr>
        <p:txBody>
          <a:bodyPr wrap="square" lIns="0" tIns="0" rIns="0" bIns="0" rtlCol="0" anchor="ctr"/>
          <a:lstStyle/>
          <a:p>
            <a:pPr algn="ctr" indent="0" marL="0">
              <a:buNone/>
            </a:pPr>
            <a:r>
              <a:rPr lang="en-US" sz="1000" b="1" spc="50" kern="0" dirty="0">
                <a:solidFill>
                  <a:schemeClr val="accent3"/>
                </a:solidFill>
              </a:rPr>
              <a:t>UNSUPPORTED</a:t>
            </a:r>
            <a:endParaRPr lang="en-US" sz="1000" dirty="0"/>
          </a:p>
        </p:txBody>
      </p:sp>
      <p:sp>
        <p:nvSpPr>
          <p:cNvPr id="11" name="Text 8"/>
          <p:cNvSpPr txBox="1"/>
          <p:nvPr/>
        </p:nvSpPr>
        <p:spPr>
          <a:xfrm>
            <a:off x="2794955" y="4773168"/>
            <a:ext cx="2109155" cy="566928"/>
          </a:xfrm>
          <a:prstGeom prst="rect">
            <a:avLst/>
          </a:prstGeom>
          <a:noFill/>
          <a:ln/>
        </p:spPr>
        <p:txBody>
          <a:bodyPr wrap="square" lIns="0" tIns="0" rIns="0" bIns="0" rtlCol="0" anchor="t"/>
          <a:lstStyle/>
          <a:p>
            <a:pPr indent="0" marL="0">
              <a:buNone/>
            </a:pPr>
            <a:r>
              <a:rPr lang="en-US" sz="1050" dirty="0">
                <a:solidFill>
                  <a:schemeClr val="tx2"/>
                </a:solidFill>
              </a:rPr>
              <a:t>The CRM asserts it; no customer evidence in connected sources</a:t>
            </a:r>
            <a:endParaRPr lang="en-US" sz="1050" dirty="0"/>
          </a:p>
        </p:txBody>
      </p:sp>
      <p:sp>
        <p:nvSpPr>
          <p:cNvPr id="12" name="Shape 9"/>
          <p:cNvSpPr/>
          <p:nvPr/>
        </p:nvSpPr>
        <p:spPr>
          <a:xfrm>
            <a:off x="5041270" y="4434840"/>
            <a:ext cx="2109155" cy="274320"/>
          </a:xfrm>
          <a:prstGeom prst="roundRect">
            <a:avLst>
              <a:gd name="adj" fmla="val 50000"/>
            </a:avLst>
          </a:prstGeom>
          <a:solidFill>
            <a:schemeClr val="accent4">
              <a:alpha val="12000"/>
            </a:schemeClr>
          </a:solidFill>
          <a:ln w="9525">
            <a:solidFill>
              <a:schemeClr val="accent4"/>
            </a:solidFill>
            <a:prstDash val="solid"/>
          </a:ln>
        </p:spPr>
      </p:sp>
      <p:sp>
        <p:nvSpPr>
          <p:cNvPr id="13" name="Text 10"/>
          <p:cNvSpPr txBox="1"/>
          <p:nvPr/>
        </p:nvSpPr>
        <p:spPr>
          <a:xfrm>
            <a:off x="5041270" y="4434840"/>
            <a:ext cx="2109155" cy="274320"/>
          </a:xfrm>
          <a:prstGeom prst="rect">
            <a:avLst/>
          </a:prstGeom>
          <a:noFill/>
          <a:ln/>
        </p:spPr>
        <p:txBody>
          <a:bodyPr wrap="square" lIns="0" tIns="0" rIns="0" bIns="0" rtlCol="0" anchor="ctr"/>
          <a:lstStyle/>
          <a:p>
            <a:pPr algn="ctr" indent="0" marL="0">
              <a:buNone/>
            </a:pPr>
            <a:r>
              <a:rPr lang="en-US" sz="1000" b="1" spc="50" kern="0" dirty="0">
                <a:solidFill>
                  <a:schemeClr val="accent4"/>
                </a:solidFill>
              </a:rPr>
              <a:t>CONTRADICTED</a:t>
            </a:r>
            <a:endParaRPr lang="en-US" sz="1000" dirty="0"/>
          </a:p>
        </p:txBody>
      </p:sp>
      <p:sp>
        <p:nvSpPr>
          <p:cNvPr id="14" name="Text 11"/>
          <p:cNvSpPr txBox="1"/>
          <p:nvPr/>
        </p:nvSpPr>
        <p:spPr>
          <a:xfrm>
            <a:off x="5041270" y="4773168"/>
            <a:ext cx="2109155" cy="566928"/>
          </a:xfrm>
          <a:prstGeom prst="rect">
            <a:avLst/>
          </a:prstGeom>
          <a:noFill/>
          <a:ln/>
        </p:spPr>
        <p:txBody>
          <a:bodyPr wrap="square" lIns="0" tIns="0" rIns="0" bIns="0" rtlCol="0" anchor="t"/>
          <a:lstStyle/>
          <a:p>
            <a:pPr indent="0" marL="0">
              <a:buNone/>
            </a:pPr>
            <a:r>
              <a:rPr lang="en-US" sz="1050" dirty="0">
                <a:solidFill>
                  <a:schemeClr val="tx2"/>
                </a:solidFill>
              </a:rPr>
              <a:t>Later or more authoritative evidence disagrees</a:t>
            </a:r>
            <a:endParaRPr lang="en-US" sz="1050" dirty="0"/>
          </a:p>
        </p:txBody>
      </p:sp>
      <p:sp>
        <p:nvSpPr>
          <p:cNvPr id="15" name="Shape 12"/>
          <p:cNvSpPr/>
          <p:nvPr/>
        </p:nvSpPr>
        <p:spPr>
          <a:xfrm>
            <a:off x="7287585" y="4434840"/>
            <a:ext cx="2109155" cy="274320"/>
          </a:xfrm>
          <a:prstGeom prst="roundRect">
            <a:avLst>
              <a:gd name="adj" fmla="val 50000"/>
            </a:avLst>
          </a:prstGeom>
          <a:solidFill>
            <a:srgbClr val="8C6A4F">
              <a:alpha val="12000"/>
            </a:srgbClr>
          </a:solidFill>
          <a:ln w="9525">
            <a:solidFill>
              <a:srgbClr val="8C6A4F"/>
            </a:solidFill>
            <a:prstDash val="solid"/>
          </a:ln>
        </p:spPr>
      </p:sp>
      <p:sp>
        <p:nvSpPr>
          <p:cNvPr id="16" name="Text 13"/>
          <p:cNvSpPr txBox="1"/>
          <p:nvPr/>
        </p:nvSpPr>
        <p:spPr>
          <a:xfrm>
            <a:off x="7287585" y="4434840"/>
            <a:ext cx="2109155" cy="274320"/>
          </a:xfrm>
          <a:prstGeom prst="rect">
            <a:avLst/>
          </a:prstGeom>
          <a:noFill/>
          <a:ln/>
        </p:spPr>
        <p:txBody>
          <a:bodyPr wrap="square" lIns="0" tIns="0" rIns="0" bIns="0" rtlCol="0" anchor="ctr"/>
          <a:lstStyle/>
          <a:p>
            <a:pPr algn="ctr" indent="0" marL="0">
              <a:buNone/>
            </a:pPr>
            <a:r>
              <a:rPr lang="en-US" sz="1000" b="1" spc="50" kern="0" dirty="0">
                <a:solidFill>
                  <a:srgbClr val="8C6A4F"/>
                </a:solidFill>
              </a:rPr>
              <a:t>STALE</a:t>
            </a:r>
            <a:endParaRPr lang="en-US" sz="1000" dirty="0"/>
          </a:p>
        </p:txBody>
      </p:sp>
      <p:sp>
        <p:nvSpPr>
          <p:cNvPr id="17" name="Text 14"/>
          <p:cNvSpPr txBox="1"/>
          <p:nvPr/>
        </p:nvSpPr>
        <p:spPr>
          <a:xfrm>
            <a:off x="7287585" y="4773168"/>
            <a:ext cx="2109155" cy="566928"/>
          </a:xfrm>
          <a:prstGeom prst="rect">
            <a:avLst/>
          </a:prstGeom>
          <a:noFill/>
          <a:ln/>
        </p:spPr>
        <p:txBody>
          <a:bodyPr wrap="square" lIns="0" tIns="0" rIns="0" bIns="0" rtlCol="0" anchor="t"/>
          <a:lstStyle/>
          <a:p>
            <a:pPr indent="0" marL="0">
              <a:buNone/>
            </a:pPr>
            <a:r>
              <a:rPr lang="en-US" sz="1050" dirty="0">
                <a:solidFill>
                  <a:schemeClr val="tx2"/>
                </a:solidFill>
              </a:rPr>
              <a:t>The evidence is older than the claim's freshness window</a:t>
            </a:r>
            <a:endParaRPr lang="en-US" sz="1050" dirty="0"/>
          </a:p>
        </p:txBody>
      </p:sp>
      <p:sp>
        <p:nvSpPr>
          <p:cNvPr id="18" name="Shape 15"/>
          <p:cNvSpPr/>
          <p:nvPr/>
        </p:nvSpPr>
        <p:spPr>
          <a:xfrm>
            <a:off x="9533900" y="4434840"/>
            <a:ext cx="2109155" cy="274320"/>
          </a:xfrm>
          <a:prstGeom prst="roundRect">
            <a:avLst>
              <a:gd name="adj" fmla="val 50000"/>
            </a:avLst>
          </a:prstGeom>
          <a:solidFill>
            <a:schemeClr val="accent5">
              <a:alpha val="12000"/>
            </a:schemeClr>
          </a:solidFill>
          <a:ln w="9525">
            <a:solidFill>
              <a:schemeClr val="accent5"/>
            </a:solidFill>
            <a:prstDash val="solid"/>
          </a:ln>
        </p:spPr>
      </p:sp>
      <p:sp>
        <p:nvSpPr>
          <p:cNvPr id="19" name="Text 16"/>
          <p:cNvSpPr txBox="1"/>
          <p:nvPr/>
        </p:nvSpPr>
        <p:spPr>
          <a:xfrm>
            <a:off x="9533900" y="4434840"/>
            <a:ext cx="2109155" cy="274320"/>
          </a:xfrm>
          <a:prstGeom prst="rect">
            <a:avLst/>
          </a:prstGeom>
          <a:noFill/>
          <a:ln/>
        </p:spPr>
        <p:txBody>
          <a:bodyPr wrap="square" lIns="0" tIns="0" rIns="0" bIns="0" rtlCol="0" anchor="ctr"/>
          <a:lstStyle/>
          <a:p>
            <a:pPr algn="ctr" indent="0" marL="0">
              <a:buNone/>
            </a:pPr>
            <a:r>
              <a:rPr lang="en-US" sz="1000" b="1" spc="50" kern="0" dirty="0">
                <a:solidFill>
                  <a:schemeClr val="accent5"/>
                </a:solidFill>
              </a:rPr>
              <a:t>UNKNOWN</a:t>
            </a:r>
            <a:endParaRPr lang="en-US" sz="1000" dirty="0"/>
          </a:p>
        </p:txBody>
      </p:sp>
      <p:sp>
        <p:nvSpPr>
          <p:cNvPr id="20" name="Text 17"/>
          <p:cNvSpPr txBox="1"/>
          <p:nvPr/>
        </p:nvSpPr>
        <p:spPr>
          <a:xfrm>
            <a:off x="9533900" y="4773168"/>
            <a:ext cx="2109155" cy="566928"/>
          </a:xfrm>
          <a:prstGeom prst="rect">
            <a:avLst/>
          </a:prstGeom>
          <a:noFill/>
          <a:ln/>
        </p:spPr>
        <p:txBody>
          <a:bodyPr wrap="square" lIns="0" tIns="0" rIns="0" bIns="0" rtlCol="0" anchor="t"/>
          <a:lstStyle/>
          <a:p>
            <a:pPr indent="0" marL="0">
              <a:buNone/>
            </a:pPr>
            <a:r>
              <a:rPr lang="en-US" sz="1050" dirty="0">
                <a:solidFill>
                  <a:schemeClr val="tx2"/>
                </a:solidFill>
              </a:rPr>
              <a:t>Nobody has claimed it and no evidence exists</a:t>
            </a:r>
            <a:endParaRPr lang="en-US" sz="1050" dirty="0"/>
          </a:p>
        </p:txBody>
      </p:sp>
      <p:sp>
        <p:nvSpPr>
          <p:cNvPr id="21" name="Text 18"/>
          <p:cNvSpPr txBox="1"/>
          <p:nvPr/>
        </p:nvSpPr>
        <p:spPr>
          <a:xfrm>
            <a:off x="548640" y="5486400"/>
            <a:ext cx="11094415" cy="566928"/>
          </a:xfrm>
          <a:prstGeom prst="rect">
            <a:avLst/>
          </a:prstGeom>
          <a:noFill/>
          <a:ln/>
        </p:spPr>
        <p:txBody>
          <a:bodyPr wrap="square" lIns="0" tIns="0" rIns="0" bIns="0" rtlCol="0" anchor="t"/>
          <a:lstStyle/>
          <a:p>
            <a:pPr indent="0" marL="0">
              <a:buNone/>
            </a:pPr>
            <a:r>
              <a:rPr lang="en-US" sz="1200" b="1" dirty="0">
                <a:solidFill>
                  <a:schemeClr val="tx1"/>
                </a:solidFill>
              </a:rPr>
              <a:t>Contradictions: </a:t>
            </a:r>
            <a:pPr indent="0" marL="0">
              <a:buNone/>
            </a:pPr>
            <a:r>
              <a:rPr lang="en-US" sz="1200" dirty="0">
                <a:solidFill>
                  <a:schemeClr val="tx2"/>
                </a:solidFill>
              </a:rPr>
              <a:t>AI flags that two passages conflict; the rule decides which wins (the later, or the more authoritative). People's decisions are logged beside the status and never rewrite it. The forecast category always stays a human judgement.</a:t>
            </a:r>
            <a:endParaRPr lang="en-US" sz="12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BACKUP B5  ·  WHAT HAPPENS WHEN THE MODEL MAKES A MISTAKE?</a:t>
            </a:r>
            <a:endParaRPr lang="en-US" sz="1100" dirty="0"/>
          </a:p>
        </p:txBody>
      </p:sp>
      <p:sp>
        <p:nvSpPr>
          <p:cNvPr id="3" name="Text 0"/>
          <p:cNvSpPr/>
          <p:nvPr>
            <p:ph idx="101" type="title" hasCustomPrompt="1"/>
          </p:nvPr>
        </p:nvSpPr>
        <p:spPr>
          <a:xfrm>
            <a:off x="548640" y="603504"/>
            <a:ext cx="11094415" cy="822960"/>
          </a:xfrm>
          <a:prstGeom prst="rect">
            <a:avLst/>
          </a:prstGeom>
          <a:noFill/>
          <a:ln/>
        </p:spPr>
        <p:txBody>
          <a:bodyPr wrap="square" lIns="0" tIns="0" rIns="0" bIns="0" rtlCol="0" anchor="t"/>
          <a:lstStyle/>
          <a:p>
            <a:pPr algn="l" indent="0" marL="0">
              <a:lnSpc>
                <a:spcPct val="95000"/>
              </a:lnSpc>
              <a:buNone/>
            </a:pPr>
            <a:r>
              <a:rPr lang="en-US" sz="2400" b="1" dirty="0">
                <a:solidFill>
                  <a:schemeClr val="tx1"/>
                </a:solidFill>
              </a:rPr>
              <a:t>When the model is wrong, the error must be visible, checkable and cheap.</a:t>
            </a:r>
            <a:endParaRPr lang="en-US" sz="2400" dirty="0"/>
          </a:p>
        </p:txBody>
      </p:sp>
      <p:sp>
        <p:nvSpPr>
          <p:cNvPr id="4" name="Text 0"/>
          <p:cNvSpPr/>
          <p:nvPr>
            <p:ph idx="102" type="body" hasCustomPrompt="1"/>
          </p:nvPr>
        </p:nvSpPr>
        <p:spPr>
          <a:xfrm>
            <a:off x="548640" y="6327648"/>
            <a:ext cx="10287000" cy="384048"/>
          </a:xfrm>
          <a:prstGeom prst="rect">
            <a:avLst/>
          </a:prstGeom>
          <a:noFill/>
          <a:ln/>
        </p:spPr>
        <p:txBody>
          <a:bodyPr wrap="square" lIns="0" tIns="0" rIns="0" bIns="0" rtlCol="0" anchor="t"/>
          <a:lstStyle/>
          <a:p>
            <a:pPr algn="l" indent="0" marL="0">
              <a:buNone/>
            </a:pPr>
            <a:r>
              <a:rPr lang="en-US" sz="1000" dirty="0">
                <a:solidFill>
                  <a:schemeClr val="accent5"/>
                </a:solidFill>
              </a:rPr>
              <a:t>HYPOTHESIS  ·  failure modes and safeguards to test in the accuracy study (B3)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926080"/>
                <a:gridCol w="3749040"/>
                <a:gridCol w="4419295"/>
              </a:tblGrid>
              <a:tr h="310896">
                <a:tc>
                  <a:txBody>
                    <a:bodyPr/>
                    <a:lstStyle/>
                    <a:p>
                      <a:pPr indent="0" marL="0">
                        <a:buNone/>
                      </a:pPr>
                      <a:r>
                        <a:rPr lang="en-US" sz="1000" b="1" dirty="0">
                          <a:solidFill>
                            <a:schemeClr val="accent5"/>
                          </a:solidFill>
                        </a:rPr>
                        <a:t>FAILURE MODE</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EXAMPLE</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SAFEGUARD</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r>
              <a:tr h="603504">
                <a:tc>
                  <a:txBody>
                    <a:bodyPr/>
                    <a:lstStyle/>
                    <a:p>
                      <a:pPr indent="0" marL="0">
                        <a:buNone/>
                      </a:pPr>
                      <a:r>
                        <a:rPr lang="en-US" sz="1200" b="1" dirty="0">
                          <a:solidFill>
                            <a:srgbClr val="14213D"/>
                          </a:solidFill>
                        </a:rPr>
                        <a:t>Wrong speaker or role</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i="1" dirty="0">
                          <a:solidFill>
                            <a:srgbClr val="334155"/>
                          </a:solidFill>
                        </a:rPr>
                        <a:t>“Budget is approved” attributed to the CFO but said by the champion</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Speaker and role shown on every card; the rep can dispute in one step</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14213D"/>
                          </a:solidFill>
                        </a:rPr>
                        <a:t>Hedged or joking remark read as a commitment</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i="1" dirty="0">
                          <a:solidFill>
                            <a:srgbClr val="334155"/>
                          </a:solidFill>
                        </a:rPr>
                        <a:t>“Should be fine, budget-wise” read as approval</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Verbatim quote, always linked; tune for precision ahead of recall</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14213D"/>
                          </a:solidFill>
                        </a:rPr>
                        <a:t>A channel the system cannot see</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i="1" dirty="0">
                          <a:solidFill>
                            <a:srgbClr val="334155"/>
                          </a:solidFill>
                        </a:rPr>
                        <a:t>Commitment made by phone, WhatsApp or in person</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Status says “in connected sources”; channels read are shown per deal; reps can attach evidence marked as seller-supplied</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14213D"/>
                          </a:solidFill>
                        </a:rPr>
                        <a:t>Quote out of context</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i="1" dirty="0">
                          <a:solidFill>
                            <a:srgbClr val="334155"/>
                          </a:solidFill>
                        </a:rPr>
                        <a:t>“If legal signs off, two weeks” read without the condition</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The link opens the surrounding passage; the evaluation set includes conditionals</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14213D"/>
                          </a:solidFill>
                        </a:rPr>
                        <a:t>A model or prompt change shifts results</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i="1" dirty="0">
                          <a:solidFill>
                            <a:srgbClr val="334155"/>
                          </a:solidFill>
                        </a:rPr>
                        <a:t>Accuracy drops silently after an update</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Hand-marked evaluation set re-run on every change</a:t>
                      </a:r>
                      <a:endParaRPr lang="en-US" sz="12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440680"/>
            <a:ext cx="11094415" cy="365760"/>
          </a:xfrm>
          <a:prstGeom prst="rect">
            <a:avLst/>
          </a:prstGeom>
          <a:noFill/>
          <a:ln/>
        </p:spPr>
        <p:txBody>
          <a:bodyPr wrap="square" lIns="0" tIns="0" rIns="0" bIns="0" rtlCol="0" anchor="t"/>
          <a:lstStyle/>
          <a:p>
            <a:pPr indent="0" marL="0">
              <a:buNone/>
            </a:pPr>
            <a:r>
              <a:rPr lang="en-US" sz="1350" b="1" dirty="0">
                <a:solidFill>
                  <a:schemeClr val="tx1"/>
                </a:solidFill>
              </a:rPr>
              <a:t>Read-only by design: a mistake changes no CRM record and reaches no customer.</a:t>
            </a:r>
            <a:endParaRPr lang="en-US" sz="135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BACKUP B6  ·  ISN'T THIS WHAT GONG OR LIGHTFIELD DOES?</a:t>
            </a:r>
            <a:endParaRPr lang="en-US" sz="1100" dirty="0"/>
          </a:p>
        </p:txBody>
      </p:sp>
      <p:sp>
        <p:nvSpPr>
          <p:cNvPr id="3" name="Text 0"/>
          <p:cNvSpPr/>
          <p:nvPr>
            <p:ph idx="101" type="title" hasCustomPrompt="1"/>
          </p:nvPr>
        </p:nvSpPr>
        <p:spPr>
          <a:xfrm>
            <a:off x="548640" y="603504"/>
            <a:ext cx="11094415" cy="822960"/>
          </a:xfrm>
          <a:prstGeom prst="rect">
            <a:avLst/>
          </a:prstGeom>
          <a:noFill/>
          <a:ln/>
        </p:spPr>
        <p:txBody>
          <a:bodyPr wrap="square" lIns="0" tIns="0" rIns="0" bIns="0" rtlCol="0" anchor="t"/>
          <a:lstStyle/>
          <a:p>
            <a:pPr algn="l" indent="0" marL="0">
              <a:lnSpc>
                <a:spcPct val="95000"/>
              </a:lnSpc>
              <a:buNone/>
            </a:pPr>
            <a:r>
              <a:rPr lang="en-US" sz="2400" b="1" dirty="0">
                <a:solidFill>
                  <a:schemeClr val="tx1"/>
                </a:solidFill>
              </a:rPr>
              <a:t>Competitors are strong and converging on context; the open question is the unit of record.</a:t>
            </a:r>
            <a:endParaRPr lang="en-US" sz="2400" dirty="0"/>
          </a:p>
        </p:txBody>
      </p:sp>
      <p:sp>
        <p:nvSpPr>
          <p:cNvPr id="4" name="Text 0"/>
          <p:cNvSpPr/>
          <p:nvPr>
            <p:ph idx="102" type="body" hasCustomPrompt="1"/>
          </p:nvPr>
        </p:nvSpPr>
        <p:spPr>
          <a:xfrm>
            <a:off x="548640" y="6327648"/>
            <a:ext cx="10287000" cy="384048"/>
          </a:xfrm>
          <a:prstGeom prst="rect">
            <a:avLst/>
          </a:prstGeom>
          <a:noFill/>
          <a:ln/>
        </p:spPr>
        <p:txBody>
          <a:bodyPr wrap="square" lIns="0" tIns="0" rIns="0" bIns="0" rtlCol="0" anchor="t"/>
          <a:lstStyle/>
          <a:p>
            <a:pPr algn="l" indent="0" marL="0">
              <a:buNone/>
            </a:pPr>
            <a:r>
              <a:rPr lang="en-US" sz="1000" dirty="0">
                <a:solidFill>
                  <a:schemeClr val="accent5"/>
                </a:solidFill>
              </a:rPr>
              <a:t>Public sources only (B8): Gong help docs; Gong press, 2026; Forrester, 2025; a16z, 2026; Pulse 2.0, 2026; Balderton, 2025; MarTech, 2026; CX Today. Not tested hands-on.</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828800"/>
                <a:gridCol w="6035040"/>
                <a:gridCol w="3230575"/>
              </a:tblGrid>
              <a:tr h="292608">
                <a:tc>
                  <a:txBody>
                    <a:bodyPr/>
                    <a:lstStyle/>
                    <a:p>
                      <a:pPr indent="0" marL="0">
                        <a:buNone/>
                      </a:pPr>
                      <a:r>
                        <a:rPr lang="en-US" sz="1000" b="1" dirty="0">
                          <a:solidFill>
                            <a:schemeClr val="accent5"/>
                          </a:solidFill>
                        </a:rPr>
                        <a:t>PRODUCT</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WHAT PUBLIC SOURCES SAY</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CLOSEST OVERLAP</a:t>
                      </a:r>
                      <a:endParaRPr lang="en-US" sz="10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r>
              <a:tr h="457200">
                <a:tc>
                  <a:txBody>
                    <a:bodyPr/>
                    <a:lstStyle/>
                    <a:p>
                      <a:pPr indent="0" marL="0">
                        <a:buNone/>
                      </a:pPr>
                      <a:r>
                        <a:rPr lang="en-US" sz="1100" b="1" dirty="0">
                          <a:solidFill>
                            <a:srgbClr val="14213D"/>
                          </a:solidFill>
                        </a:rPr>
                        <a:t>Salesforce</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Configurable system of record; Agentforce agents; Headless 360 exposes the platform to agents</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Owns the field model every report depends on; could add a claim object</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4213D"/>
                          </a:solidFill>
                        </a:rPr>
                        <a:t>HubSpot</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Marketing, sales and service on one record; Breeze agents; pay-per-result agent pricing (2026)</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AI updates CRM records from conversations</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14213D"/>
                          </a:solidFill>
                        </a:rPr>
                        <a:t>Gong</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Conversation intelligence, forecasting and agents; AI Data Extractor writes admin-defined answers into CRM fields, newer overwrites older; &gt;$500M ARR (vendor)</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Reads the same evidence; could add a claim status</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4213D"/>
                          </a:solidFill>
                        </a:rPr>
                        <a:t>Clari + Salesloft</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Forecasting and pipeline inspection with history; merged in 2025, about 5,000 customers and $450M ARR</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Forecast inspection is the same moment</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4213D"/>
                          </a:solidFill>
                        </a:rPr>
                        <a:t>Lightfield</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Record built from conversations; “customer memory”; a context graph capturing the why behind each deal; $47M Series A (2026)</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Closest premise</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4213D"/>
                          </a:solidFill>
                        </a:rPr>
                        <a:t>Day AI</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Record built from conversations; a “context graph” (2026)</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Close premise</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4213D"/>
                          </a:solidFill>
                        </a:rPr>
                        <a:t>Attio</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Flexible, programmable record that syncs mail and calendar itself, with AI fields; $52M Series B (2025)</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Could model claims as objects</a:t>
                      </a:r>
                      <a:endParaRPr lang="en-US" sz="1100" dirty="0"/>
                    </a:p>
                  </a:txBody>
                  <a:tcPr marL="54864" marR="54864" marT="54864" marB="54864"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413248"/>
            <a:ext cx="11094415" cy="685800"/>
          </a:xfrm>
          <a:prstGeom prst="rect">
            <a:avLst/>
          </a:prstGeom>
          <a:noFill/>
          <a:ln/>
        </p:spPr>
        <p:txBody>
          <a:bodyPr wrap="square" lIns="0" tIns="0" rIns="0" bIns="0" rtlCol="0" anchor="t"/>
          <a:lstStyle/>
          <a:p>
            <a:pPr indent="0" marL="0">
              <a:buNone/>
            </a:pPr>
            <a:r>
              <a:rPr lang="en-US" sz="1200" b="1" dirty="0">
                <a:solidFill>
                  <a:schemeClr val="tx1"/>
                </a:solidFill>
              </a:rPr>
              <a:t>Prepared answers. </a:t>
            </a:r>
            <a:pPr indent="0" marL="0">
              <a:buNone/>
            </a:pPr>
            <a:r>
              <a:rPr lang="en-US" sz="1200" dirty="0">
                <a:solidFill>
                  <a:schemeClr val="tx2"/>
                </a:solidFill>
              </a:rPr>
              <a:t>Why not a claim object inside Salesforce? It could be stored there; the product is the interpretation, the customer's rules and the linked evidence. What if Gong ships this? Then it is a feature, and the entry point moves to promises and renewals.</a:t>
            </a:r>
            <a:endParaRPr lang="en-US" sz="12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BACKUP B7  ·  IS THIS SURVEILLANCE?</a:t>
            </a:r>
            <a:endParaRPr lang="en-US" sz="1100" dirty="0"/>
          </a:p>
        </p:txBody>
      </p:sp>
      <p:sp>
        <p:nvSpPr>
          <p:cNvPr id="3" name="Text 0"/>
          <p:cNvSpPr/>
          <p:nvPr>
            <p:ph idx="101" type="title" hasCustomPrompt="1"/>
          </p:nvPr>
        </p:nvSpPr>
        <p:spPr>
          <a:xfrm>
            <a:off x="548640" y="603504"/>
            <a:ext cx="11094415" cy="822960"/>
          </a:xfrm>
          <a:prstGeom prst="rect">
            <a:avLst/>
          </a:prstGeom>
          <a:noFill/>
          <a:ln/>
        </p:spPr>
        <p:txBody>
          <a:bodyPr wrap="square" lIns="0" tIns="0" rIns="0" bIns="0" rtlCol="0" anchor="t"/>
          <a:lstStyle/>
          <a:p>
            <a:pPr algn="l" indent="0" marL="0">
              <a:lnSpc>
                <a:spcPct val="95000"/>
              </a:lnSpc>
              <a:buNone/>
            </a:pPr>
            <a:r>
              <a:rPr lang="en-US" sz="2400" b="1" dirty="0">
                <a:solidFill>
                  <a:schemeClr val="tx1"/>
                </a:solidFill>
              </a:rPr>
              <a:t>Reps see their flags first; managers see evidence on deals, not an activity feed.</a:t>
            </a:r>
            <a:endParaRPr lang="en-US" sz="2400" dirty="0"/>
          </a:p>
        </p:txBody>
      </p:sp>
      <p:sp>
        <p:nvSpPr>
          <p:cNvPr id="4" name="Text 0"/>
          <p:cNvSpPr/>
          <p:nvPr>
            <p:ph idx="102" type="body" hasCustomPrompt="1"/>
          </p:nvPr>
        </p:nvSpPr>
        <p:spPr>
          <a:xfrm>
            <a:off x="548640" y="6327648"/>
            <a:ext cx="10287000" cy="384048"/>
          </a:xfrm>
          <a:prstGeom prst="rect">
            <a:avLst/>
          </a:prstGeom>
          <a:noFill/>
          <a:ln/>
        </p:spPr>
        <p:txBody>
          <a:bodyPr wrap="square" lIns="0" tIns="0" rIns="0" bIns="0" rtlCol="0" anchor="t"/>
          <a:lstStyle/>
          <a:p>
            <a:pPr algn="l" indent="0" marL="0">
              <a:buNone/>
            </a:pPr>
            <a:r>
              <a:rPr lang="en-US" sz="1000" dirty="0">
                <a:solidFill>
                  <a:schemeClr val="accent5"/>
                </a:solidFill>
              </a:rPr>
              <a:t>CX Today (Slack data restrictions, 2025)  ·  PRODUCT ASSUMPTION: design responses, untested</a:t>
            </a:r>
            <a:endParaRPr lang="en-US" sz="1000" dirty="0"/>
          </a:p>
        </p:txBody>
      </p:sp>
      <p:sp>
        <p:nvSpPr>
          <p:cNvPr id="5" name="Shape 3"/>
          <p:cNvSpPr/>
          <p:nvPr/>
        </p:nvSpPr>
        <p:spPr>
          <a:xfrm>
            <a:off x="548640" y="1645920"/>
            <a:ext cx="11094415" cy="768096"/>
          </a:xfrm>
          <a:prstGeom prst="roundRect">
            <a:avLst>
              <a:gd name="adj" fmla="val 9524"/>
            </a:avLst>
          </a:prstGeom>
          <a:solidFill>
            <a:schemeClr val="bg1"/>
          </a:solidFill>
          <a:ln w="9525">
            <a:solidFill>
              <a:schemeClr val="accent6"/>
            </a:solidFill>
            <a:prstDash val="solid"/>
          </a:ln>
        </p:spPr>
      </p:sp>
      <p:sp>
        <p:nvSpPr>
          <p:cNvPr id="6" name="Text 4"/>
          <p:cNvSpPr txBox="1"/>
          <p:nvPr/>
        </p:nvSpPr>
        <p:spPr>
          <a:xfrm>
            <a:off x="777240" y="1645920"/>
            <a:ext cx="2926080" cy="768096"/>
          </a:xfrm>
          <a:prstGeom prst="rect">
            <a:avLst/>
          </a:prstGeom>
          <a:noFill/>
          <a:ln/>
        </p:spPr>
        <p:txBody>
          <a:bodyPr wrap="square" lIns="0" tIns="0" rIns="0" bIns="0" rtlCol="0" anchor="ctr"/>
          <a:lstStyle/>
          <a:p>
            <a:pPr indent="0" marL="0">
              <a:buNone/>
            </a:pPr>
            <a:r>
              <a:rPr lang="en-US" sz="1400" b="1" dirty="0">
                <a:solidFill>
                  <a:schemeClr val="tx1"/>
                </a:solidFill>
              </a:rPr>
              <a:t>Is this surveillance?</a:t>
            </a:r>
            <a:endParaRPr lang="en-US" sz="1400" dirty="0"/>
          </a:p>
        </p:txBody>
      </p:sp>
      <p:sp>
        <p:nvSpPr>
          <p:cNvPr id="7" name="Text 5"/>
          <p:cNvSpPr txBox="1"/>
          <p:nvPr/>
        </p:nvSpPr>
        <p:spPr>
          <a:xfrm>
            <a:off x="3840480" y="1645920"/>
            <a:ext cx="7573975" cy="768096"/>
          </a:xfrm>
          <a:prstGeom prst="rect">
            <a:avLst/>
          </a:prstGeom>
          <a:noFill/>
          <a:ln/>
        </p:spPr>
        <p:txBody>
          <a:bodyPr wrap="square" lIns="0" tIns="0" rIns="0" bIns="0" rtlCol="0" anchor="ctr"/>
          <a:lstStyle/>
          <a:p>
            <a:pPr indent="0" marL="0">
              <a:buNone/>
            </a:pPr>
            <a:r>
              <a:rPr lang="en-US" sz="1250" dirty="0">
                <a:solidFill>
                  <a:schemeClr val="tx2"/>
                </a:solidFill>
              </a:rPr>
              <a:t>The rep sees flags a day before the manager. Managers see deal evidence, not activity counts. The historical audit is reported by pattern, not by rep.</a:t>
            </a:r>
            <a:endParaRPr lang="en-US" sz="1250" dirty="0"/>
          </a:p>
        </p:txBody>
      </p:sp>
      <p:sp>
        <p:nvSpPr>
          <p:cNvPr id="8" name="Shape 6"/>
          <p:cNvSpPr/>
          <p:nvPr/>
        </p:nvSpPr>
        <p:spPr>
          <a:xfrm>
            <a:off x="548640" y="2505456"/>
            <a:ext cx="11094415" cy="768096"/>
          </a:xfrm>
          <a:prstGeom prst="roundRect">
            <a:avLst>
              <a:gd name="adj" fmla="val 9524"/>
            </a:avLst>
          </a:prstGeom>
          <a:solidFill>
            <a:schemeClr val="bg1"/>
          </a:solidFill>
          <a:ln w="9525">
            <a:solidFill>
              <a:schemeClr val="accent6"/>
            </a:solidFill>
            <a:prstDash val="solid"/>
          </a:ln>
        </p:spPr>
      </p:sp>
      <p:sp>
        <p:nvSpPr>
          <p:cNvPr id="9" name="Text 7"/>
          <p:cNvSpPr txBox="1"/>
          <p:nvPr/>
        </p:nvSpPr>
        <p:spPr>
          <a:xfrm>
            <a:off x="777240" y="2505456"/>
            <a:ext cx="2926080" cy="768096"/>
          </a:xfrm>
          <a:prstGeom prst="rect">
            <a:avLst/>
          </a:prstGeom>
          <a:noFill/>
          <a:ln/>
        </p:spPr>
        <p:txBody>
          <a:bodyPr wrap="square" lIns="0" tIns="0" rIns="0" bIns="0" rtlCol="0" anchor="ctr"/>
          <a:lstStyle/>
          <a:p>
            <a:pPr indent="0" marL="0">
              <a:buNone/>
            </a:pPr>
            <a:r>
              <a:rPr lang="en-US" sz="1400" b="1" dirty="0">
                <a:solidFill>
                  <a:schemeClr val="tx1"/>
                </a:solidFill>
              </a:rPr>
              <a:t>Why would a rep cooperate?</a:t>
            </a:r>
            <a:endParaRPr lang="en-US" sz="1400" dirty="0"/>
          </a:p>
        </p:txBody>
      </p:sp>
      <p:sp>
        <p:nvSpPr>
          <p:cNvPr id="10" name="Text 8"/>
          <p:cNvSpPr txBox="1"/>
          <p:nvPr/>
        </p:nvSpPr>
        <p:spPr>
          <a:xfrm>
            <a:off x="3840480" y="2505456"/>
            <a:ext cx="7573975" cy="768096"/>
          </a:xfrm>
          <a:prstGeom prst="rect">
            <a:avLst/>
          </a:prstGeom>
          <a:noFill/>
          <a:ln/>
        </p:spPr>
        <p:txBody>
          <a:bodyPr wrap="square" lIns="0" tIns="0" rIns="0" bIns="0" rtlCol="0" anchor="ctr"/>
          <a:lstStyle/>
          <a:p>
            <a:pPr indent="0" marL="0">
              <a:buNone/>
            </a:pPr>
            <a:r>
              <a:rPr lang="en-US" sz="1250" dirty="0">
                <a:solidFill>
                  <a:schemeClr val="tx2"/>
                </a:solidFill>
              </a:rPr>
              <a:t>It tells them what to ask the customer next, and disputes take one step. Rep disputes and recording rates are a guardrail in the pilot.</a:t>
            </a:r>
            <a:endParaRPr lang="en-US" sz="1250" dirty="0"/>
          </a:p>
        </p:txBody>
      </p:sp>
      <p:sp>
        <p:nvSpPr>
          <p:cNvPr id="11" name="Shape 9"/>
          <p:cNvSpPr/>
          <p:nvPr/>
        </p:nvSpPr>
        <p:spPr>
          <a:xfrm>
            <a:off x="548640" y="3364992"/>
            <a:ext cx="11094415" cy="768096"/>
          </a:xfrm>
          <a:prstGeom prst="roundRect">
            <a:avLst>
              <a:gd name="adj" fmla="val 9524"/>
            </a:avLst>
          </a:prstGeom>
          <a:solidFill>
            <a:schemeClr val="bg1"/>
          </a:solidFill>
          <a:ln w="9525">
            <a:solidFill>
              <a:schemeClr val="accent6"/>
            </a:solidFill>
            <a:prstDash val="solid"/>
          </a:ln>
        </p:spPr>
      </p:sp>
      <p:sp>
        <p:nvSpPr>
          <p:cNvPr id="12" name="Text 10"/>
          <p:cNvSpPr txBox="1"/>
          <p:nvPr/>
        </p:nvSpPr>
        <p:spPr>
          <a:xfrm>
            <a:off x="777240" y="3364992"/>
            <a:ext cx="2926080" cy="768096"/>
          </a:xfrm>
          <a:prstGeom prst="rect">
            <a:avLst/>
          </a:prstGeom>
          <a:noFill/>
          <a:ln/>
        </p:spPr>
        <p:txBody>
          <a:bodyPr wrap="square" lIns="0" tIns="0" rIns="0" bIns="0" rtlCol="0" anchor="ctr"/>
          <a:lstStyle/>
          <a:p>
            <a:pPr indent="0" marL="0">
              <a:buNone/>
            </a:pPr>
            <a:r>
              <a:rPr lang="en-US" sz="1400" b="1" dirty="0">
                <a:solidFill>
                  <a:schemeClr val="tx1"/>
                </a:solidFill>
              </a:rPr>
              <a:t>Consent and access</a:t>
            </a:r>
            <a:endParaRPr lang="en-US" sz="1400" dirty="0"/>
          </a:p>
        </p:txBody>
      </p:sp>
      <p:sp>
        <p:nvSpPr>
          <p:cNvPr id="13" name="Text 11"/>
          <p:cNvSpPr txBox="1"/>
          <p:nvPr/>
        </p:nvSpPr>
        <p:spPr>
          <a:xfrm>
            <a:off x="3840480" y="3364992"/>
            <a:ext cx="7573975" cy="768096"/>
          </a:xfrm>
          <a:prstGeom prst="rect">
            <a:avLst/>
          </a:prstGeom>
          <a:noFill/>
          <a:ln/>
        </p:spPr>
        <p:txBody>
          <a:bodyPr wrap="square" lIns="0" tIns="0" rIns="0" bIns="0" rtlCol="0" anchor="ctr"/>
          <a:lstStyle/>
          <a:p>
            <a:pPr indent="0" marL="0">
              <a:buNone/>
            </a:pPr>
            <a:r>
              <a:rPr lang="en-US" sz="1250" dirty="0">
                <a:solidFill>
                  <a:schemeClr val="tx2"/>
                </a:solidFill>
              </a:rPr>
              <a:t>Only channels the customer already records. Read access to email and calls still needs a security and legal review.</a:t>
            </a:r>
            <a:endParaRPr lang="en-US" sz="1250" dirty="0"/>
          </a:p>
        </p:txBody>
      </p:sp>
      <p:sp>
        <p:nvSpPr>
          <p:cNvPr id="14" name="Shape 12"/>
          <p:cNvSpPr/>
          <p:nvPr/>
        </p:nvSpPr>
        <p:spPr>
          <a:xfrm>
            <a:off x="548640" y="4224528"/>
            <a:ext cx="11094415" cy="768096"/>
          </a:xfrm>
          <a:prstGeom prst="roundRect">
            <a:avLst>
              <a:gd name="adj" fmla="val 9524"/>
            </a:avLst>
          </a:prstGeom>
          <a:solidFill>
            <a:schemeClr val="bg1"/>
          </a:solidFill>
          <a:ln w="9525">
            <a:solidFill>
              <a:schemeClr val="accent6"/>
            </a:solidFill>
            <a:prstDash val="solid"/>
          </a:ln>
        </p:spPr>
      </p:sp>
      <p:sp>
        <p:nvSpPr>
          <p:cNvPr id="15" name="Text 13"/>
          <p:cNvSpPr txBox="1"/>
          <p:nvPr/>
        </p:nvSpPr>
        <p:spPr>
          <a:xfrm>
            <a:off x="777240" y="4224528"/>
            <a:ext cx="2926080" cy="768096"/>
          </a:xfrm>
          <a:prstGeom prst="rect">
            <a:avLst/>
          </a:prstGeom>
          <a:noFill/>
          <a:ln/>
        </p:spPr>
        <p:txBody>
          <a:bodyPr wrap="square" lIns="0" tIns="0" rIns="0" bIns="0" rtlCol="0" anchor="ctr"/>
          <a:lstStyle/>
          <a:p>
            <a:pPr indent="0" marL="0">
              <a:buNone/>
            </a:pPr>
            <a:r>
              <a:rPr lang="en-US" sz="1400" b="1" dirty="0">
                <a:solidFill>
                  <a:schemeClr val="tx1"/>
                </a:solidFill>
              </a:rPr>
              <a:t>Phone, chat, in person</a:t>
            </a:r>
            <a:endParaRPr lang="en-US" sz="1400" dirty="0"/>
          </a:p>
        </p:txBody>
      </p:sp>
      <p:sp>
        <p:nvSpPr>
          <p:cNvPr id="16" name="Text 14"/>
          <p:cNvSpPr txBox="1"/>
          <p:nvPr/>
        </p:nvSpPr>
        <p:spPr>
          <a:xfrm>
            <a:off x="3840480" y="4224528"/>
            <a:ext cx="7573975" cy="768096"/>
          </a:xfrm>
          <a:prstGeom prst="rect">
            <a:avLst/>
          </a:prstGeom>
          <a:noFill/>
          <a:ln/>
        </p:spPr>
        <p:txBody>
          <a:bodyPr wrap="square" lIns="0" tIns="0" rIns="0" bIns="0" rtlCol="0" anchor="ctr"/>
          <a:lstStyle/>
          <a:p>
            <a:pPr indent="0" marL="0">
              <a:buNone/>
            </a:pPr>
            <a:r>
              <a:rPr lang="en-US" sz="1250" dirty="0">
                <a:solidFill>
                  <a:schemeClr val="tx2"/>
                </a:solidFill>
              </a:rPr>
              <a:t>“No evidence in connected sources” is not “no evidence”. Channels read are shown per deal; reps can attach evidence marked as seller-supplied.</a:t>
            </a:r>
            <a:endParaRPr lang="en-US" sz="1250" dirty="0"/>
          </a:p>
        </p:txBody>
      </p:sp>
      <p:sp>
        <p:nvSpPr>
          <p:cNvPr id="17" name="Shape 15"/>
          <p:cNvSpPr/>
          <p:nvPr/>
        </p:nvSpPr>
        <p:spPr>
          <a:xfrm>
            <a:off x="548640" y="5084064"/>
            <a:ext cx="11094415" cy="768096"/>
          </a:xfrm>
          <a:prstGeom prst="roundRect">
            <a:avLst>
              <a:gd name="adj" fmla="val 9524"/>
            </a:avLst>
          </a:prstGeom>
          <a:solidFill>
            <a:schemeClr val="bg1"/>
          </a:solidFill>
          <a:ln w="9525">
            <a:solidFill>
              <a:schemeClr val="accent6"/>
            </a:solidFill>
            <a:prstDash val="solid"/>
          </a:ln>
        </p:spPr>
      </p:sp>
      <p:sp>
        <p:nvSpPr>
          <p:cNvPr id="18" name="Text 16"/>
          <p:cNvSpPr txBox="1"/>
          <p:nvPr/>
        </p:nvSpPr>
        <p:spPr>
          <a:xfrm>
            <a:off x="777240" y="5084064"/>
            <a:ext cx="2926080" cy="768096"/>
          </a:xfrm>
          <a:prstGeom prst="rect">
            <a:avLst/>
          </a:prstGeom>
          <a:noFill/>
          <a:ln/>
        </p:spPr>
        <p:txBody>
          <a:bodyPr wrap="square" lIns="0" tIns="0" rIns="0" bIns="0" rtlCol="0" anchor="ctr"/>
          <a:lstStyle/>
          <a:p>
            <a:pPr indent="0" marL="0">
              <a:buNone/>
            </a:pPr>
            <a:r>
              <a:rPr lang="en-US" sz="1400" b="1" dirty="0">
                <a:solidFill>
                  <a:schemeClr val="tx1"/>
                </a:solidFill>
              </a:rPr>
              <a:t>Platform risk</a:t>
            </a:r>
            <a:endParaRPr lang="en-US" sz="1400" dirty="0"/>
          </a:p>
        </p:txBody>
      </p:sp>
      <p:sp>
        <p:nvSpPr>
          <p:cNvPr id="19" name="Text 17"/>
          <p:cNvSpPr txBox="1"/>
          <p:nvPr/>
        </p:nvSpPr>
        <p:spPr>
          <a:xfrm>
            <a:off x="3840480" y="5084064"/>
            <a:ext cx="7573975" cy="768096"/>
          </a:xfrm>
          <a:prstGeom prst="rect">
            <a:avLst/>
          </a:prstGeom>
          <a:noFill/>
          <a:ln/>
        </p:spPr>
        <p:txBody>
          <a:bodyPr wrap="square" lIns="0" tIns="0" rIns="0" bIns="0" rtlCol="0" anchor="ctr"/>
          <a:lstStyle/>
          <a:p>
            <a:pPr indent="0" marL="0">
              <a:buNone/>
            </a:pPr>
            <a:r>
              <a:rPr lang="en-US" sz="1250" dirty="0">
                <a:solidFill>
                  <a:schemeClr val="tx2"/>
                </a:solidFill>
              </a:rPr>
              <a:t>Data holders can close access: Salesforce restricted other vendors' use of Slack data.</a:t>
            </a:r>
            <a:endParaRPr lang="en-US" sz="125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1024128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BACKUP B8  ·  SOURCES</a:t>
            </a:r>
            <a:endParaRPr lang="en-US" sz="1100" dirty="0"/>
          </a:p>
        </p:txBody>
      </p:sp>
      <p:sp>
        <p:nvSpPr>
          <p:cNvPr id="3" name="Text 0"/>
          <p:cNvSpPr/>
          <p:nvPr>
            <p:ph idx="101" type="title" hasCustomPrompt="1"/>
          </p:nvPr>
        </p:nvSpPr>
        <p:spPr>
          <a:xfrm>
            <a:off x="548640" y="603504"/>
            <a:ext cx="11094415" cy="822960"/>
          </a:xfrm>
          <a:prstGeom prst="rect">
            <a:avLst/>
          </a:prstGeom>
          <a:noFill/>
          <a:ln/>
        </p:spPr>
        <p:txBody>
          <a:bodyPr wrap="square" lIns="0" tIns="0" rIns="0" bIns="0" rtlCol="0" anchor="t"/>
          <a:lstStyle/>
          <a:p>
            <a:pPr algn="l" indent="0" marL="0">
              <a:lnSpc>
                <a:spcPct val="95000"/>
              </a:lnSpc>
              <a:buNone/>
            </a:pPr>
            <a:r>
              <a:rPr lang="en-US" sz="2400" b="1" dirty="0">
                <a:solidFill>
                  <a:schemeClr val="tx1"/>
                </a:solidFill>
              </a:rPr>
              <a:t>Sources behind the slides, with year and vendor status.</a:t>
            </a:r>
            <a:endParaRPr lang="en-US" sz="2400" dirty="0"/>
          </a:p>
        </p:txBody>
      </p:sp>
      <p:sp>
        <p:nvSpPr>
          <p:cNvPr id="4" name="Text 0"/>
          <p:cNvSpPr/>
          <p:nvPr>
            <p:ph idx="102" type="body" hasCustomPrompt="1"/>
          </p:nvPr>
        </p:nvSpPr>
        <p:spPr>
          <a:xfrm>
            <a:off x="548640" y="6327648"/>
            <a:ext cx="10287000" cy="384048"/>
          </a:xfrm>
          <a:prstGeom prst="rect">
            <a:avLst/>
          </a:prstGeom>
          <a:noFill/>
          <a:ln/>
        </p:spPr>
        <p:txBody>
          <a:bodyPr wrap="square" lIns="0" tIns="0" rIns="0" bIns="0" rtlCol="0" anchor="t"/>
          <a:lstStyle/>
          <a:p>
            <a:pPr algn="l" indent="0" marL="0">
              <a:buNone/>
            </a:pPr>
            <a:r>
              <a:rPr lang="en-US" sz="1000" dirty="0">
                <a:solidFill>
                  <a:schemeClr val="accent5"/>
                </a:solidFill>
              </a:rPr>
              <a:t>Opened 7–8 October 2026  ·  Links shortened; “…” marks a cut path</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063240"/>
                <a:gridCol w="3749040"/>
                <a:gridCol w="4282135"/>
              </a:tblGrid>
              <a:tr h="265176">
                <a:tc>
                  <a:txBody>
                    <a:bodyPr/>
                    <a:lstStyle/>
                    <a:p>
                      <a:pPr indent="0" marL="0">
                        <a:buNone/>
                      </a:pPr>
                      <a:r>
                        <a:rPr lang="en-US" sz="1000" b="1" dirty="0">
                          <a:solidFill>
                            <a:schemeClr val="accent5"/>
                          </a:solidFill>
                        </a:rPr>
                        <a:t>SOURCE</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TITLE</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c>
                  <a:txBody>
                    <a:bodyPr/>
                    <a:lstStyle/>
                    <a:p>
                      <a:pPr indent="0" marL="0">
                        <a:buNone/>
                      </a:pPr>
                      <a:r>
                        <a:rPr lang="en-US" sz="1000" b="1" dirty="0">
                          <a:solidFill>
                            <a:schemeClr val="accent5"/>
                          </a:solidFill>
                        </a:rPr>
                        <a:t>LINK</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7F8FA"/>
                    </a:solidFill>
                  </a:tcPr>
                </a:tc>
              </a:tr>
              <a:tr h="265176">
                <a:tc>
                  <a:txBody>
                    <a:bodyPr/>
                    <a:lstStyle/>
                    <a:p>
                      <a:pPr indent="0" marL="0">
                        <a:buNone/>
                      </a:pPr>
                      <a:r>
                        <a:rPr lang="en-US" sz="1000" b="1" dirty="0">
                          <a:solidFill>
                            <a:srgbClr val="14213D"/>
                          </a:solidFill>
                        </a:rPr>
                        <a:t>Salesforce AI Research (vendor), 2025</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Why generic LLM agents fall short (CRMArena-Pro)</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salesforce.com/blog/why-generic-ai-agents-fall-short</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13D"/>
                          </a:solidFill>
                        </a:rPr>
                        <a:t>Salesforce Ben, 2026</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Is Salesforce losing confidence in LLMs?</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salesforceben.com/is-salesforce-losing-confidence-in-llms</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13D"/>
                          </a:solidFill>
                        </a:rPr>
                        <a:t>Gong help docs (vendor), accessed Oct 2026</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AI Data Extractor</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help.gong.io/docs/ai-data-extractor</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13D"/>
                          </a:solidFill>
                        </a:rPr>
                        <a:t>Gong press (vendor), May 2026</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ARR tops $500M</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gong.io/press/gong-growth-accelerates-past-55-yoy-arr-tops-500m</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13D"/>
                          </a:solidFill>
                        </a:rPr>
                        <a:t>Forrester, 2025</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Clari–Salesloft merger</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forrester.com/blogs/clari-salesloft-merger-…</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13D"/>
                          </a:solidFill>
                        </a:rPr>
                        <a:t>a16z, Sep 2026</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Investing in Lightfield</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a16z.com/announcement/investing-in-lightfield</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13D"/>
                          </a:solidFill>
                        </a:rPr>
                        <a:t>Pulse 2.0, 2026</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Day AI raises $20M</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pulse2.com/day-ai-20-million-series-a</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13D"/>
                          </a:solidFill>
                        </a:rPr>
                        <a:t>Balderton, 2025</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Attio raises $52M</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balderton.com/news/attio-raises-52m-…</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13D"/>
                          </a:solidFill>
                        </a:rPr>
                        <a:t>MarTech, 2026</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HubSpot outcome-based pricing for Breeze agents</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martech.org/hubspot-moves-to-outcome-based-pricing-…</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13D"/>
                          </a:solidFill>
                        </a:rPr>
                        <a:t>CX Today, 2025</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Salesforce blocks competitors from using Slack data</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cxtoday.com/crm/salesforce-blocks-competitors-from-using-slack-data-…</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13D"/>
                          </a:solidFill>
                        </a:rPr>
                        <a:t>CX Today, accessed Oct 2026</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Salesforce expands Headless 360</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cxtoday.com/crm/salesforce-headless-360-expansion-agentic-cx</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13D"/>
                          </a:solidFill>
                        </a:rPr>
                        <a:t>Gartner, Feb 2020</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Under 50% of sales leaders and sellers confident in forecasts</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gartner.com/en/newsroom/press-releases/2020-02-12-…</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13D"/>
                          </a:solidFill>
                        </a:rPr>
                        <a:t>Gong survey (vendor), Jul 2022</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Forecasting survey, n=928</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gong.io/press/as-economic-headwinds-grow-stronger-…</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13D"/>
                          </a:solidFill>
                        </a:rPr>
                        <a:t>Validity (vendor), 2025</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State of CRM Data Management in 2025, n=602</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salestechstar.com/…/validity-releases-state-of-crm-data-…</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13D"/>
                          </a:solidFill>
                        </a:rPr>
                        <a:t>G2, accessed Oct 2026</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Salesforce Sales Cloud reviews (dislike tags)</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g2.com/products/salesforce-sales-cloud/reviews</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13D"/>
                          </a:solidFill>
                        </a:rPr>
                        <a:t>Prospeo, accessed Oct 2026</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rPr>
                        <a:t>Second-hand summary of Reddit threads</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prospeo.io/s/crm-in-sales</a:t>
                      </a:r>
                      <a:endParaRPr lang="en-US" sz="1000" dirty="0"/>
                    </a:p>
                  </a:txBody>
                  <a:tcPr marL="36576" marR="36576" marT="36576" marB="36576"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Evidence Ledger">
  <a:themeElements>
    <a:clrScheme name="Evidence Ledger">
      <a:dk1>
        <a:srgbClr val="14213D"/>
      </a:dk1>
      <a:lt1>
        <a:srgbClr val="FFFFFF"/>
      </a:lt1>
      <a:dk2>
        <a:srgbClr val="334155"/>
      </a:dk2>
      <a:lt2>
        <a:srgbClr val="F7F8FA"/>
      </a:lt2>
      <a:accent1>
        <a:srgbClr val="1D4ED8"/>
      </a:accent1>
      <a:accent2>
        <a:srgbClr val="2E7D4F"/>
      </a:accent2>
      <a:accent3>
        <a:srgbClr val="B26A00"/>
      </a:accent3>
      <a:accent4>
        <a:srgbClr val="B3261E"/>
      </a:accent4>
      <a:accent5>
        <a:srgbClr val="64748B"/>
      </a:accent5>
      <a:accent6>
        <a:srgbClr val="D5DAE2"/>
      </a:accent6>
      <a:hlink>
        <a:srgbClr val="1D4ED8"/>
      </a:hlink>
      <a:folHlink>
        <a:srgbClr val="64748B"/>
      </a:folHlink>
    </a:clrScheme>
    <a:fontScheme name="Evidence Ledg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Evidence-native CRM: Reimagine CRM for the Future of Sales</dc:title>
  <dc:subject>Product Manager – AI Solutions assessment</dc:subject>
  <dc:creator>Abhishek Nahire</dc:creator>
  <cp:lastModifiedBy>Abhishek Nahire</cp:lastModifiedBy>
  <cp:revision>1</cp:revision>
  <dcterms:created xsi:type="dcterms:W3CDTF">2026-10-08T11:46:43Z</dcterms:created>
  <dcterms:modified xsi:type="dcterms:W3CDTF">2026-10-08T11:46:43Z</dcterms:modified>
</cp:coreProperties>
</file>